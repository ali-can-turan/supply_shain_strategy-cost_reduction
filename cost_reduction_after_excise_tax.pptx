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70" r:id="rId7"/>
    <p:sldId id="271" r:id="rId8"/>
    <p:sldId id="263" r:id="rId9"/>
    <p:sldId id="269" r:id="rId10"/>
    <p:sldId id="265" r:id="rId11"/>
    <p:sldId id="266" r:id="rId12"/>
    <p:sldId id="267" r:id="rId13"/>
    <p:sldId id="268" r:id="rId14"/>
  </p:sldIdLst>
  <p:sldSz cx="12192000" cy="6858000"/>
  <p:notesSz cx="6858000" cy="9144000"/>
  <p:embeddedFontLst>
    <p:embeddedFont>
      <p:font typeface="Gill Sans" panose="020B0604020202020204"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gIlEaCHEb5LyESGu1QHZLWFCbI4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5948" autoAdjust="0"/>
  </p:normalViewPr>
  <p:slideViewPr>
    <p:cSldViewPr snapToGrid="0">
      <p:cViewPr varScale="1">
        <p:scale>
          <a:sx n="42" d="100"/>
          <a:sy n="42" d="100"/>
        </p:scale>
        <p:origin x="1430"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D:\Belgelerim\New%20Life\Coursera\Supply%20Chain%20Management\SC%20Strategy\Planning_Exhibit-C.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tr-TR"/>
              <a:t>Demand / Shipped</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lineChart>
        <c:grouping val="standard"/>
        <c:varyColors val="0"/>
        <c:ser>
          <c:idx val="0"/>
          <c:order val="0"/>
          <c:tx>
            <c:strRef>
              <c:f>Forecast!$N$16</c:f>
              <c:strCache>
                <c:ptCount val="1"/>
                <c:pt idx="0">
                  <c:v>Demand in 2013</c:v>
                </c:pt>
              </c:strCache>
            </c:strRef>
          </c:tx>
          <c:spPr>
            <a:ln w="28575" cap="rnd">
              <a:solidFill>
                <a:schemeClr val="accent1"/>
              </a:solidFill>
              <a:round/>
            </a:ln>
            <a:effectLst/>
          </c:spPr>
          <c:marker>
            <c:symbol val="none"/>
          </c:marker>
          <c:cat>
            <c:strRef>
              <c:f>Forecast!$M$17:$M$28</c:f>
              <c:strCache>
                <c:ptCount val="12"/>
                <c:pt idx="0">
                  <c:v>Jan</c:v>
                </c:pt>
                <c:pt idx="1">
                  <c:v>Feb</c:v>
                </c:pt>
                <c:pt idx="2">
                  <c:v>Mar</c:v>
                </c:pt>
                <c:pt idx="3">
                  <c:v>Apr</c:v>
                </c:pt>
                <c:pt idx="4">
                  <c:v>May</c:v>
                </c:pt>
                <c:pt idx="5">
                  <c:v>Jun</c:v>
                </c:pt>
                <c:pt idx="6">
                  <c:v>Jul</c:v>
                </c:pt>
                <c:pt idx="7">
                  <c:v>Aug</c:v>
                </c:pt>
                <c:pt idx="8">
                  <c:v>Sep</c:v>
                </c:pt>
                <c:pt idx="9">
                  <c:v>Oct</c:v>
                </c:pt>
                <c:pt idx="10">
                  <c:v>Nov</c:v>
                </c:pt>
                <c:pt idx="11">
                  <c:v>Jan</c:v>
                </c:pt>
              </c:strCache>
            </c:strRef>
          </c:cat>
          <c:val>
            <c:numRef>
              <c:f>Forecast!$N$17:$N$28</c:f>
              <c:numCache>
                <c:formatCode>#,##0</c:formatCode>
                <c:ptCount val="12"/>
                <c:pt idx="0">
                  <c:v>26203</c:v>
                </c:pt>
                <c:pt idx="1">
                  <c:v>33738</c:v>
                </c:pt>
                <c:pt idx="2">
                  <c:v>18977</c:v>
                </c:pt>
                <c:pt idx="3">
                  <c:v>40057</c:v>
                </c:pt>
                <c:pt idx="4">
                  <c:v>33429</c:v>
                </c:pt>
                <c:pt idx="5">
                  <c:v>18070</c:v>
                </c:pt>
                <c:pt idx="6">
                  <c:v>47283</c:v>
                </c:pt>
                <c:pt idx="7">
                  <c:v>1852</c:v>
                </c:pt>
                <c:pt idx="8">
                  <c:v>42170</c:v>
                </c:pt>
                <c:pt idx="9">
                  <c:v>30419</c:v>
                </c:pt>
                <c:pt idx="10">
                  <c:v>32223</c:v>
                </c:pt>
                <c:pt idx="11">
                  <c:v>22894</c:v>
                </c:pt>
              </c:numCache>
            </c:numRef>
          </c:val>
          <c:smooth val="0"/>
          <c:extLst>
            <c:ext xmlns:c16="http://schemas.microsoft.com/office/drawing/2014/chart" uri="{C3380CC4-5D6E-409C-BE32-E72D297353CC}">
              <c16:uniqueId val="{00000000-FD45-4C86-8EEA-ED73B0D0C9A8}"/>
            </c:ext>
          </c:extLst>
        </c:ser>
        <c:ser>
          <c:idx val="1"/>
          <c:order val="1"/>
          <c:tx>
            <c:strRef>
              <c:f>Forecast!$O$16</c:f>
              <c:strCache>
                <c:ptCount val="1"/>
                <c:pt idx="0">
                  <c:v>Demand in 2014</c:v>
                </c:pt>
              </c:strCache>
            </c:strRef>
          </c:tx>
          <c:spPr>
            <a:ln w="15875" cap="rnd">
              <a:solidFill>
                <a:srgbClr val="0070C0"/>
              </a:solidFill>
              <a:round/>
            </a:ln>
            <a:effectLst/>
          </c:spPr>
          <c:marker>
            <c:symbol val="none"/>
          </c:marker>
          <c:cat>
            <c:strRef>
              <c:f>Forecast!$M$17:$M$28</c:f>
              <c:strCache>
                <c:ptCount val="12"/>
                <c:pt idx="0">
                  <c:v>Jan</c:v>
                </c:pt>
                <c:pt idx="1">
                  <c:v>Feb</c:v>
                </c:pt>
                <c:pt idx="2">
                  <c:v>Mar</c:v>
                </c:pt>
                <c:pt idx="3">
                  <c:v>Apr</c:v>
                </c:pt>
                <c:pt idx="4">
                  <c:v>May</c:v>
                </c:pt>
                <c:pt idx="5">
                  <c:v>Jun</c:v>
                </c:pt>
                <c:pt idx="6">
                  <c:v>Jul</c:v>
                </c:pt>
                <c:pt idx="7">
                  <c:v>Aug</c:v>
                </c:pt>
                <c:pt idx="8">
                  <c:v>Sep</c:v>
                </c:pt>
                <c:pt idx="9">
                  <c:v>Oct</c:v>
                </c:pt>
                <c:pt idx="10">
                  <c:v>Nov</c:v>
                </c:pt>
                <c:pt idx="11">
                  <c:v>Jan</c:v>
                </c:pt>
              </c:strCache>
            </c:strRef>
          </c:cat>
          <c:val>
            <c:numRef>
              <c:f>Forecast!$O$17:$O$28</c:f>
              <c:numCache>
                <c:formatCode>#,##0</c:formatCode>
                <c:ptCount val="12"/>
                <c:pt idx="0">
                  <c:v>27135</c:v>
                </c:pt>
                <c:pt idx="1">
                  <c:v>34962</c:v>
                </c:pt>
                <c:pt idx="2">
                  <c:v>19637</c:v>
                </c:pt>
                <c:pt idx="3">
                  <c:v>41514</c:v>
                </c:pt>
                <c:pt idx="4">
                  <c:v>34581</c:v>
                </c:pt>
                <c:pt idx="5">
                  <c:v>18685</c:v>
                </c:pt>
                <c:pt idx="6">
                  <c:v>48953</c:v>
                </c:pt>
                <c:pt idx="7">
                  <c:v>1838</c:v>
                </c:pt>
                <c:pt idx="8">
                  <c:v>43675</c:v>
                </c:pt>
                <c:pt idx="9">
                  <c:v>31457</c:v>
                </c:pt>
                <c:pt idx="10">
                  <c:v>33346</c:v>
                </c:pt>
                <c:pt idx="11">
                  <c:v>23677</c:v>
                </c:pt>
              </c:numCache>
            </c:numRef>
          </c:val>
          <c:smooth val="0"/>
          <c:extLst>
            <c:ext xmlns:c16="http://schemas.microsoft.com/office/drawing/2014/chart" uri="{C3380CC4-5D6E-409C-BE32-E72D297353CC}">
              <c16:uniqueId val="{00000001-FD45-4C86-8EEA-ED73B0D0C9A8}"/>
            </c:ext>
          </c:extLst>
        </c:ser>
        <c:dLbls>
          <c:showLegendKey val="0"/>
          <c:showVal val="0"/>
          <c:showCatName val="0"/>
          <c:showSerName val="0"/>
          <c:showPercent val="0"/>
          <c:showBubbleSize val="0"/>
        </c:dLbls>
        <c:smooth val="0"/>
        <c:axId val="1245988895"/>
        <c:axId val="1245985055"/>
      </c:lineChart>
      <c:catAx>
        <c:axId val="1245988895"/>
        <c:scaling>
          <c:orientation val="minMax"/>
        </c:scaling>
        <c:delete val="0"/>
        <c:axPos val="b"/>
        <c:numFmt formatCode="[$-409]\m\m\m"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5985055"/>
        <c:crosses val="autoZero"/>
        <c:auto val="1"/>
        <c:lblAlgn val="ctr"/>
        <c:lblOffset val="100"/>
        <c:noMultiLvlLbl val="0"/>
      </c:catAx>
      <c:valAx>
        <c:axId val="1245985055"/>
        <c:scaling>
          <c:orientation val="minMax"/>
          <c:max val="5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459888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38100">
      <a:solidFill>
        <a:srgbClr val="92D050"/>
      </a:solidFill>
      <a:prstDash val="dash"/>
    </a:ln>
    <a:effectLst/>
  </c:spPr>
  <c:txPr>
    <a:bodyPr/>
    <a:lstStyle/>
    <a:p>
      <a:pPr>
        <a:defRPr>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626EEE-B66F-4185-A399-CFFA8327C121}" type="doc">
      <dgm:prSet loTypeId="urn:microsoft.com/office/officeart/2005/8/layout/hProcess11" loCatId="process" qsTypeId="urn:microsoft.com/office/officeart/2005/8/quickstyle/simple1" qsCatId="simple" csTypeId="urn:microsoft.com/office/officeart/2005/8/colors/accent1_2" csCatId="accent1"/>
      <dgm:spPr/>
      <dgm:t>
        <a:bodyPr/>
        <a:lstStyle/>
        <a:p>
          <a:endParaRPr lang="en-US"/>
        </a:p>
      </dgm:t>
    </dgm:pt>
    <dgm:pt modelId="{168FA363-6EBF-4433-8DB5-68D3F51081BB}">
      <dgm:prSet/>
      <dgm:spPr/>
      <dgm:t>
        <a:bodyPr/>
        <a:lstStyle/>
        <a:p>
          <a:r>
            <a:rPr lang="en-US" b="0" i="0"/>
            <a:t>Problem Definition</a:t>
          </a:r>
          <a:endParaRPr lang="en-US"/>
        </a:p>
      </dgm:t>
    </dgm:pt>
    <dgm:pt modelId="{4E12015B-34E9-4E78-AA4B-EDD40C04F50B}" type="parTrans" cxnId="{A1DF6741-E499-4027-A3F7-22F71A2E1CC5}">
      <dgm:prSet/>
      <dgm:spPr/>
      <dgm:t>
        <a:bodyPr/>
        <a:lstStyle/>
        <a:p>
          <a:endParaRPr lang="en-US"/>
        </a:p>
      </dgm:t>
    </dgm:pt>
    <dgm:pt modelId="{F38F81F3-8CB3-40C7-96CB-003BC65710FC}" type="sibTrans" cxnId="{A1DF6741-E499-4027-A3F7-22F71A2E1CC5}">
      <dgm:prSet/>
      <dgm:spPr/>
      <dgm:t>
        <a:bodyPr/>
        <a:lstStyle/>
        <a:p>
          <a:endParaRPr lang="en-US"/>
        </a:p>
      </dgm:t>
    </dgm:pt>
    <dgm:pt modelId="{ABE44D3C-C7AB-4599-A03E-7396489E345D}">
      <dgm:prSet/>
      <dgm:spPr/>
      <dgm:t>
        <a:bodyPr/>
        <a:lstStyle/>
        <a:p>
          <a:r>
            <a:rPr lang="en-US" b="0" i="0" dirty="0"/>
            <a:t>The Company X Logistics Network in 2014</a:t>
          </a:r>
          <a:endParaRPr lang="en-US" dirty="0"/>
        </a:p>
      </dgm:t>
    </dgm:pt>
    <dgm:pt modelId="{CCC1DC29-5137-4563-B5B8-0C68CEA2BDF0}" type="parTrans" cxnId="{482C0530-5F7F-40DE-BB9E-B95C35A1C319}">
      <dgm:prSet/>
      <dgm:spPr/>
      <dgm:t>
        <a:bodyPr/>
        <a:lstStyle/>
        <a:p>
          <a:endParaRPr lang="en-US"/>
        </a:p>
      </dgm:t>
    </dgm:pt>
    <dgm:pt modelId="{0B74BF68-07D8-44D5-96CC-3D42D0861E67}" type="sibTrans" cxnId="{482C0530-5F7F-40DE-BB9E-B95C35A1C319}">
      <dgm:prSet/>
      <dgm:spPr/>
      <dgm:t>
        <a:bodyPr/>
        <a:lstStyle/>
        <a:p>
          <a:endParaRPr lang="en-US"/>
        </a:p>
      </dgm:t>
    </dgm:pt>
    <dgm:pt modelId="{FEF23D42-C24E-4D96-A728-26B820B61FC3}">
      <dgm:prSet/>
      <dgm:spPr/>
      <dgm:t>
        <a:bodyPr/>
        <a:lstStyle/>
        <a:p>
          <a:r>
            <a:rPr lang="en-US" b="0" i="0"/>
            <a:t>Short Breakdown</a:t>
          </a:r>
          <a:endParaRPr lang="en-US"/>
        </a:p>
      </dgm:t>
    </dgm:pt>
    <dgm:pt modelId="{26F0C2D1-1679-4C55-895B-1095D95F0204}" type="parTrans" cxnId="{1952907C-1DF0-4265-A3CE-290023182BB3}">
      <dgm:prSet/>
      <dgm:spPr/>
      <dgm:t>
        <a:bodyPr/>
        <a:lstStyle/>
        <a:p>
          <a:endParaRPr lang="en-US"/>
        </a:p>
      </dgm:t>
    </dgm:pt>
    <dgm:pt modelId="{969F4FBC-C9D9-440A-BEB5-910CE51B4562}" type="sibTrans" cxnId="{1952907C-1DF0-4265-A3CE-290023182BB3}">
      <dgm:prSet/>
      <dgm:spPr/>
      <dgm:t>
        <a:bodyPr/>
        <a:lstStyle/>
        <a:p>
          <a:endParaRPr lang="en-US"/>
        </a:p>
      </dgm:t>
    </dgm:pt>
    <dgm:pt modelId="{3322E0A9-4102-4732-AEFB-20B3E7246F4A}">
      <dgm:prSet/>
      <dgm:spPr/>
      <dgm:t>
        <a:bodyPr/>
        <a:lstStyle/>
        <a:p>
          <a:r>
            <a:rPr lang="en-US" b="0" i="0"/>
            <a:t>Initial Ponderations</a:t>
          </a:r>
          <a:endParaRPr lang="en-US"/>
        </a:p>
      </dgm:t>
    </dgm:pt>
    <dgm:pt modelId="{5AB839C9-533F-4B4E-B902-95532094DD2F}" type="parTrans" cxnId="{DD8D2102-F654-4DCC-8046-ACE0D0AC7553}">
      <dgm:prSet/>
      <dgm:spPr/>
      <dgm:t>
        <a:bodyPr/>
        <a:lstStyle/>
        <a:p>
          <a:endParaRPr lang="en-US"/>
        </a:p>
      </dgm:t>
    </dgm:pt>
    <dgm:pt modelId="{404457A6-18DC-467F-BE83-76B4EE5AE1F7}" type="sibTrans" cxnId="{DD8D2102-F654-4DCC-8046-ACE0D0AC7553}">
      <dgm:prSet/>
      <dgm:spPr/>
      <dgm:t>
        <a:bodyPr/>
        <a:lstStyle/>
        <a:p>
          <a:endParaRPr lang="en-US"/>
        </a:p>
      </dgm:t>
    </dgm:pt>
    <dgm:pt modelId="{DDB985AA-1850-4E6E-BF48-B4098DB9B5B1}">
      <dgm:prSet/>
      <dgm:spPr/>
      <dgm:t>
        <a:bodyPr/>
        <a:lstStyle/>
        <a:p>
          <a:r>
            <a:rPr lang="en-US" b="0" i="0"/>
            <a:t>Solutions</a:t>
          </a:r>
          <a:endParaRPr lang="en-US"/>
        </a:p>
      </dgm:t>
    </dgm:pt>
    <dgm:pt modelId="{2EFB430F-E8E6-4C9E-862D-014BBCB944DE}" type="parTrans" cxnId="{BF688F04-B766-45EA-810D-2B60DB5B6909}">
      <dgm:prSet/>
      <dgm:spPr/>
      <dgm:t>
        <a:bodyPr/>
        <a:lstStyle/>
        <a:p>
          <a:endParaRPr lang="en-US"/>
        </a:p>
      </dgm:t>
    </dgm:pt>
    <dgm:pt modelId="{7B045CCC-03D5-4013-BDEF-C864D45FAF82}" type="sibTrans" cxnId="{BF688F04-B766-45EA-810D-2B60DB5B6909}">
      <dgm:prSet/>
      <dgm:spPr/>
      <dgm:t>
        <a:bodyPr/>
        <a:lstStyle/>
        <a:p>
          <a:endParaRPr lang="en-US"/>
        </a:p>
      </dgm:t>
    </dgm:pt>
    <dgm:pt modelId="{21C88B77-65F9-4259-A411-DA4AA03FD498}">
      <dgm:prSet/>
      <dgm:spPr/>
      <dgm:t>
        <a:bodyPr/>
        <a:lstStyle/>
        <a:p>
          <a:r>
            <a:rPr lang="en-US" b="0" i="0"/>
            <a:t>Key Highlights</a:t>
          </a:r>
          <a:endParaRPr lang="en-US"/>
        </a:p>
      </dgm:t>
    </dgm:pt>
    <dgm:pt modelId="{A7F39AB6-B837-482D-B37C-516C65AF8B7A}" type="parTrans" cxnId="{0FFAE931-19DB-45F8-9D9D-55632CA451B8}">
      <dgm:prSet/>
      <dgm:spPr/>
      <dgm:t>
        <a:bodyPr/>
        <a:lstStyle/>
        <a:p>
          <a:endParaRPr lang="en-US"/>
        </a:p>
      </dgm:t>
    </dgm:pt>
    <dgm:pt modelId="{547C19FB-217B-4605-985F-BA9B1012D744}" type="sibTrans" cxnId="{0FFAE931-19DB-45F8-9D9D-55632CA451B8}">
      <dgm:prSet/>
      <dgm:spPr/>
      <dgm:t>
        <a:bodyPr/>
        <a:lstStyle/>
        <a:p>
          <a:endParaRPr lang="en-US"/>
        </a:p>
      </dgm:t>
    </dgm:pt>
    <dgm:pt modelId="{82631980-96D4-4554-8294-2E393E96BCD2}" type="pres">
      <dgm:prSet presAssocID="{80626EEE-B66F-4185-A399-CFFA8327C121}" presName="Name0" presStyleCnt="0">
        <dgm:presLayoutVars>
          <dgm:dir/>
          <dgm:resizeHandles val="exact"/>
        </dgm:presLayoutVars>
      </dgm:prSet>
      <dgm:spPr/>
    </dgm:pt>
    <dgm:pt modelId="{6E922436-70E3-4A14-8F55-4BC29B80DCD2}" type="pres">
      <dgm:prSet presAssocID="{80626EEE-B66F-4185-A399-CFFA8327C121}" presName="arrow" presStyleLbl="bgShp" presStyleIdx="0" presStyleCnt="1"/>
      <dgm:spPr/>
    </dgm:pt>
    <dgm:pt modelId="{1AAA4DD4-E0D7-41EE-BBD5-B117F02A9322}" type="pres">
      <dgm:prSet presAssocID="{80626EEE-B66F-4185-A399-CFFA8327C121}" presName="points" presStyleCnt="0"/>
      <dgm:spPr/>
    </dgm:pt>
    <dgm:pt modelId="{71582F60-BE72-4226-BC1E-C38107550130}" type="pres">
      <dgm:prSet presAssocID="{168FA363-6EBF-4433-8DB5-68D3F51081BB}" presName="compositeA" presStyleCnt="0"/>
      <dgm:spPr/>
    </dgm:pt>
    <dgm:pt modelId="{D9D20514-4EBE-4794-9A14-BCFB835E5E46}" type="pres">
      <dgm:prSet presAssocID="{168FA363-6EBF-4433-8DB5-68D3F51081BB}" presName="textA" presStyleLbl="revTx" presStyleIdx="0" presStyleCnt="6">
        <dgm:presLayoutVars>
          <dgm:bulletEnabled val="1"/>
        </dgm:presLayoutVars>
      </dgm:prSet>
      <dgm:spPr/>
    </dgm:pt>
    <dgm:pt modelId="{C46A7560-43F8-4DFA-8191-3629AB221C5E}" type="pres">
      <dgm:prSet presAssocID="{168FA363-6EBF-4433-8DB5-68D3F51081BB}" presName="circleA" presStyleLbl="node1" presStyleIdx="0" presStyleCnt="6"/>
      <dgm:spPr/>
    </dgm:pt>
    <dgm:pt modelId="{9F4D5C81-4737-4E4B-A40D-A6C396A651CC}" type="pres">
      <dgm:prSet presAssocID="{168FA363-6EBF-4433-8DB5-68D3F51081BB}" presName="spaceA" presStyleCnt="0"/>
      <dgm:spPr/>
    </dgm:pt>
    <dgm:pt modelId="{E1885183-72C5-42C7-A288-17737A47CAC4}" type="pres">
      <dgm:prSet presAssocID="{F38F81F3-8CB3-40C7-96CB-003BC65710FC}" presName="space" presStyleCnt="0"/>
      <dgm:spPr/>
    </dgm:pt>
    <dgm:pt modelId="{A03DD78C-9191-4DAA-BF2D-23E4E2039DA4}" type="pres">
      <dgm:prSet presAssocID="{ABE44D3C-C7AB-4599-A03E-7396489E345D}" presName="compositeB" presStyleCnt="0"/>
      <dgm:spPr/>
    </dgm:pt>
    <dgm:pt modelId="{91AFF6D7-D1FF-4B03-9E32-EDB9E364E839}" type="pres">
      <dgm:prSet presAssocID="{ABE44D3C-C7AB-4599-A03E-7396489E345D}" presName="textB" presStyleLbl="revTx" presStyleIdx="1" presStyleCnt="6">
        <dgm:presLayoutVars>
          <dgm:bulletEnabled val="1"/>
        </dgm:presLayoutVars>
      </dgm:prSet>
      <dgm:spPr/>
    </dgm:pt>
    <dgm:pt modelId="{9FA5A4DC-0DFE-41C0-9212-2681E64E374B}" type="pres">
      <dgm:prSet presAssocID="{ABE44D3C-C7AB-4599-A03E-7396489E345D}" presName="circleB" presStyleLbl="node1" presStyleIdx="1" presStyleCnt="6"/>
      <dgm:spPr/>
    </dgm:pt>
    <dgm:pt modelId="{FA28F28A-1B55-4BDB-A4DF-15244DB7E1CB}" type="pres">
      <dgm:prSet presAssocID="{ABE44D3C-C7AB-4599-A03E-7396489E345D}" presName="spaceB" presStyleCnt="0"/>
      <dgm:spPr/>
    </dgm:pt>
    <dgm:pt modelId="{78B64299-4C5B-4597-97CE-33C9EB9E4D7A}" type="pres">
      <dgm:prSet presAssocID="{0B74BF68-07D8-44D5-96CC-3D42D0861E67}" presName="space" presStyleCnt="0"/>
      <dgm:spPr/>
    </dgm:pt>
    <dgm:pt modelId="{E5AE1C3A-D710-46A0-851D-D08C5FC07C6B}" type="pres">
      <dgm:prSet presAssocID="{FEF23D42-C24E-4D96-A728-26B820B61FC3}" presName="compositeA" presStyleCnt="0"/>
      <dgm:spPr/>
    </dgm:pt>
    <dgm:pt modelId="{A5EAE8B0-593D-4BE3-A326-3FBC32763B21}" type="pres">
      <dgm:prSet presAssocID="{FEF23D42-C24E-4D96-A728-26B820B61FC3}" presName="textA" presStyleLbl="revTx" presStyleIdx="2" presStyleCnt="6">
        <dgm:presLayoutVars>
          <dgm:bulletEnabled val="1"/>
        </dgm:presLayoutVars>
      </dgm:prSet>
      <dgm:spPr/>
    </dgm:pt>
    <dgm:pt modelId="{DAE058E7-50A4-40ED-869C-DDF4F108FB09}" type="pres">
      <dgm:prSet presAssocID="{FEF23D42-C24E-4D96-A728-26B820B61FC3}" presName="circleA" presStyleLbl="node1" presStyleIdx="2" presStyleCnt="6"/>
      <dgm:spPr/>
    </dgm:pt>
    <dgm:pt modelId="{1FD9BC1A-D496-4041-9554-2CEB0235D566}" type="pres">
      <dgm:prSet presAssocID="{FEF23D42-C24E-4D96-A728-26B820B61FC3}" presName="spaceA" presStyleCnt="0"/>
      <dgm:spPr/>
    </dgm:pt>
    <dgm:pt modelId="{295E6103-F019-4C76-B019-ED1FE4768F64}" type="pres">
      <dgm:prSet presAssocID="{969F4FBC-C9D9-440A-BEB5-910CE51B4562}" presName="space" presStyleCnt="0"/>
      <dgm:spPr/>
    </dgm:pt>
    <dgm:pt modelId="{3F442678-2C03-4190-A622-71C6171A5F8D}" type="pres">
      <dgm:prSet presAssocID="{3322E0A9-4102-4732-AEFB-20B3E7246F4A}" presName="compositeB" presStyleCnt="0"/>
      <dgm:spPr/>
    </dgm:pt>
    <dgm:pt modelId="{A299CC11-2C0F-42DE-AAEF-2D5AE2BCB677}" type="pres">
      <dgm:prSet presAssocID="{3322E0A9-4102-4732-AEFB-20B3E7246F4A}" presName="textB" presStyleLbl="revTx" presStyleIdx="3" presStyleCnt="6">
        <dgm:presLayoutVars>
          <dgm:bulletEnabled val="1"/>
        </dgm:presLayoutVars>
      </dgm:prSet>
      <dgm:spPr/>
    </dgm:pt>
    <dgm:pt modelId="{8870F161-B1F3-4476-918F-42AE92E63FA9}" type="pres">
      <dgm:prSet presAssocID="{3322E0A9-4102-4732-AEFB-20B3E7246F4A}" presName="circleB" presStyleLbl="node1" presStyleIdx="3" presStyleCnt="6"/>
      <dgm:spPr/>
    </dgm:pt>
    <dgm:pt modelId="{69DCF5C5-39D9-469A-809B-71FAAA3BB421}" type="pres">
      <dgm:prSet presAssocID="{3322E0A9-4102-4732-AEFB-20B3E7246F4A}" presName="spaceB" presStyleCnt="0"/>
      <dgm:spPr/>
    </dgm:pt>
    <dgm:pt modelId="{FE12FAC6-E226-48F0-AA43-3C935626808C}" type="pres">
      <dgm:prSet presAssocID="{404457A6-18DC-467F-BE83-76B4EE5AE1F7}" presName="space" presStyleCnt="0"/>
      <dgm:spPr/>
    </dgm:pt>
    <dgm:pt modelId="{FFFD5C02-5E97-425F-AE0A-A74B3D79C991}" type="pres">
      <dgm:prSet presAssocID="{DDB985AA-1850-4E6E-BF48-B4098DB9B5B1}" presName="compositeA" presStyleCnt="0"/>
      <dgm:spPr/>
    </dgm:pt>
    <dgm:pt modelId="{C73A085C-6058-4326-AB9F-3A31972FECDC}" type="pres">
      <dgm:prSet presAssocID="{DDB985AA-1850-4E6E-BF48-B4098DB9B5B1}" presName="textA" presStyleLbl="revTx" presStyleIdx="4" presStyleCnt="6">
        <dgm:presLayoutVars>
          <dgm:bulletEnabled val="1"/>
        </dgm:presLayoutVars>
      </dgm:prSet>
      <dgm:spPr/>
    </dgm:pt>
    <dgm:pt modelId="{DAE64100-DC05-413C-AD18-027ADA933D9D}" type="pres">
      <dgm:prSet presAssocID="{DDB985AA-1850-4E6E-BF48-B4098DB9B5B1}" presName="circleA" presStyleLbl="node1" presStyleIdx="4" presStyleCnt="6"/>
      <dgm:spPr/>
    </dgm:pt>
    <dgm:pt modelId="{A8A32034-C422-4D0E-94E7-F3151D6FC28B}" type="pres">
      <dgm:prSet presAssocID="{DDB985AA-1850-4E6E-BF48-B4098DB9B5B1}" presName="spaceA" presStyleCnt="0"/>
      <dgm:spPr/>
    </dgm:pt>
    <dgm:pt modelId="{7C552DEC-0108-47D4-891C-86B0232F97D6}" type="pres">
      <dgm:prSet presAssocID="{7B045CCC-03D5-4013-BDEF-C864D45FAF82}" presName="space" presStyleCnt="0"/>
      <dgm:spPr/>
    </dgm:pt>
    <dgm:pt modelId="{077257BC-87E8-4BD4-A1C8-D7BF3F253E69}" type="pres">
      <dgm:prSet presAssocID="{21C88B77-65F9-4259-A411-DA4AA03FD498}" presName="compositeB" presStyleCnt="0"/>
      <dgm:spPr/>
    </dgm:pt>
    <dgm:pt modelId="{B2C8FB6A-1215-46EE-9942-4A6472B1C48C}" type="pres">
      <dgm:prSet presAssocID="{21C88B77-65F9-4259-A411-DA4AA03FD498}" presName="textB" presStyleLbl="revTx" presStyleIdx="5" presStyleCnt="6">
        <dgm:presLayoutVars>
          <dgm:bulletEnabled val="1"/>
        </dgm:presLayoutVars>
      </dgm:prSet>
      <dgm:spPr/>
    </dgm:pt>
    <dgm:pt modelId="{ADC742EF-D165-4490-8577-9D82AA4F5D75}" type="pres">
      <dgm:prSet presAssocID="{21C88B77-65F9-4259-A411-DA4AA03FD498}" presName="circleB" presStyleLbl="node1" presStyleIdx="5" presStyleCnt="6"/>
      <dgm:spPr/>
    </dgm:pt>
    <dgm:pt modelId="{325110B0-E6E0-4003-AFC3-CADAEEB2D403}" type="pres">
      <dgm:prSet presAssocID="{21C88B77-65F9-4259-A411-DA4AA03FD498}" presName="spaceB" presStyleCnt="0"/>
      <dgm:spPr/>
    </dgm:pt>
  </dgm:ptLst>
  <dgm:cxnLst>
    <dgm:cxn modelId="{DD8D2102-F654-4DCC-8046-ACE0D0AC7553}" srcId="{80626EEE-B66F-4185-A399-CFFA8327C121}" destId="{3322E0A9-4102-4732-AEFB-20B3E7246F4A}" srcOrd="3" destOrd="0" parTransId="{5AB839C9-533F-4B4E-B902-95532094DD2F}" sibTransId="{404457A6-18DC-467F-BE83-76B4EE5AE1F7}"/>
    <dgm:cxn modelId="{BF688F04-B766-45EA-810D-2B60DB5B6909}" srcId="{80626EEE-B66F-4185-A399-CFFA8327C121}" destId="{DDB985AA-1850-4E6E-BF48-B4098DB9B5B1}" srcOrd="4" destOrd="0" parTransId="{2EFB430F-E8E6-4C9E-862D-014BBCB944DE}" sibTransId="{7B045CCC-03D5-4013-BDEF-C864D45FAF82}"/>
    <dgm:cxn modelId="{482C0530-5F7F-40DE-BB9E-B95C35A1C319}" srcId="{80626EEE-B66F-4185-A399-CFFA8327C121}" destId="{ABE44D3C-C7AB-4599-A03E-7396489E345D}" srcOrd="1" destOrd="0" parTransId="{CCC1DC29-5137-4563-B5B8-0C68CEA2BDF0}" sibTransId="{0B74BF68-07D8-44D5-96CC-3D42D0861E67}"/>
    <dgm:cxn modelId="{0FFAE931-19DB-45F8-9D9D-55632CA451B8}" srcId="{80626EEE-B66F-4185-A399-CFFA8327C121}" destId="{21C88B77-65F9-4259-A411-DA4AA03FD498}" srcOrd="5" destOrd="0" parTransId="{A7F39AB6-B837-482D-B37C-516C65AF8B7A}" sibTransId="{547C19FB-217B-4605-985F-BA9B1012D744}"/>
    <dgm:cxn modelId="{6A426A32-0E9D-4FB0-9BF3-96A5F1B35FC2}" type="presOf" srcId="{21C88B77-65F9-4259-A411-DA4AA03FD498}" destId="{B2C8FB6A-1215-46EE-9942-4A6472B1C48C}" srcOrd="0" destOrd="0" presId="urn:microsoft.com/office/officeart/2005/8/layout/hProcess11"/>
    <dgm:cxn modelId="{A1DF6741-E499-4027-A3F7-22F71A2E1CC5}" srcId="{80626EEE-B66F-4185-A399-CFFA8327C121}" destId="{168FA363-6EBF-4433-8DB5-68D3F51081BB}" srcOrd="0" destOrd="0" parTransId="{4E12015B-34E9-4E78-AA4B-EDD40C04F50B}" sibTransId="{F38F81F3-8CB3-40C7-96CB-003BC65710FC}"/>
    <dgm:cxn modelId="{9CB7EB67-3820-4A37-8739-D50DB9CE63D1}" type="presOf" srcId="{DDB985AA-1850-4E6E-BF48-B4098DB9B5B1}" destId="{C73A085C-6058-4326-AB9F-3A31972FECDC}" srcOrd="0" destOrd="0" presId="urn:microsoft.com/office/officeart/2005/8/layout/hProcess11"/>
    <dgm:cxn modelId="{1952907C-1DF0-4265-A3CE-290023182BB3}" srcId="{80626EEE-B66F-4185-A399-CFFA8327C121}" destId="{FEF23D42-C24E-4D96-A728-26B820B61FC3}" srcOrd="2" destOrd="0" parTransId="{26F0C2D1-1679-4C55-895B-1095D95F0204}" sibTransId="{969F4FBC-C9D9-440A-BEB5-910CE51B4562}"/>
    <dgm:cxn modelId="{C76FF39B-F7D9-4FB7-9199-60007A694A76}" type="presOf" srcId="{168FA363-6EBF-4433-8DB5-68D3F51081BB}" destId="{D9D20514-4EBE-4794-9A14-BCFB835E5E46}" srcOrd="0" destOrd="0" presId="urn:microsoft.com/office/officeart/2005/8/layout/hProcess11"/>
    <dgm:cxn modelId="{A106A5A9-C79A-40E7-AB80-6ABA10BCA702}" type="presOf" srcId="{80626EEE-B66F-4185-A399-CFFA8327C121}" destId="{82631980-96D4-4554-8294-2E393E96BCD2}" srcOrd="0" destOrd="0" presId="urn:microsoft.com/office/officeart/2005/8/layout/hProcess11"/>
    <dgm:cxn modelId="{E1A17FCF-6941-407B-AF93-418EDA75CA85}" type="presOf" srcId="{ABE44D3C-C7AB-4599-A03E-7396489E345D}" destId="{91AFF6D7-D1FF-4B03-9E32-EDB9E364E839}" srcOrd="0" destOrd="0" presId="urn:microsoft.com/office/officeart/2005/8/layout/hProcess11"/>
    <dgm:cxn modelId="{53B6B4D5-EDA7-4BFC-9B76-07C837BF4EF6}" type="presOf" srcId="{3322E0A9-4102-4732-AEFB-20B3E7246F4A}" destId="{A299CC11-2C0F-42DE-AAEF-2D5AE2BCB677}" srcOrd="0" destOrd="0" presId="urn:microsoft.com/office/officeart/2005/8/layout/hProcess11"/>
    <dgm:cxn modelId="{0D3686E8-E5C6-447E-8535-7A7D12DC267F}" type="presOf" srcId="{FEF23D42-C24E-4D96-A728-26B820B61FC3}" destId="{A5EAE8B0-593D-4BE3-A326-3FBC32763B21}" srcOrd="0" destOrd="0" presId="urn:microsoft.com/office/officeart/2005/8/layout/hProcess11"/>
    <dgm:cxn modelId="{8494662E-5BCF-4078-BAEF-9B3AC315D159}" type="presParOf" srcId="{82631980-96D4-4554-8294-2E393E96BCD2}" destId="{6E922436-70E3-4A14-8F55-4BC29B80DCD2}" srcOrd="0" destOrd="0" presId="urn:microsoft.com/office/officeart/2005/8/layout/hProcess11"/>
    <dgm:cxn modelId="{539EC137-1C2F-4D8A-9F09-6D5FCA2F5907}" type="presParOf" srcId="{82631980-96D4-4554-8294-2E393E96BCD2}" destId="{1AAA4DD4-E0D7-41EE-BBD5-B117F02A9322}" srcOrd="1" destOrd="0" presId="urn:microsoft.com/office/officeart/2005/8/layout/hProcess11"/>
    <dgm:cxn modelId="{F5193300-68DE-485D-B300-240E2491F460}" type="presParOf" srcId="{1AAA4DD4-E0D7-41EE-BBD5-B117F02A9322}" destId="{71582F60-BE72-4226-BC1E-C38107550130}" srcOrd="0" destOrd="0" presId="urn:microsoft.com/office/officeart/2005/8/layout/hProcess11"/>
    <dgm:cxn modelId="{430006FE-9840-41AA-9675-19C88D2799E5}" type="presParOf" srcId="{71582F60-BE72-4226-BC1E-C38107550130}" destId="{D9D20514-4EBE-4794-9A14-BCFB835E5E46}" srcOrd="0" destOrd="0" presId="urn:microsoft.com/office/officeart/2005/8/layout/hProcess11"/>
    <dgm:cxn modelId="{6E39698D-60CA-48EB-87EA-5B07FDE926F9}" type="presParOf" srcId="{71582F60-BE72-4226-BC1E-C38107550130}" destId="{C46A7560-43F8-4DFA-8191-3629AB221C5E}" srcOrd="1" destOrd="0" presId="urn:microsoft.com/office/officeart/2005/8/layout/hProcess11"/>
    <dgm:cxn modelId="{D4E1C4EA-8D1C-49AA-A929-857EE54E9780}" type="presParOf" srcId="{71582F60-BE72-4226-BC1E-C38107550130}" destId="{9F4D5C81-4737-4E4B-A40D-A6C396A651CC}" srcOrd="2" destOrd="0" presId="urn:microsoft.com/office/officeart/2005/8/layout/hProcess11"/>
    <dgm:cxn modelId="{4946797C-296E-4D30-8BFC-60FB627035BD}" type="presParOf" srcId="{1AAA4DD4-E0D7-41EE-BBD5-B117F02A9322}" destId="{E1885183-72C5-42C7-A288-17737A47CAC4}" srcOrd="1" destOrd="0" presId="urn:microsoft.com/office/officeart/2005/8/layout/hProcess11"/>
    <dgm:cxn modelId="{61281ECD-5D87-4B1D-8AB8-811DD2600412}" type="presParOf" srcId="{1AAA4DD4-E0D7-41EE-BBD5-B117F02A9322}" destId="{A03DD78C-9191-4DAA-BF2D-23E4E2039DA4}" srcOrd="2" destOrd="0" presId="urn:microsoft.com/office/officeart/2005/8/layout/hProcess11"/>
    <dgm:cxn modelId="{CC385461-D81E-4456-BB3E-41EA29352AF8}" type="presParOf" srcId="{A03DD78C-9191-4DAA-BF2D-23E4E2039DA4}" destId="{91AFF6D7-D1FF-4B03-9E32-EDB9E364E839}" srcOrd="0" destOrd="0" presId="urn:microsoft.com/office/officeart/2005/8/layout/hProcess11"/>
    <dgm:cxn modelId="{BF348AC8-22C1-4AC2-95FC-FAFC51B9818E}" type="presParOf" srcId="{A03DD78C-9191-4DAA-BF2D-23E4E2039DA4}" destId="{9FA5A4DC-0DFE-41C0-9212-2681E64E374B}" srcOrd="1" destOrd="0" presId="urn:microsoft.com/office/officeart/2005/8/layout/hProcess11"/>
    <dgm:cxn modelId="{8243F2A5-D48C-464D-B160-1B279661D29A}" type="presParOf" srcId="{A03DD78C-9191-4DAA-BF2D-23E4E2039DA4}" destId="{FA28F28A-1B55-4BDB-A4DF-15244DB7E1CB}" srcOrd="2" destOrd="0" presId="urn:microsoft.com/office/officeart/2005/8/layout/hProcess11"/>
    <dgm:cxn modelId="{3B31B4F8-A639-48C2-B88F-C37D5A2FB23C}" type="presParOf" srcId="{1AAA4DD4-E0D7-41EE-BBD5-B117F02A9322}" destId="{78B64299-4C5B-4597-97CE-33C9EB9E4D7A}" srcOrd="3" destOrd="0" presId="urn:microsoft.com/office/officeart/2005/8/layout/hProcess11"/>
    <dgm:cxn modelId="{CC661B5E-8A08-4E4D-939D-3774AEC9126E}" type="presParOf" srcId="{1AAA4DD4-E0D7-41EE-BBD5-B117F02A9322}" destId="{E5AE1C3A-D710-46A0-851D-D08C5FC07C6B}" srcOrd="4" destOrd="0" presId="urn:microsoft.com/office/officeart/2005/8/layout/hProcess11"/>
    <dgm:cxn modelId="{615B5119-DB8C-4207-8DF0-DA74544209DE}" type="presParOf" srcId="{E5AE1C3A-D710-46A0-851D-D08C5FC07C6B}" destId="{A5EAE8B0-593D-4BE3-A326-3FBC32763B21}" srcOrd="0" destOrd="0" presId="urn:microsoft.com/office/officeart/2005/8/layout/hProcess11"/>
    <dgm:cxn modelId="{071B086C-55D9-4440-AABF-7649063E0A67}" type="presParOf" srcId="{E5AE1C3A-D710-46A0-851D-D08C5FC07C6B}" destId="{DAE058E7-50A4-40ED-869C-DDF4F108FB09}" srcOrd="1" destOrd="0" presId="urn:microsoft.com/office/officeart/2005/8/layout/hProcess11"/>
    <dgm:cxn modelId="{16CFA64E-9965-4D5B-A40F-EBC71396D9AA}" type="presParOf" srcId="{E5AE1C3A-D710-46A0-851D-D08C5FC07C6B}" destId="{1FD9BC1A-D496-4041-9554-2CEB0235D566}" srcOrd="2" destOrd="0" presId="urn:microsoft.com/office/officeart/2005/8/layout/hProcess11"/>
    <dgm:cxn modelId="{26C6C771-2ECC-452C-96C8-DD3B7055B3E3}" type="presParOf" srcId="{1AAA4DD4-E0D7-41EE-BBD5-B117F02A9322}" destId="{295E6103-F019-4C76-B019-ED1FE4768F64}" srcOrd="5" destOrd="0" presId="urn:microsoft.com/office/officeart/2005/8/layout/hProcess11"/>
    <dgm:cxn modelId="{3D54428E-6C26-42AE-86A7-42D3E13BF618}" type="presParOf" srcId="{1AAA4DD4-E0D7-41EE-BBD5-B117F02A9322}" destId="{3F442678-2C03-4190-A622-71C6171A5F8D}" srcOrd="6" destOrd="0" presId="urn:microsoft.com/office/officeart/2005/8/layout/hProcess11"/>
    <dgm:cxn modelId="{0EAEE62D-1D40-4E08-B247-C5D1454FFEAF}" type="presParOf" srcId="{3F442678-2C03-4190-A622-71C6171A5F8D}" destId="{A299CC11-2C0F-42DE-AAEF-2D5AE2BCB677}" srcOrd="0" destOrd="0" presId="urn:microsoft.com/office/officeart/2005/8/layout/hProcess11"/>
    <dgm:cxn modelId="{AFF483CC-13D4-410D-9764-1AE5C841D02E}" type="presParOf" srcId="{3F442678-2C03-4190-A622-71C6171A5F8D}" destId="{8870F161-B1F3-4476-918F-42AE92E63FA9}" srcOrd="1" destOrd="0" presId="urn:microsoft.com/office/officeart/2005/8/layout/hProcess11"/>
    <dgm:cxn modelId="{CD8DBAAB-B114-4976-B140-8D43C1DAF139}" type="presParOf" srcId="{3F442678-2C03-4190-A622-71C6171A5F8D}" destId="{69DCF5C5-39D9-469A-809B-71FAAA3BB421}" srcOrd="2" destOrd="0" presId="urn:microsoft.com/office/officeart/2005/8/layout/hProcess11"/>
    <dgm:cxn modelId="{808F3C5D-24FB-4B0D-BE03-4B5B930FF932}" type="presParOf" srcId="{1AAA4DD4-E0D7-41EE-BBD5-B117F02A9322}" destId="{FE12FAC6-E226-48F0-AA43-3C935626808C}" srcOrd="7" destOrd="0" presId="urn:microsoft.com/office/officeart/2005/8/layout/hProcess11"/>
    <dgm:cxn modelId="{5330851E-3318-493B-8C86-4EE5E5621F9D}" type="presParOf" srcId="{1AAA4DD4-E0D7-41EE-BBD5-B117F02A9322}" destId="{FFFD5C02-5E97-425F-AE0A-A74B3D79C991}" srcOrd="8" destOrd="0" presId="urn:microsoft.com/office/officeart/2005/8/layout/hProcess11"/>
    <dgm:cxn modelId="{CDB19A3D-BD61-41AC-AF69-5B9C42E1744B}" type="presParOf" srcId="{FFFD5C02-5E97-425F-AE0A-A74B3D79C991}" destId="{C73A085C-6058-4326-AB9F-3A31972FECDC}" srcOrd="0" destOrd="0" presId="urn:microsoft.com/office/officeart/2005/8/layout/hProcess11"/>
    <dgm:cxn modelId="{69C346AE-BB3A-4293-B825-632E2C2E7F8F}" type="presParOf" srcId="{FFFD5C02-5E97-425F-AE0A-A74B3D79C991}" destId="{DAE64100-DC05-413C-AD18-027ADA933D9D}" srcOrd="1" destOrd="0" presId="urn:microsoft.com/office/officeart/2005/8/layout/hProcess11"/>
    <dgm:cxn modelId="{03AFC116-B12C-4B3C-9F67-D0751CF05042}" type="presParOf" srcId="{FFFD5C02-5E97-425F-AE0A-A74B3D79C991}" destId="{A8A32034-C422-4D0E-94E7-F3151D6FC28B}" srcOrd="2" destOrd="0" presId="urn:microsoft.com/office/officeart/2005/8/layout/hProcess11"/>
    <dgm:cxn modelId="{1D94A0CB-56BD-4DAA-9D7F-2A8AF02758CC}" type="presParOf" srcId="{1AAA4DD4-E0D7-41EE-BBD5-B117F02A9322}" destId="{7C552DEC-0108-47D4-891C-86B0232F97D6}" srcOrd="9" destOrd="0" presId="urn:microsoft.com/office/officeart/2005/8/layout/hProcess11"/>
    <dgm:cxn modelId="{E18E8A8C-B1AE-4382-AC95-FD6118BF5C38}" type="presParOf" srcId="{1AAA4DD4-E0D7-41EE-BBD5-B117F02A9322}" destId="{077257BC-87E8-4BD4-A1C8-D7BF3F253E69}" srcOrd="10" destOrd="0" presId="urn:microsoft.com/office/officeart/2005/8/layout/hProcess11"/>
    <dgm:cxn modelId="{E2FCB9A2-12A1-4A7C-B5B4-AB70A95BA2AA}" type="presParOf" srcId="{077257BC-87E8-4BD4-A1C8-D7BF3F253E69}" destId="{B2C8FB6A-1215-46EE-9942-4A6472B1C48C}" srcOrd="0" destOrd="0" presId="urn:microsoft.com/office/officeart/2005/8/layout/hProcess11"/>
    <dgm:cxn modelId="{C0DB5567-A942-435A-93F8-B498266261CB}" type="presParOf" srcId="{077257BC-87E8-4BD4-A1C8-D7BF3F253E69}" destId="{ADC742EF-D165-4490-8577-9D82AA4F5D75}" srcOrd="1" destOrd="0" presId="urn:microsoft.com/office/officeart/2005/8/layout/hProcess11"/>
    <dgm:cxn modelId="{5206587C-1D19-4BE9-AADC-B967B285542E}" type="presParOf" srcId="{077257BC-87E8-4BD4-A1C8-D7BF3F253E69}" destId="{325110B0-E6E0-4003-AFC3-CADAEEB2D403}"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BE2064-1F04-4FF2-AD06-B7132C3F869C}" type="doc">
      <dgm:prSet loTypeId="urn:microsoft.com/office/officeart/2005/8/layout/cycle2" loCatId="cycle" qsTypeId="urn:microsoft.com/office/officeart/2005/8/quickstyle/simple2" qsCatId="simple" csTypeId="urn:microsoft.com/office/officeart/2005/8/colors/accent1_1" csCatId="accent1" phldr="1"/>
      <dgm:spPr/>
      <dgm:t>
        <a:bodyPr/>
        <a:lstStyle/>
        <a:p>
          <a:endParaRPr lang="en-US"/>
        </a:p>
      </dgm:t>
    </dgm:pt>
    <dgm:pt modelId="{A7373BE9-39B9-4934-BE53-6831C38712ED}">
      <dgm:prSet/>
      <dgm:spPr/>
      <dgm:t>
        <a:bodyPr/>
        <a:lstStyle/>
        <a:p>
          <a:r>
            <a:rPr lang="en-US" b="0" i="0"/>
            <a:t>SG&amp;A</a:t>
          </a:r>
          <a:r>
            <a:rPr lang="tr-TR" b="0" i="0"/>
            <a:t> </a:t>
          </a:r>
          <a:r>
            <a:rPr lang="en-US" b="0" i="0"/>
            <a:t>50% of the gross profit.</a:t>
          </a:r>
          <a:endParaRPr lang="en-US"/>
        </a:p>
      </dgm:t>
    </dgm:pt>
    <dgm:pt modelId="{AF0666B9-DCCF-4834-9AC5-585C56F758FD}" type="parTrans" cxnId="{B443E7EE-923E-4AA5-B24D-B8A783B57577}">
      <dgm:prSet/>
      <dgm:spPr/>
      <dgm:t>
        <a:bodyPr/>
        <a:lstStyle/>
        <a:p>
          <a:endParaRPr lang="en-US"/>
        </a:p>
      </dgm:t>
    </dgm:pt>
    <dgm:pt modelId="{9E36326C-3DF6-43DB-9CCF-257F09C9C956}" type="sibTrans" cxnId="{B443E7EE-923E-4AA5-B24D-B8A783B57577}">
      <dgm:prSet/>
      <dgm:spPr/>
      <dgm:t>
        <a:bodyPr/>
        <a:lstStyle/>
        <a:p>
          <a:endParaRPr lang="en-US"/>
        </a:p>
      </dgm:t>
    </dgm:pt>
    <dgm:pt modelId="{11E2FEA7-145C-489F-BFE6-C844C504B958}">
      <dgm:prSet/>
      <dgm:spPr/>
      <dgm:t>
        <a:bodyPr/>
        <a:lstStyle/>
        <a:p>
          <a:r>
            <a:rPr lang="en-US" b="0" i="0" dirty="0"/>
            <a:t>Excise tax weight:</a:t>
          </a:r>
          <a:r>
            <a:rPr lang="tr-TR" b="0" i="0" dirty="0"/>
            <a:t> </a:t>
          </a:r>
          <a:r>
            <a:rPr lang="en-US" b="0" i="0"/>
            <a:t>up to 20%.</a:t>
          </a:r>
          <a:endParaRPr lang="en-US"/>
        </a:p>
      </dgm:t>
    </dgm:pt>
    <dgm:pt modelId="{F2604479-E0A2-485D-8387-F98C5D37EB21}" type="parTrans" cxnId="{61391C40-6A4B-4F93-8971-A6DD27E148C9}">
      <dgm:prSet/>
      <dgm:spPr/>
      <dgm:t>
        <a:bodyPr/>
        <a:lstStyle/>
        <a:p>
          <a:endParaRPr lang="en-US"/>
        </a:p>
      </dgm:t>
    </dgm:pt>
    <dgm:pt modelId="{5FE8F267-F56B-41C9-A2BB-55843FFD5CD7}" type="sibTrans" cxnId="{61391C40-6A4B-4F93-8971-A6DD27E148C9}">
      <dgm:prSet/>
      <dgm:spPr/>
      <dgm:t>
        <a:bodyPr/>
        <a:lstStyle/>
        <a:p>
          <a:endParaRPr lang="en-US"/>
        </a:p>
      </dgm:t>
    </dgm:pt>
    <dgm:pt modelId="{0EDA524E-636D-43FF-BD51-36A1AA65335E}">
      <dgm:prSet/>
      <dgm:spPr/>
      <dgm:t>
        <a:bodyPr/>
        <a:lstStyle/>
        <a:p>
          <a:r>
            <a:rPr lang="en-US" b="0" i="0"/>
            <a:t>2015: 6.043M 2016 6426M</a:t>
          </a:r>
          <a:endParaRPr lang="en-US"/>
        </a:p>
      </dgm:t>
    </dgm:pt>
    <dgm:pt modelId="{22740A3D-266E-425B-BECD-02A30CDB6EDF}" type="parTrans" cxnId="{6A75A7B5-67C8-4224-81DA-86C456A55C31}">
      <dgm:prSet/>
      <dgm:spPr/>
      <dgm:t>
        <a:bodyPr/>
        <a:lstStyle/>
        <a:p>
          <a:endParaRPr lang="en-US"/>
        </a:p>
      </dgm:t>
    </dgm:pt>
    <dgm:pt modelId="{65E06E3B-E4CC-4F29-935E-DE74952F940B}" type="sibTrans" cxnId="{6A75A7B5-67C8-4224-81DA-86C456A55C31}">
      <dgm:prSet/>
      <dgm:spPr/>
      <dgm:t>
        <a:bodyPr/>
        <a:lstStyle/>
        <a:p>
          <a:endParaRPr lang="en-US"/>
        </a:p>
      </dgm:t>
    </dgm:pt>
    <dgm:pt modelId="{9AEABC4C-74B8-4FE2-84B9-F94EC547DF11}">
      <dgm:prSet/>
      <dgm:spPr/>
      <dgm:t>
        <a:bodyPr/>
        <a:lstStyle/>
        <a:p>
          <a:r>
            <a:rPr lang="en-US" b="0" i="0"/>
            <a:t>Decrease in SG&amp;A needed:</a:t>
          </a:r>
          <a:r>
            <a:rPr lang="tr-TR" b="0" i="0"/>
            <a:t> </a:t>
          </a:r>
          <a:r>
            <a:rPr lang="en-US" b="0" i="0"/>
            <a:t>6,5%.</a:t>
          </a:r>
          <a:endParaRPr lang="en-US"/>
        </a:p>
      </dgm:t>
    </dgm:pt>
    <dgm:pt modelId="{EAD4C729-7373-4893-B519-0280D81AE3ED}" type="parTrans" cxnId="{4EDE1EF8-20AE-489E-9BC1-71372915AB78}">
      <dgm:prSet/>
      <dgm:spPr/>
      <dgm:t>
        <a:bodyPr/>
        <a:lstStyle/>
        <a:p>
          <a:endParaRPr lang="en-US"/>
        </a:p>
      </dgm:t>
    </dgm:pt>
    <dgm:pt modelId="{8D650440-131F-4E91-BDEF-CE482A3F200E}" type="sibTrans" cxnId="{4EDE1EF8-20AE-489E-9BC1-71372915AB78}">
      <dgm:prSet/>
      <dgm:spPr>
        <a:solidFill>
          <a:srgbClr val="FFC000"/>
        </a:solidFill>
      </dgm:spPr>
      <dgm:t>
        <a:bodyPr/>
        <a:lstStyle/>
        <a:p>
          <a:r>
            <a:rPr lang="tr-TR" b="1" dirty="0" err="1"/>
            <a:t>SOLUTION</a:t>
          </a:r>
          <a:r>
            <a:rPr lang="tr-TR" b="1" dirty="0"/>
            <a:t> ?</a:t>
          </a:r>
          <a:endParaRPr lang="en-US" b="1" dirty="0"/>
        </a:p>
      </dgm:t>
    </dgm:pt>
    <dgm:pt modelId="{A4055E41-A53F-4256-AB82-9A97E654BB01}" type="pres">
      <dgm:prSet presAssocID="{6EBE2064-1F04-4FF2-AD06-B7132C3F869C}" presName="cycle" presStyleCnt="0">
        <dgm:presLayoutVars>
          <dgm:dir/>
          <dgm:resizeHandles val="exact"/>
        </dgm:presLayoutVars>
      </dgm:prSet>
      <dgm:spPr/>
    </dgm:pt>
    <dgm:pt modelId="{3F9BB2B3-D9FC-43B0-8673-3222E90B3C6A}" type="pres">
      <dgm:prSet presAssocID="{A7373BE9-39B9-4934-BE53-6831C38712ED}" presName="node" presStyleLbl="node1" presStyleIdx="0" presStyleCnt="4" custScaleX="133786" custScaleY="133786">
        <dgm:presLayoutVars>
          <dgm:bulletEnabled val="1"/>
        </dgm:presLayoutVars>
      </dgm:prSet>
      <dgm:spPr/>
    </dgm:pt>
    <dgm:pt modelId="{8FC16B8A-AFEA-4BD4-9AB7-157B52FE99B7}" type="pres">
      <dgm:prSet presAssocID="{9E36326C-3DF6-43DB-9CCF-257F09C9C956}" presName="sibTrans" presStyleLbl="sibTrans2D1" presStyleIdx="0" presStyleCnt="4"/>
      <dgm:spPr/>
    </dgm:pt>
    <dgm:pt modelId="{302BECB4-C282-4C19-AF3D-CE6DBA3E3E12}" type="pres">
      <dgm:prSet presAssocID="{9E36326C-3DF6-43DB-9CCF-257F09C9C956}" presName="connectorText" presStyleLbl="sibTrans2D1" presStyleIdx="0" presStyleCnt="4"/>
      <dgm:spPr/>
    </dgm:pt>
    <dgm:pt modelId="{A3967E81-F7CA-442C-BA6A-C32E91202212}" type="pres">
      <dgm:prSet presAssocID="{11E2FEA7-145C-489F-BFE6-C844C504B958}" presName="node" presStyleLbl="node1" presStyleIdx="1" presStyleCnt="4" custScaleX="133786" custScaleY="133786" custRadScaleRad="143069" custRadScaleInc="2393">
        <dgm:presLayoutVars>
          <dgm:bulletEnabled val="1"/>
        </dgm:presLayoutVars>
      </dgm:prSet>
      <dgm:spPr/>
    </dgm:pt>
    <dgm:pt modelId="{1638E096-8881-4037-829E-73E622AD1236}" type="pres">
      <dgm:prSet presAssocID="{5FE8F267-F56B-41C9-A2BB-55843FFD5CD7}" presName="sibTrans" presStyleLbl="sibTrans2D1" presStyleIdx="1" presStyleCnt="4"/>
      <dgm:spPr/>
    </dgm:pt>
    <dgm:pt modelId="{9C7D7F6D-5B57-4C20-ABB7-2CF6E1970F24}" type="pres">
      <dgm:prSet presAssocID="{5FE8F267-F56B-41C9-A2BB-55843FFD5CD7}" presName="connectorText" presStyleLbl="sibTrans2D1" presStyleIdx="1" presStyleCnt="4"/>
      <dgm:spPr/>
    </dgm:pt>
    <dgm:pt modelId="{EEA984DE-0A0A-4BA3-B3E1-5E459D0C9D72}" type="pres">
      <dgm:prSet presAssocID="{0EDA524E-636D-43FF-BD51-36A1AA65335E}" presName="node" presStyleLbl="node1" presStyleIdx="2" presStyleCnt="4" custScaleX="133786" custScaleY="133786">
        <dgm:presLayoutVars>
          <dgm:bulletEnabled val="1"/>
        </dgm:presLayoutVars>
      </dgm:prSet>
      <dgm:spPr/>
    </dgm:pt>
    <dgm:pt modelId="{BEF6B84A-611F-4287-B23E-5CE2153AAC77}" type="pres">
      <dgm:prSet presAssocID="{65E06E3B-E4CC-4F29-935E-DE74952F940B}" presName="sibTrans" presStyleLbl="sibTrans2D1" presStyleIdx="2" presStyleCnt="4"/>
      <dgm:spPr/>
    </dgm:pt>
    <dgm:pt modelId="{FA79AEF4-5542-4BD7-9B11-04C7673ED24C}" type="pres">
      <dgm:prSet presAssocID="{65E06E3B-E4CC-4F29-935E-DE74952F940B}" presName="connectorText" presStyleLbl="sibTrans2D1" presStyleIdx="2" presStyleCnt="4"/>
      <dgm:spPr/>
    </dgm:pt>
    <dgm:pt modelId="{D47AAE79-D356-4224-81B1-3DC300D2C85D}" type="pres">
      <dgm:prSet presAssocID="{9AEABC4C-74B8-4FE2-84B9-F94EC547DF11}" presName="node" presStyleLbl="node1" presStyleIdx="3" presStyleCnt="4" custScaleX="133786" custScaleY="133786" custRadScaleRad="136596" custRadScaleInc="-2507">
        <dgm:presLayoutVars>
          <dgm:bulletEnabled val="1"/>
        </dgm:presLayoutVars>
      </dgm:prSet>
      <dgm:spPr/>
    </dgm:pt>
    <dgm:pt modelId="{4F9F9CC1-CDFF-4B3B-BA8E-5D9AD19DE09D}" type="pres">
      <dgm:prSet presAssocID="{8D650440-131F-4E91-BDEF-CE482A3F200E}" presName="sibTrans" presStyleLbl="sibTrans2D1" presStyleIdx="3" presStyleCnt="4" custAng="2253792" custScaleX="544601" custScaleY="122443" custLinFactX="555200" custLinFactY="251221" custLinFactNeighborX="600000" custLinFactNeighborY="300000"/>
      <dgm:spPr/>
    </dgm:pt>
    <dgm:pt modelId="{F043CAA9-12D4-44C2-BCFB-107E8908B5E9}" type="pres">
      <dgm:prSet presAssocID="{8D650440-131F-4E91-BDEF-CE482A3F200E}" presName="connectorText" presStyleLbl="sibTrans2D1" presStyleIdx="3" presStyleCnt="4"/>
      <dgm:spPr/>
    </dgm:pt>
  </dgm:ptLst>
  <dgm:cxnLst>
    <dgm:cxn modelId="{6E8D0D15-AA21-4077-AF8A-99E95A66CD4D}" type="presOf" srcId="{65E06E3B-E4CC-4F29-935E-DE74952F940B}" destId="{BEF6B84A-611F-4287-B23E-5CE2153AAC77}" srcOrd="0" destOrd="0" presId="urn:microsoft.com/office/officeart/2005/8/layout/cycle2"/>
    <dgm:cxn modelId="{5132B51E-17E2-4D27-BCEA-A2C76D609040}" type="presOf" srcId="{5FE8F267-F56B-41C9-A2BB-55843FFD5CD7}" destId="{1638E096-8881-4037-829E-73E622AD1236}" srcOrd="0" destOrd="0" presId="urn:microsoft.com/office/officeart/2005/8/layout/cycle2"/>
    <dgm:cxn modelId="{30F89729-8F1D-4F2B-853A-C3A9E7887A27}" type="presOf" srcId="{0EDA524E-636D-43FF-BD51-36A1AA65335E}" destId="{EEA984DE-0A0A-4BA3-B3E1-5E459D0C9D72}" srcOrd="0" destOrd="0" presId="urn:microsoft.com/office/officeart/2005/8/layout/cycle2"/>
    <dgm:cxn modelId="{61391C40-6A4B-4F93-8971-A6DD27E148C9}" srcId="{6EBE2064-1F04-4FF2-AD06-B7132C3F869C}" destId="{11E2FEA7-145C-489F-BFE6-C844C504B958}" srcOrd="1" destOrd="0" parTransId="{F2604479-E0A2-485D-8387-F98C5D37EB21}" sibTransId="{5FE8F267-F56B-41C9-A2BB-55843FFD5CD7}"/>
    <dgm:cxn modelId="{C013C34B-BF9A-4AF6-ACD7-DB23655C6B4A}" type="presOf" srcId="{5FE8F267-F56B-41C9-A2BB-55843FFD5CD7}" destId="{9C7D7F6D-5B57-4C20-ABB7-2CF6E1970F24}" srcOrd="1" destOrd="0" presId="urn:microsoft.com/office/officeart/2005/8/layout/cycle2"/>
    <dgm:cxn modelId="{390B794C-BBAE-485D-847A-6B81B6A55184}" type="presOf" srcId="{8D650440-131F-4E91-BDEF-CE482A3F200E}" destId="{F043CAA9-12D4-44C2-BCFB-107E8908B5E9}" srcOrd="1" destOrd="0" presId="urn:microsoft.com/office/officeart/2005/8/layout/cycle2"/>
    <dgm:cxn modelId="{FBF77E55-BD5B-44A0-AB12-E7E807CE72F4}" type="presOf" srcId="{11E2FEA7-145C-489F-BFE6-C844C504B958}" destId="{A3967E81-F7CA-442C-BA6A-C32E91202212}" srcOrd="0" destOrd="0" presId="urn:microsoft.com/office/officeart/2005/8/layout/cycle2"/>
    <dgm:cxn modelId="{C1D5C385-6118-4979-B312-77C21A3C6E91}" type="presOf" srcId="{9AEABC4C-74B8-4FE2-84B9-F94EC547DF11}" destId="{D47AAE79-D356-4224-81B1-3DC300D2C85D}" srcOrd="0" destOrd="0" presId="urn:microsoft.com/office/officeart/2005/8/layout/cycle2"/>
    <dgm:cxn modelId="{FAD14488-5E2E-45B2-BC9F-7E8BDB4F7E43}" type="presOf" srcId="{65E06E3B-E4CC-4F29-935E-DE74952F940B}" destId="{FA79AEF4-5542-4BD7-9B11-04C7673ED24C}" srcOrd="1" destOrd="0" presId="urn:microsoft.com/office/officeart/2005/8/layout/cycle2"/>
    <dgm:cxn modelId="{35386D90-DD73-40D4-AC5D-D8A20E516FBE}" type="presOf" srcId="{6EBE2064-1F04-4FF2-AD06-B7132C3F869C}" destId="{A4055E41-A53F-4256-AB82-9A97E654BB01}" srcOrd="0" destOrd="0" presId="urn:microsoft.com/office/officeart/2005/8/layout/cycle2"/>
    <dgm:cxn modelId="{56B374AB-4536-4EE4-97A7-9D1828232018}" type="presOf" srcId="{A7373BE9-39B9-4934-BE53-6831C38712ED}" destId="{3F9BB2B3-D9FC-43B0-8673-3222E90B3C6A}" srcOrd="0" destOrd="0" presId="urn:microsoft.com/office/officeart/2005/8/layout/cycle2"/>
    <dgm:cxn modelId="{6A75A7B5-67C8-4224-81DA-86C456A55C31}" srcId="{6EBE2064-1F04-4FF2-AD06-B7132C3F869C}" destId="{0EDA524E-636D-43FF-BD51-36A1AA65335E}" srcOrd="2" destOrd="0" parTransId="{22740A3D-266E-425B-BECD-02A30CDB6EDF}" sibTransId="{65E06E3B-E4CC-4F29-935E-DE74952F940B}"/>
    <dgm:cxn modelId="{863942D7-B44F-455E-A1A3-857EF2C525AE}" type="presOf" srcId="{8D650440-131F-4E91-BDEF-CE482A3F200E}" destId="{4F9F9CC1-CDFF-4B3B-BA8E-5D9AD19DE09D}" srcOrd="0" destOrd="0" presId="urn:microsoft.com/office/officeart/2005/8/layout/cycle2"/>
    <dgm:cxn modelId="{EBE8D8E3-FEA5-4C41-8F46-69BBF440EE31}" type="presOf" srcId="{9E36326C-3DF6-43DB-9CCF-257F09C9C956}" destId="{8FC16B8A-AFEA-4BD4-9AB7-157B52FE99B7}" srcOrd="0" destOrd="0" presId="urn:microsoft.com/office/officeart/2005/8/layout/cycle2"/>
    <dgm:cxn modelId="{50492DE6-80BF-427F-AC95-8041676D879C}" type="presOf" srcId="{9E36326C-3DF6-43DB-9CCF-257F09C9C956}" destId="{302BECB4-C282-4C19-AF3D-CE6DBA3E3E12}" srcOrd="1" destOrd="0" presId="urn:microsoft.com/office/officeart/2005/8/layout/cycle2"/>
    <dgm:cxn modelId="{B443E7EE-923E-4AA5-B24D-B8A783B57577}" srcId="{6EBE2064-1F04-4FF2-AD06-B7132C3F869C}" destId="{A7373BE9-39B9-4934-BE53-6831C38712ED}" srcOrd="0" destOrd="0" parTransId="{AF0666B9-DCCF-4834-9AC5-585C56F758FD}" sibTransId="{9E36326C-3DF6-43DB-9CCF-257F09C9C956}"/>
    <dgm:cxn modelId="{4EDE1EF8-20AE-489E-9BC1-71372915AB78}" srcId="{6EBE2064-1F04-4FF2-AD06-B7132C3F869C}" destId="{9AEABC4C-74B8-4FE2-84B9-F94EC547DF11}" srcOrd="3" destOrd="0" parTransId="{EAD4C729-7373-4893-B519-0280D81AE3ED}" sibTransId="{8D650440-131F-4E91-BDEF-CE482A3F200E}"/>
    <dgm:cxn modelId="{A8D6B304-0CB1-4DF0-82EB-C0E53497EBA8}" type="presParOf" srcId="{A4055E41-A53F-4256-AB82-9A97E654BB01}" destId="{3F9BB2B3-D9FC-43B0-8673-3222E90B3C6A}" srcOrd="0" destOrd="0" presId="urn:microsoft.com/office/officeart/2005/8/layout/cycle2"/>
    <dgm:cxn modelId="{603DBC63-9A47-4F66-9168-4A0B110B8B03}" type="presParOf" srcId="{A4055E41-A53F-4256-AB82-9A97E654BB01}" destId="{8FC16B8A-AFEA-4BD4-9AB7-157B52FE99B7}" srcOrd="1" destOrd="0" presId="urn:microsoft.com/office/officeart/2005/8/layout/cycle2"/>
    <dgm:cxn modelId="{4833F60C-46A5-418E-9E0D-1EDCBE3D0683}" type="presParOf" srcId="{8FC16B8A-AFEA-4BD4-9AB7-157B52FE99B7}" destId="{302BECB4-C282-4C19-AF3D-CE6DBA3E3E12}" srcOrd="0" destOrd="0" presId="urn:microsoft.com/office/officeart/2005/8/layout/cycle2"/>
    <dgm:cxn modelId="{1D793F4C-E82F-4395-8C1B-84FAC41F88AE}" type="presParOf" srcId="{A4055E41-A53F-4256-AB82-9A97E654BB01}" destId="{A3967E81-F7CA-442C-BA6A-C32E91202212}" srcOrd="2" destOrd="0" presId="urn:microsoft.com/office/officeart/2005/8/layout/cycle2"/>
    <dgm:cxn modelId="{387983B3-C08C-4F2D-B112-ADC902BFEC35}" type="presParOf" srcId="{A4055E41-A53F-4256-AB82-9A97E654BB01}" destId="{1638E096-8881-4037-829E-73E622AD1236}" srcOrd="3" destOrd="0" presId="urn:microsoft.com/office/officeart/2005/8/layout/cycle2"/>
    <dgm:cxn modelId="{AED6DA35-B85A-4340-9CE3-252598C53DFE}" type="presParOf" srcId="{1638E096-8881-4037-829E-73E622AD1236}" destId="{9C7D7F6D-5B57-4C20-ABB7-2CF6E1970F24}" srcOrd="0" destOrd="0" presId="urn:microsoft.com/office/officeart/2005/8/layout/cycle2"/>
    <dgm:cxn modelId="{3A9411D8-4B6D-46A9-87A0-9CDEF1AAF13A}" type="presParOf" srcId="{A4055E41-A53F-4256-AB82-9A97E654BB01}" destId="{EEA984DE-0A0A-4BA3-B3E1-5E459D0C9D72}" srcOrd="4" destOrd="0" presId="urn:microsoft.com/office/officeart/2005/8/layout/cycle2"/>
    <dgm:cxn modelId="{A0A15565-0CF3-4B76-8A10-99B744DB89D5}" type="presParOf" srcId="{A4055E41-A53F-4256-AB82-9A97E654BB01}" destId="{BEF6B84A-611F-4287-B23E-5CE2153AAC77}" srcOrd="5" destOrd="0" presId="urn:microsoft.com/office/officeart/2005/8/layout/cycle2"/>
    <dgm:cxn modelId="{0944569D-116C-458F-B268-BB1F2A95E6F6}" type="presParOf" srcId="{BEF6B84A-611F-4287-B23E-5CE2153AAC77}" destId="{FA79AEF4-5542-4BD7-9B11-04C7673ED24C}" srcOrd="0" destOrd="0" presId="urn:microsoft.com/office/officeart/2005/8/layout/cycle2"/>
    <dgm:cxn modelId="{3F14BA6A-0182-4D45-8EEC-954DEBD57A06}" type="presParOf" srcId="{A4055E41-A53F-4256-AB82-9A97E654BB01}" destId="{D47AAE79-D356-4224-81B1-3DC300D2C85D}" srcOrd="6" destOrd="0" presId="urn:microsoft.com/office/officeart/2005/8/layout/cycle2"/>
    <dgm:cxn modelId="{ADA3366F-C493-4CA4-87BE-498F3212DFD7}" type="presParOf" srcId="{A4055E41-A53F-4256-AB82-9A97E654BB01}" destId="{4F9F9CC1-CDFF-4B3B-BA8E-5D9AD19DE09D}" srcOrd="7" destOrd="0" presId="urn:microsoft.com/office/officeart/2005/8/layout/cycle2"/>
    <dgm:cxn modelId="{592576C2-19FB-4C60-AD43-21E04AEAFE74}" type="presParOf" srcId="{4F9F9CC1-CDFF-4B3B-BA8E-5D9AD19DE09D}" destId="{F043CAA9-12D4-44C2-BCFB-107E8908B5E9}"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B8C3C1B-4286-412B-942E-0B25304A3837}" type="doc">
      <dgm:prSet loTypeId="urn:microsoft.com/office/officeart/2005/8/layout/hList6" loCatId="list" qsTypeId="urn:microsoft.com/office/officeart/2005/8/quickstyle/3d1" qsCatId="3D" csTypeId="urn:microsoft.com/office/officeart/2005/8/colors/accent6_4" csCatId="accent6" phldr="1"/>
      <dgm:spPr/>
      <dgm:t>
        <a:bodyPr/>
        <a:lstStyle/>
        <a:p>
          <a:endParaRPr lang="en-US"/>
        </a:p>
      </dgm:t>
    </dgm:pt>
    <dgm:pt modelId="{15617D08-66FB-4F53-8B82-350BF7830B39}">
      <dgm:prSet/>
      <dgm:spPr/>
      <dgm:t>
        <a:bodyPr/>
        <a:lstStyle/>
        <a:p>
          <a:r>
            <a:rPr lang="en-US" noProof="0" dirty="0"/>
            <a:t>Inventory of 6 months</a:t>
          </a:r>
        </a:p>
      </dgm:t>
    </dgm:pt>
    <dgm:pt modelId="{35600688-DF1C-4A46-9F8C-FBE35239BC3E}" type="parTrans" cxnId="{09CD974A-26FD-4BDD-A88A-88340E2F9F55}">
      <dgm:prSet/>
      <dgm:spPr/>
      <dgm:t>
        <a:bodyPr/>
        <a:lstStyle/>
        <a:p>
          <a:endParaRPr lang="en-US"/>
        </a:p>
      </dgm:t>
    </dgm:pt>
    <dgm:pt modelId="{EB019C9A-A8BC-4B04-AB90-D14A4D9688DF}" type="sibTrans" cxnId="{09CD974A-26FD-4BDD-A88A-88340E2F9F55}">
      <dgm:prSet/>
      <dgm:spPr/>
      <dgm:t>
        <a:bodyPr/>
        <a:lstStyle/>
        <a:p>
          <a:endParaRPr lang="en-US"/>
        </a:p>
      </dgm:t>
    </dgm:pt>
    <dgm:pt modelId="{78AEE713-DA7F-4A03-BEB5-D848D874045A}">
      <dgm:prSet/>
      <dgm:spPr/>
      <dgm:t>
        <a:bodyPr/>
        <a:lstStyle/>
        <a:p>
          <a:r>
            <a:rPr lang="tr-TR" noProof="0" dirty="0"/>
            <a:t>Multiple </a:t>
          </a:r>
          <a:r>
            <a:rPr lang="en-US" noProof="0" dirty="0"/>
            <a:t>roles</a:t>
          </a:r>
          <a:r>
            <a:rPr lang="tr-TR" noProof="0" dirty="0"/>
            <a:t> of </a:t>
          </a:r>
          <a:r>
            <a:rPr lang="tr-TR" noProof="0" dirty="0" err="1"/>
            <a:t>salespersons</a:t>
          </a:r>
          <a:endParaRPr lang="en-US" noProof="0" dirty="0"/>
        </a:p>
      </dgm:t>
    </dgm:pt>
    <dgm:pt modelId="{D264992D-4DA2-40DC-B0DA-8CA36C4FF928}" type="parTrans" cxnId="{8F93B887-7F2B-4D42-A0F5-26D7978700B4}">
      <dgm:prSet/>
      <dgm:spPr/>
      <dgm:t>
        <a:bodyPr/>
        <a:lstStyle/>
        <a:p>
          <a:endParaRPr lang="en-US"/>
        </a:p>
      </dgm:t>
    </dgm:pt>
    <dgm:pt modelId="{401C37B5-5900-4000-B3A8-91FE9663B83A}" type="sibTrans" cxnId="{8F93B887-7F2B-4D42-A0F5-26D7978700B4}">
      <dgm:prSet/>
      <dgm:spPr/>
      <dgm:t>
        <a:bodyPr/>
        <a:lstStyle/>
        <a:p>
          <a:endParaRPr lang="en-US"/>
        </a:p>
      </dgm:t>
    </dgm:pt>
    <dgm:pt modelId="{FEE76D11-458C-4D13-B9B6-D1EDF72E6281}">
      <dgm:prSet/>
      <dgm:spPr/>
      <dgm:t>
        <a:bodyPr/>
        <a:lstStyle/>
        <a:p>
          <a:r>
            <a:rPr lang="en-US" noProof="0" dirty="0"/>
            <a:t>Intermediary removal</a:t>
          </a:r>
          <a:r>
            <a:rPr lang="tr-TR" noProof="0" dirty="0"/>
            <a:t> ?</a:t>
          </a:r>
          <a:endParaRPr lang="en-US" noProof="0" dirty="0"/>
        </a:p>
      </dgm:t>
    </dgm:pt>
    <dgm:pt modelId="{0CCC35A4-F391-4801-BB32-26A9CFABC984}" type="parTrans" cxnId="{CFF9EDF2-4C4A-4252-B38D-7A932A5CA643}">
      <dgm:prSet/>
      <dgm:spPr/>
      <dgm:t>
        <a:bodyPr/>
        <a:lstStyle/>
        <a:p>
          <a:endParaRPr lang="en-US"/>
        </a:p>
      </dgm:t>
    </dgm:pt>
    <dgm:pt modelId="{339B7A3B-1F30-4DC8-BA88-A7BBA476C68F}" type="sibTrans" cxnId="{CFF9EDF2-4C4A-4252-B38D-7A932A5CA643}">
      <dgm:prSet/>
      <dgm:spPr/>
      <dgm:t>
        <a:bodyPr/>
        <a:lstStyle/>
        <a:p>
          <a:endParaRPr lang="en-US"/>
        </a:p>
      </dgm:t>
    </dgm:pt>
    <dgm:pt modelId="{A18CB0CA-AFB8-4854-85D5-A79FB6D230C8}">
      <dgm:prSet/>
      <dgm:spPr/>
      <dgm:t>
        <a:bodyPr/>
        <a:lstStyle/>
        <a:p>
          <a:r>
            <a:rPr lang="en-US" noProof="0" dirty="0"/>
            <a:t>Shorter lead times</a:t>
          </a:r>
          <a:r>
            <a:rPr lang="tr-TR" noProof="0" dirty="0"/>
            <a:t> ?</a:t>
          </a:r>
          <a:endParaRPr lang="en-US" noProof="0" dirty="0"/>
        </a:p>
      </dgm:t>
    </dgm:pt>
    <dgm:pt modelId="{98E8E74E-CE43-4325-956C-7F5DD940E05F}" type="parTrans" cxnId="{BA641AD6-91DC-42B1-8024-B137E9C1F153}">
      <dgm:prSet/>
      <dgm:spPr/>
      <dgm:t>
        <a:bodyPr/>
        <a:lstStyle/>
        <a:p>
          <a:endParaRPr lang="en-US"/>
        </a:p>
      </dgm:t>
    </dgm:pt>
    <dgm:pt modelId="{CBF98CFF-E00E-4E08-8211-0D62F3AA2741}" type="sibTrans" cxnId="{BA641AD6-91DC-42B1-8024-B137E9C1F153}">
      <dgm:prSet/>
      <dgm:spPr/>
      <dgm:t>
        <a:bodyPr/>
        <a:lstStyle/>
        <a:p>
          <a:endParaRPr lang="en-US"/>
        </a:p>
      </dgm:t>
    </dgm:pt>
    <dgm:pt modelId="{BC93E692-A47F-4081-B6D7-660593733BEE}">
      <dgm:prSet/>
      <dgm:spPr/>
      <dgm:t>
        <a:bodyPr/>
        <a:lstStyle/>
        <a:p>
          <a:r>
            <a:rPr lang="en-US" noProof="0" dirty="0"/>
            <a:t>The </a:t>
          </a:r>
          <a:r>
            <a:rPr lang="tr-TR" noProof="0" dirty="0"/>
            <a:t>c</a:t>
          </a:r>
          <a:r>
            <a:rPr lang="en-US" noProof="0" dirty="0" err="1"/>
            <a:t>ompany</a:t>
          </a:r>
          <a:r>
            <a:rPr lang="en-US" noProof="0" dirty="0"/>
            <a:t> </a:t>
          </a:r>
          <a:r>
            <a:rPr lang="tr-TR" noProof="0" dirty="0" err="1"/>
            <a:t>HQ</a:t>
          </a:r>
          <a:endParaRPr lang="en-US" noProof="0" dirty="0"/>
        </a:p>
      </dgm:t>
    </dgm:pt>
    <dgm:pt modelId="{F1D5C700-4DBE-430F-846B-46FC2750D5DE}" type="parTrans" cxnId="{144AEE9D-9262-4A7F-8487-73D4D0924A43}">
      <dgm:prSet/>
      <dgm:spPr/>
      <dgm:t>
        <a:bodyPr/>
        <a:lstStyle/>
        <a:p>
          <a:endParaRPr lang="en-US"/>
        </a:p>
      </dgm:t>
    </dgm:pt>
    <dgm:pt modelId="{58856792-8A96-4131-90A4-D9F0339A6C90}" type="sibTrans" cxnId="{144AEE9D-9262-4A7F-8487-73D4D0924A43}">
      <dgm:prSet/>
      <dgm:spPr/>
      <dgm:t>
        <a:bodyPr/>
        <a:lstStyle/>
        <a:p>
          <a:endParaRPr lang="en-US"/>
        </a:p>
      </dgm:t>
    </dgm:pt>
    <dgm:pt modelId="{86F72F0B-C56B-47D5-97E2-D075623C1373}" type="pres">
      <dgm:prSet presAssocID="{EB8C3C1B-4286-412B-942E-0B25304A3837}" presName="Name0" presStyleCnt="0">
        <dgm:presLayoutVars>
          <dgm:dir/>
          <dgm:resizeHandles val="exact"/>
        </dgm:presLayoutVars>
      </dgm:prSet>
      <dgm:spPr/>
    </dgm:pt>
    <dgm:pt modelId="{00A59E64-62DD-4626-83E7-739349EFF351}" type="pres">
      <dgm:prSet presAssocID="{15617D08-66FB-4F53-8B82-350BF7830B39}" presName="node" presStyleLbl="node1" presStyleIdx="0" presStyleCnt="5">
        <dgm:presLayoutVars>
          <dgm:bulletEnabled val="1"/>
        </dgm:presLayoutVars>
      </dgm:prSet>
      <dgm:spPr/>
    </dgm:pt>
    <dgm:pt modelId="{BB539DF5-5BDC-49C4-A48A-7A466C62DA4C}" type="pres">
      <dgm:prSet presAssocID="{EB019C9A-A8BC-4B04-AB90-D14A4D9688DF}" presName="sibTrans" presStyleCnt="0"/>
      <dgm:spPr/>
    </dgm:pt>
    <dgm:pt modelId="{F1DD6A9E-F460-4BCE-A57C-826B62E185B0}" type="pres">
      <dgm:prSet presAssocID="{78AEE713-DA7F-4A03-BEB5-D848D874045A}" presName="node" presStyleLbl="node1" presStyleIdx="1" presStyleCnt="5">
        <dgm:presLayoutVars>
          <dgm:bulletEnabled val="1"/>
        </dgm:presLayoutVars>
      </dgm:prSet>
      <dgm:spPr/>
    </dgm:pt>
    <dgm:pt modelId="{CEB688FD-A631-452A-9727-84910F883754}" type="pres">
      <dgm:prSet presAssocID="{401C37B5-5900-4000-B3A8-91FE9663B83A}" presName="sibTrans" presStyleCnt="0"/>
      <dgm:spPr/>
    </dgm:pt>
    <dgm:pt modelId="{6A2A8A08-2D32-425F-AE28-FC004BADAF05}" type="pres">
      <dgm:prSet presAssocID="{FEE76D11-458C-4D13-B9B6-D1EDF72E6281}" presName="node" presStyleLbl="node1" presStyleIdx="2" presStyleCnt="5">
        <dgm:presLayoutVars>
          <dgm:bulletEnabled val="1"/>
        </dgm:presLayoutVars>
      </dgm:prSet>
      <dgm:spPr/>
    </dgm:pt>
    <dgm:pt modelId="{7D8528E6-2916-46AD-B76E-2B50DB12D2DB}" type="pres">
      <dgm:prSet presAssocID="{339B7A3B-1F30-4DC8-BA88-A7BBA476C68F}" presName="sibTrans" presStyleCnt="0"/>
      <dgm:spPr/>
    </dgm:pt>
    <dgm:pt modelId="{C588DB26-1D34-490D-B6E6-1F24E1CF9ABF}" type="pres">
      <dgm:prSet presAssocID="{A18CB0CA-AFB8-4854-85D5-A79FB6D230C8}" presName="node" presStyleLbl="node1" presStyleIdx="3" presStyleCnt="5">
        <dgm:presLayoutVars>
          <dgm:bulletEnabled val="1"/>
        </dgm:presLayoutVars>
      </dgm:prSet>
      <dgm:spPr/>
    </dgm:pt>
    <dgm:pt modelId="{66CC10B8-C199-4E56-87BC-B52E1D6CAC05}" type="pres">
      <dgm:prSet presAssocID="{CBF98CFF-E00E-4E08-8211-0D62F3AA2741}" presName="sibTrans" presStyleCnt="0"/>
      <dgm:spPr/>
    </dgm:pt>
    <dgm:pt modelId="{57FDA712-4895-456A-BB6B-F288AC6F6557}" type="pres">
      <dgm:prSet presAssocID="{BC93E692-A47F-4081-B6D7-660593733BEE}" presName="node" presStyleLbl="node1" presStyleIdx="4" presStyleCnt="5">
        <dgm:presLayoutVars>
          <dgm:bulletEnabled val="1"/>
        </dgm:presLayoutVars>
      </dgm:prSet>
      <dgm:spPr/>
    </dgm:pt>
  </dgm:ptLst>
  <dgm:cxnLst>
    <dgm:cxn modelId="{B2749921-62E0-45B3-9E45-200AC31A7F6C}" type="presOf" srcId="{A18CB0CA-AFB8-4854-85D5-A79FB6D230C8}" destId="{C588DB26-1D34-490D-B6E6-1F24E1CF9ABF}" srcOrd="0" destOrd="0" presId="urn:microsoft.com/office/officeart/2005/8/layout/hList6"/>
    <dgm:cxn modelId="{C73E4D28-22CE-4763-950C-35D0C3F226CC}" type="presOf" srcId="{EB8C3C1B-4286-412B-942E-0B25304A3837}" destId="{86F72F0B-C56B-47D5-97E2-D075623C1373}" srcOrd="0" destOrd="0" presId="urn:microsoft.com/office/officeart/2005/8/layout/hList6"/>
    <dgm:cxn modelId="{8E45E940-31C0-4999-BD3E-886EFF354DB6}" type="presOf" srcId="{15617D08-66FB-4F53-8B82-350BF7830B39}" destId="{00A59E64-62DD-4626-83E7-739349EFF351}" srcOrd="0" destOrd="0" presId="urn:microsoft.com/office/officeart/2005/8/layout/hList6"/>
    <dgm:cxn modelId="{09CD974A-26FD-4BDD-A88A-88340E2F9F55}" srcId="{EB8C3C1B-4286-412B-942E-0B25304A3837}" destId="{15617D08-66FB-4F53-8B82-350BF7830B39}" srcOrd="0" destOrd="0" parTransId="{35600688-DF1C-4A46-9F8C-FBE35239BC3E}" sibTransId="{EB019C9A-A8BC-4B04-AB90-D14A4D9688DF}"/>
    <dgm:cxn modelId="{8F93B887-7F2B-4D42-A0F5-26D7978700B4}" srcId="{EB8C3C1B-4286-412B-942E-0B25304A3837}" destId="{78AEE713-DA7F-4A03-BEB5-D848D874045A}" srcOrd="1" destOrd="0" parTransId="{D264992D-4DA2-40DC-B0DA-8CA36C4FF928}" sibTransId="{401C37B5-5900-4000-B3A8-91FE9663B83A}"/>
    <dgm:cxn modelId="{31D17092-BB96-4478-95B1-401559E7318A}" type="presOf" srcId="{BC93E692-A47F-4081-B6D7-660593733BEE}" destId="{57FDA712-4895-456A-BB6B-F288AC6F6557}" srcOrd="0" destOrd="0" presId="urn:microsoft.com/office/officeart/2005/8/layout/hList6"/>
    <dgm:cxn modelId="{144AEE9D-9262-4A7F-8487-73D4D0924A43}" srcId="{EB8C3C1B-4286-412B-942E-0B25304A3837}" destId="{BC93E692-A47F-4081-B6D7-660593733BEE}" srcOrd="4" destOrd="0" parTransId="{F1D5C700-4DBE-430F-846B-46FC2750D5DE}" sibTransId="{58856792-8A96-4131-90A4-D9F0339A6C90}"/>
    <dgm:cxn modelId="{938958C8-615A-49B0-B0F8-D5DEBFFCDE5E}" type="presOf" srcId="{78AEE713-DA7F-4A03-BEB5-D848D874045A}" destId="{F1DD6A9E-F460-4BCE-A57C-826B62E185B0}" srcOrd="0" destOrd="0" presId="urn:microsoft.com/office/officeart/2005/8/layout/hList6"/>
    <dgm:cxn modelId="{BA641AD6-91DC-42B1-8024-B137E9C1F153}" srcId="{EB8C3C1B-4286-412B-942E-0B25304A3837}" destId="{A18CB0CA-AFB8-4854-85D5-A79FB6D230C8}" srcOrd="3" destOrd="0" parTransId="{98E8E74E-CE43-4325-956C-7F5DD940E05F}" sibTransId="{CBF98CFF-E00E-4E08-8211-0D62F3AA2741}"/>
    <dgm:cxn modelId="{FEDE34D7-FABD-4A5B-B13E-1D68C2A68452}" type="presOf" srcId="{FEE76D11-458C-4D13-B9B6-D1EDF72E6281}" destId="{6A2A8A08-2D32-425F-AE28-FC004BADAF05}" srcOrd="0" destOrd="0" presId="urn:microsoft.com/office/officeart/2005/8/layout/hList6"/>
    <dgm:cxn modelId="{CFF9EDF2-4C4A-4252-B38D-7A932A5CA643}" srcId="{EB8C3C1B-4286-412B-942E-0B25304A3837}" destId="{FEE76D11-458C-4D13-B9B6-D1EDF72E6281}" srcOrd="2" destOrd="0" parTransId="{0CCC35A4-F391-4801-BB32-26A9CFABC984}" sibTransId="{339B7A3B-1F30-4DC8-BA88-A7BBA476C68F}"/>
    <dgm:cxn modelId="{72F1BECB-1162-4E48-B6D4-00E6A8D53C34}" type="presParOf" srcId="{86F72F0B-C56B-47D5-97E2-D075623C1373}" destId="{00A59E64-62DD-4626-83E7-739349EFF351}" srcOrd="0" destOrd="0" presId="urn:microsoft.com/office/officeart/2005/8/layout/hList6"/>
    <dgm:cxn modelId="{87789D7F-69A7-45F9-AA40-4AF1208015F0}" type="presParOf" srcId="{86F72F0B-C56B-47D5-97E2-D075623C1373}" destId="{BB539DF5-5BDC-49C4-A48A-7A466C62DA4C}" srcOrd="1" destOrd="0" presId="urn:microsoft.com/office/officeart/2005/8/layout/hList6"/>
    <dgm:cxn modelId="{4BBA1956-65AE-43E5-8255-C5372C79F3B5}" type="presParOf" srcId="{86F72F0B-C56B-47D5-97E2-D075623C1373}" destId="{F1DD6A9E-F460-4BCE-A57C-826B62E185B0}" srcOrd="2" destOrd="0" presId="urn:microsoft.com/office/officeart/2005/8/layout/hList6"/>
    <dgm:cxn modelId="{FEFA288A-45C8-46A8-B63D-9A46A78D3463}" type="presParOf" srcId="{86F72F0B-C56B-47D5-97E2-D075623C1373}" destId="{CEB688FD-A631-452A-9727-84910F883754}" srcOrd="3" destOrd="0" presId="urn:microsoft.com/office/officeart/2005/8/layout/hList6"/>
    <dgm:cxn modelId="{75AD7732-1320-4334-A4B8-06B062593254}" type="presParOf" srcId="{86F72F0B-C56B-47D5-97E2-D075623C1373}" destId="{6A2A8A08-2D32-425F-AE28-FC004BADAF05}" srcOrd="4" destOrd="0" presId="urn:microsoft.com/office/officeart/2005/8/layout/hList6"/>
    <dgm:cxn modelId="{0BF0C925-670D-4C1E-92E6-C15FF74583B3}" type="presParOf" srcId="{86F72F0B-C56B-47D5-97E2-D075623C1373}" destId="{7D8528E6-2916-46AD-B76E-2B50DB12D2DB}" srcOrd="5" destOrd="0" presId="urn:microsoft.com/office/officeart/2005/8/layout/hList6"/>
    <dgm:cxn modelId="{D4146E4F-394C-45D2-820C-FC613356CBFE}" type="presParOf" srcId="{86F72F0B-C56B-47D5-97E2-D075623C1373}" destId="{C588DB26-1D34-490D-B6E6-1F24E1CF9ABF}" srcOrd="6" destOrd="0" presId="urn:microsoft.com/office/officeart/2005/8/layout/hList6"/>
    <dgm:cxn modelId="{DBE8CDAD-2BC3-430C-B159-1B72026FEA6A}" type="presParOf" srcId="{86F72F0B-C56B-47D5-97E2-D075623C1373}" destId="{66CC10B8-C199-4E56-87BC-B52E1D6CAC05}" srcOrd="7" destOrd="0" presId="urn:microsoft.com/office/officeart/2005/8/layout/hList6"/>
    <dgm:cxn modelId="{5A15C1E4-2E64-4E10-B40E-80D179592354}" type="presParOf" srcId="{86F72F0B-C56B-47D5-97E2-D075623C1373}" destId="{57FDA712-4895-456A-BB6B-F288AC6F6557}" srcOrd="8"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86CB029-1687-4079-B959-D2B6FCCE8F62}"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973A13FB-1FD7-430B-B038-D7DE8F6971CB}">
      <dgm:prSet/>
      <dgm:spPr/>
      <dgm:t>
        <a:bodyPr/>
        <a:lstStyle/>
        <a:p>
          <a:r>
            <a:rPr lang="en-US" noProof="0" dirty="0"/>
            <a:t>Undress sellers from their transportation and training roles.</a:t>
          </a:r>
        </a:p>
      </dgm:t>
    </dgm:pt>
    <dgm:pt modelId="{A63407C3-4A4B-40B8-AC0A-D4E0A7995BA0}" type="parTrans" cxnId="{08693671-5389-4327-A3DF-EF9C624C4872}">
      <dgm:prSet/>
      <dgm:spPr/>
      <dgm:t>
        <a:bodyPr/>
        <a:lstStyle/>
        <a:p>
          <a:endParaRPr lang="en-US"/>
        </a:p>
      </dgm:t>
    </dgm:pt>
    <dgm:pt modelId="{01B0AE0E-A586-49F9-9507-5A4D3706B6E1}" type="sibTrans" cxnId="{08693671-5389-4327-A3DF-EF9C624C4872}">
      <dgm:prSet/>
      <dgm:spPr/>
      <dgm:t>
        <a:bodyPr/>
        <a:lstStyle/>
        <a:p>
          <a:endParaRPr lang="en-US"/>
        </a:p>
      </dgm:t>
    </dgm:pt>
    <dgm:pt modelId="{2EEB7368-8CE0-4FAD-9B5F-12966F070A20}">
      <dgm:prSet/>
      <dgm:spPr/>
      <dgm:t>
        <a:bodyPr/>
        <a:lstStyle/>
        <a:p>
          <a:r>
            <a:rPr lang="en-US" noProof="0" dirty="0"/>
            <a:t>Shape storage in X, distributors, seller agents, and hospitals.</a:t>
          </a:r>
        </a:p>
      </dgm:t>
    </dgm:pt>
    <dgm:pt modelId="{F909A3DE-1A87-4EA8-8CCC-069FBC1A649B}" type="parTrans" cxnId="{083D348C-8000-4952-8740-0C1202023AAD}">
      <dgm:prSet/>
      <dgm:spPr/>
      <dgm:t>
        <a:bodyPr/>
        <a:lstStyle/>
        <a:p>
          <a:endParaRPr lang="en-US"/>
        </a:p>
      </dgm:t>
    </dgm:pt>
    <dgm:pt modelId="{82A2A817-FF84-414F-B799-218FEEA329C3}" type="sibTrans" cxnId="{083D348C-8000-4952-8740-0C1202023AAD}">
      <dgm:prSet/>
      <dgm:spPr/>
      <dgm:t>
        <a:bodyPr/>
        <a:lstStyle/>
        <a:p>
          <a:endParaRPr lang="en-US"/>
        </a:p>
      </dgm:t>
    </dgm:pt>
    <dgm:pt modelId="{C32D6FD8-4965-4B70-8537-E9B7A55231B1}">
      <dgm:prSet/>
      <dgm:spPr/>
      <dgm:t>
        <a:bodyPr/>
        <a:lstStyle/>
        <a:p>
          <a:r>
            <a:rPr lang="en-US" noProof="0" dirty="0"/>
            <a:t>RIFD is a must.</a:t>
          </a:r>
        </a:p>
      </dgm:t>
    </dgm:pt>
    <dgm:pt modelId="{33F4A135-9FDB-400B-B335-0CE6FD256D7D}" type="parTrans" cxnId="{E852AB98-466C-44AC-BC7A-FAFED32E884E}">
      <dgm:prSet/>
      <dgm:spPr/>
      <dgm:t>
        <a:bodyPr/>
        <a:lstStyle/>
        <a:p>
          <a:endParaRPr lang="en-US"/>
        </a:p>
      </dgm:t>
    </dgm:pt>
    <dgm:pt modelId="{3EF47781-D497-406A-AD74-E3534D461D41}" type="sibTrans" cxnId="{E852AB98-466C-44AC-BC7A-FAFED32E884E}">
      <dgm:prSet/>
      <dgm:spPr/>
      <dgm:t>
        <a:bodyPr/>
        <a:lstStyle/>
        <a:p>
          <a:endParaRPr lang="en-US"/>
        </a:p>
      </dgm:t>
    </dgm:pt>
    <dgm:pt modelId="{E8DC23CF-8B0F-4EB7-9D69-C76821C5CA7C}">
      <dgm:prSet/>
      <dgm:spPr/>
      <dgm:t>
        <a:bodyPr/>
        <a:lstStyle/>
        <a:p>
          <a:r>
            <a:rPr lang="en-US" noProof="0" dirty="0"/>
            <a:t>Full exploitation of hospitals in warehousing without cost increase.</a:t>
          </a:r>
        </a:p>
      </dgm:t>
    </dgm:pt>
    <dgm:pt modelId="{8E83C1B0-72CA-4823-88A8-B94F50DF315D}" type="parTrans" cxnId="{23159CED-01C6-4351-ACCD-B1FA08E56B36}">
      <dgm:prSet/>
      <dgm:spPr/>
      <dgm:t>
        <a:bodyPr/>
        <a:lstStyle/>
        <a:p>
          <a:endParaRPr lang="en-US"/>
        </a:p>
      </dgm:t>
    </dgm:pt>
    <dgm:pt modelId="{34B4680D-945C-4C47-852B-27ADB35C61A1}" type="sibTrans" cxnId="{23159CED-01C6-4351-ACCD-B1FA08E56B36}">
      <dgm:prSet/>
      <dgm:spPr/>
      <dgm:t>
        <a:bodyPr/>
        <a:lstStyle/>
        <a:p>
          <a:endParaRPr lang="en-US"/>
        </a:p>
      </dgm:t>
    </dgm:pt>
    <dgm:pt modelId="{4FFB2291-9941-4B65-8211-19430C530110}">
      <dgm:prSet/>
      <dgm:spPr>
        <a:solidFill>
          <a:schemeClr val="lt1">
            <a:hueOff val="0"/>
            <a:satOff val="0"/>
            <a:lumOff val="0"/>
            <a:alpha val="20000"/>
          </a:schemeClr>
        </a:solidFill>
      </dgm:spPr>
      <dgm:t>
        <a:bodyPr/>
        <a:lstStyle/>
        <a:p>
          <a:r>
            <a:rPr lang="en-US" noProof="0" dirty="0"/>
            <a:t>1 to 1,5% decrease in SG&amp;A.</a:t>
          </a:r>
        </a:p>
      </dgm:t>
    </dgm:pt>
    <dgm:pt modelId="{971EB1D6-158E-4194-A04D-74D8F5EE9857}" type="parTrans" cxnId="{BF6CE78A-3455-4797-8F08-69FA4B0D60E5}">
      <dgm:prSet/>
      <dgm:spPr/>
      <dgm:t>
        <a:bodyPr/>
        <a:lstStyle/>
        <a:p>
          <a:endParaRPr lang="en-US"/>
        </a:p>
      </dgm:t>
    </dgm:pt>
    <dgm:pt modelId="{307334AF-758C-471D-B08D-DBDBEEA038FB}" type="sibTrans" cxnId="{BF6CE78A-3455-4797-8F08-69FA4B0D60E5}">
      <dgm:prSet/>
      <dgm:spPr/>
      <dgm:t>
        <a:bodyPr/>
        <a:lstStyle/>
        <a:p>
          <a:endParaRPr lang="en-US"/>
        </a:p>
      </dgm:t>
    </dgm:pt>
    <dgm:pt modelId="{D1FC7414-3AA1-4AB3-B4D9-3A3FA5B2D1D7}">
      <dgm:prSet/>
      <dgm:spPr>
        <a:solidFill>
          <a:schemeClr val="lt1">
            <a:hueOff val="0"/>
            <a:satOff val="0"/>
            <a:lumOff val="0"/>
            <a:alpha val="20000"/>
          </a:schemeClr>
        </a:solidFill>
      </dgm:spPr>
      <dgm:t>
        <a:bodyPr/>
        <a:lstStyle/>
        <a:p>
          <a:r>
            <a:rPr lang="en-US" noProof="0" dirty="0"/>
            <a:t>Through seamless demand forecast and advance planning.</a:t>
          </a:r>
        </a:p>
      </dgm:t>
    </dgm:pt>
    <dgm:pt modelId="{3AB3A03E-4F6F-4807-8C9F-11C88FA997C6}" type="parTrans" cxnId="{37FBDB61-8FE1-4B5E-9034-4C9EC5D295CB}">
      <dgm:prSet/>
      <dgm:spPr/>
      <dgm:t>
        <a:bodyPr/>
        <a:lstStyle/>
        <a:p>
          <a:endParaRPr lang="en-US"/>
        </a:p>
      </dgm:t>
    </dgm:pt>
    <dgm:pt modelId="{807EED88-0AE0-470D-84B2-9E043B349F5E}" type="sibTrans" cxnId="{37FBDB61-8FE1-4B5E-9034-4C9EC5D295CB}">
      <dgm:prSet/>
      <dgm:spPr/>
      <dgm:t>
        <a:bodyPr/>
        <a:lstStyle/>
        <a:p>
          <a:endParaRPr lang="en-US"/>
        </a:p>
      </dgm:t>
    </dgm:pt>
    <dgm:pt modelId="{1630CB15-BC8D-4D79-B5E2-8EDFF0BB4681}">
      <dgm:prSet/>
      <dgm:spPr>
        <a:solidFill>
          <a:schemeClr val="lt1">
            <a:hueOff val="0"/>
            <a:satOff val="0"/>
            <a:lumOff val="0"/>
            <a:alpha val="20000"/>
          </a:schemeClr>
        </a:solidFill>
      </dgm:spPr>
      <dgm:t>
        <a:bodyPr/>
        <a:lstStyle/>
        <a:p>
          <a:r>
            <a:rPr lang="en-US" noProof="0" dirty="0"/>
            <a:t>Needs careful monitoring.</a:t>
          </a:r>
        </a:p>
      </dgm:t>
    </dgm:pt>
    <dgm:pt modelId="{74C4D018-DEC8-4544-B375-5F9A7EF19456}" type="parTrans" cxnId="{EBC35174-EDA3-4171-9DDE-070A410045C0}">
      <dgm:prSet/>
      <dgm:spPr/>
      <dgm:t>
        <a:bodyPr/>
        <a:lstStyle/>
        <a:p>
          <a:endParaRPr lang="en-US"/>
        </a:p>
      </dgm:t>
    </dgm:pt>
    <dgm:pt modelId="{7AC33308-3F6B-449F-9008-03C6D0CA9306}" type="sibTrans" cxnId="{EBC35174-EDA3-4171-9DDE-070A410045C0}">
      <dgm:prSet/>
      <dgm:spPr/>
      <dgm:t>
        <a:bodyPr/>
        <a:lstStyle/>
        <a:p>
          <a:endParaRPr lang="en-US"/>
        </a:p>
      </dgm:t>
    </dgm:pt>
    <dgm:pt modelId="{1D61A212-A116-4690-ACB3-FC16AE1C3F6B}">
      <dgm:prSet/>
      <dgm:spPr>
        <a:solidFill>
          <a:schemeClr val="lt1">
            <a:hueOff val="0"/>
            <a:satOff val="0"/>
            <a:lumOff val="0"/>
            <a:alpha val="20000"/>
          </a:schemeClr>
        </a:solidFill>
      </dgm:spPr>
      <dgm:t>
        <a:bodyPr/>
        <a:lstStyle/>
        <a:p>
          <a:r>
            <a:rPr lang="en-US" noProof="0" dirty="0"/>
            <a:t>Mainly by savings from other areas and lean approach.</a:t>
          </a:r>
        </a:p>
      </dgm:t>
    </dgm:pt>
    <dgm:pt modelId="{6DC56457-7FE1-40AA-818E-7F6FF5307CFA}" type="parTrans" cxnId="{4D2B520F-3C2D-4939-ADF8-D1B054880DBE}">
      <dgm:prSet/>
      <dgm:spPr/>
      <dgm:t>
        <a:bodyPr/>
        <a:lstStyle/>
        <a:p>
          <a:endParaRPr lang="en-US"/>
        </a:p>
      </dgm:t>
    </dgm:pt>
    <dgm:pt modelId="{2AAE26D4-705A-4D05-B3B1-68DCF8C87CC3}" type="sibTrans" cxnId="{4D2B520F-3C2D-4939-ADF8-D1B054880DBE}">
      <dgm:prSet/>
      <dgm:spPr/>
      <dgm:t>
        <a:bodyPr/>
        <a:lstStyle/>
        <a:p>
          <a:endParaRPr lang="en-US"/>
        </a:p>
      </dgm:t>
    </dgm:pt>
    <dgm:pt modelId="{20E320F8-5DE9-4E1A-87F3-4F5223B8C11B}" type="pres">
      <dgm:prSet presAssocID="{286CB029-1687-4079-B959-D2B6FCCE8F62}" presName="linear" presStyleCnt="0">
        <dgm:presLayoutVars>
          <dgm:dir/>
          <dgm:animLvl val="lvl"/>
          <dgm:resizeHandles val="exact"/>
        </dgm:presLayoutVars>
      </dgm:prSet>
      <dgm:spPr/>
    </dgm:pt>
    <dgm:pt modelId="{57E8A5F1-77A4-460C-AFA9-2E0C1900BCA3}" type="pres">
      <dgm:prSet presAssocID="{973A13FB-1FD7-430B-B038-D7DE8F6971CB}" presName="parentLin" presStyleCnt="0"/>
      <dgm:spPr/>
    </dgm:pt>
    <dgm:pt modelId="{9E1A7E00-05F0-45C3-885A-5BEABC82631B}" type="pres">
      <dgm:prSet presAssocID="{973A13FB-1FD7-430B-B038-D7DE8F6971CB}" presName="parentLeftMargin" presStyleLbl="node1" presStyleIdx="0" presStyleCnt="4"/>
      <dgm:spPr/>
    </dgm:pt>
    <dgm:pt modelId="{CE17D6F5-7BA6-4B3C-8690-9163952A13AD}" type="pres">
      <dgm:prSet presAssocID="{973A13FB-1FD7-430B-B038-D7DE8F6971CB}" presName="parentText" presStyleLbl="node1" presStyleIdx="0" presStyleCnt="4">
        <dgm:presLayoutVars>
          <dgm:chMax val="0"/>
          <dgm:bulletEnabled val="1"/>
        </dgm:presLayoutVars>
      </dgm:prSet>
      <dgm:spPr/>
    </dgm:pt>
    <dgm:pt modelId="{FA511D24-C4A8-44C7-9F52-D10184E99604}" type="pres">
      <dgm:prSet presAssocID="{973A13FB-1FD7-430B-B038-D7DE8F6971CB}" presName="negativeSpace" presStyleCnt="0"/>
      <dgm:spPr/>
    </dgm:pt>
    <dgm:pt modelId="{85056EE5-9BCD-4A2E-BB8B-8CCF5E030FF8}" type="pres">
      <dgm:prSet presAssocID="{973A13FB-1FD7-430B-B038-D7DE8F6971CB}" presName="childText" presStyleLbl="conFgAcc1" presStyleIdx="0" presStyleCnt="4">
        <dgm:presLayoutVars>
          <dgm:bulletEnabled val="1"/>
        </dgm:presLayoutVars>
      </dgm:prSet>
      <dgm:spPr/>
    </dgm:pt>
    <dgm:pt modelId="{15591F30-D85E-49E6-878E-BC72D170DACE}" type="pres">
      <dgm:prSet presAssocID="{01B0AE0E-A586-49F9-9507-5A4D3706B6E1}" presName="spaceBetweenRectangles" presStyleCnt="0"/>
      <dgm:spPr/>
    </dgm:pt>
    <dgm:pt modelId="{FBA99D86-7092-4A29-9BCB-1787A65F2F2B}" type="pres">
      <dgm:prSet presAssocID="{2EEB7368-8CE0-4FAD-9B5F-12966F070A20}" presName="parentLin" presStyleCnt="0"/>
      <dgm:spPr/>
    </dgm:pt>
    <dgm:pt modelId="{209EA10A-806A-4F7F-A912-003E16E0AC18}" type="pres">
      <dgm:prSet presAssocID="{2EEB7368-8CE0-4FAD-9B5F-12966F070A20}" presName="parentLeftMargin" presStyleLbl="node1" presStyleIdx="0" presStyleCnt="4"/>
      <dgm:spPr/>
    </dgm:pt>
    <dgm:pt modelId="{B27A4289-3344-4646-9F03-48C00B6A5876}" type="pres">
      <dgm:prSet presAssocID="{2EEB7368-8CE0-4FAD-9B5F-12966F070A20}" presName="parentText" presStyleLbl="node1" presStyleIdx="1" presStyleCnt="4">
        <dgm:presLayoutVars>
          <dgm:chMax val="0"/>
          <dgm:bulletEnabled val="1"/>
        </dgm:presLayoutVars>
      </dgm:prSet>
      <dgm:spPr/>
    </dgm:pt>
    <dgm:pt modelId="{8EB546AD-AC9D-48A2-A8C8-11A35C439C40}" type="pres">
      <dgm:prSet presAssocID="{2EEB7368-8CE0-4FAD-9B5F-12966F070A20}" presName="negativeSpace" presStyleCnt="0"/>
      <dgm:spPr/>
    </dgm:pt>
    <dgm:pt modelId="{65ED0903-0594-4F49-B9D2-C32E43706054}" type="pres">
      <dgm:prSet presAssocID="{2EEB7368-8CE0-4FAD-9B5F-12966F070A20}" presName="childText" presStyleLbl="conFgAcc1" presStyleIdx="1" presStyleCnt="4">
        <dgm:presLayoutVars>
          <dgm:bulletEnabled val="1"/>
        </dgm:presLayoutVars>
      </dgm:prSet>
      <dgm:spPr/>
    </dgm:pt>
    <dgm:pt modelId="{9E9CB7B7-B180-436F-919C-6668A420CD7C}" type="pres">
      <dgm:prSet presAssocID="{82A2A817-FF84-414F-B799-218FEEA329C3}" presName="spaceBetweenRectangles" presStyleCnt="0"/>
      <dgm:spPr/>
    </dgm:pt>
    <dgm:pt modelId="{33869D3F-DCED-4225-92EE-AA5A415D9984}" type="pres">
      <dgm:prSet presAssocID="{C32D6FD8-4965-4B70-8537-E9B7A55231B1}" presName="parentLin" presStyleCnt="0"/>
      <dgm:spPr/>
    </dgm:pt>
    <dgm:pt modelId="{D7C1567D-A6A7-41CD-82BA-81E9D71B13F6}" type="pres">
      <dgm:prSet presAssocID="{C32D6FD8-4965-4B70-8537-E9B7A55231B1}" presName="parentLeftMargin" presStyleLbl="node1" presStyleIdx="1" presStyleCnt="4"/>
      <dgm:spPr/>
    </dgm:pt>
    <dgm:pt modelId="{0EF7D131-F2AA-4F5C-947A-11BB33B9A7AC}" type="pres">
      <dgm:prSet presAssocID="{C32D6FD8-4965-4B70-8537-E9B7A55231B1}" presName="parentText" presStyleLbl="node1" presStyleIdx="2" presStyleCnt="4">
        <dgm:presLayoutVars>
          <dgm:chMax val="0"/>
          <dgm:bulletEnabled val="1"/>
        </dgm:presLayoutVars>
      </dgm:prSet>
      <dgm:spPr/>
    </dgm:pt>
    <dgm:pt modelId="{66874EF2-ECBF-4A91-8165-494CB79EBBF7}" type="pres">
      <dgm:prSet presAssocID="{C32D6FD8-4965-4B70-8537-E9B7A55231B1}" presName="negativeSpace" presStyleCnt="0"/>
      <dgm:spPr/>
    </dgm:pt>
    <dgm:pt modelId="{E93960B8-A907-4EE5-93A2-107D8803A47D}" type="pres">
      <dgm:prSet presAssocID="{C32D6FD8-4965-4B70-8537-E9B7A55231B1}" presName="childText" presStyleLbl="conFgAcc1" presStyleIdx="2" presStyleCnt="4">
        <dgm:presLayoutVars>
          <dgm:bulletEnabled val="1"/>
        </dgm:presLayoutVars>
      </dgm:prSet>
      <dgm:spPr/>
    </dgm:pt>
    <dgm:pt modelId="{22D17C2B-BDFD-4D11-B98D-493710688437}" type="pres">
      <dgm:prSet presAssocID="{3EF47781-D497-406A-AD74-E3534D461D41}" presName="spaceBetweenRectangles" presStyleCnt="0"/>
      <dgm:spPr/>
    </dgm:pt>
    <dgm:pt modelId="{8D0F54E4-EB98-4B19-9A7E-5D3CE81BA638}" type="pres">
      <dgm:prSet presAssocID="{E8DC23CF-8B0F-4EB7-9D69-C76821C5CA7C}" presName="parentLin" presStyleCnt="0"/>
      <dgm:spPr/>
    </dgm:pt>
    <dgm:pt modelId="{C6A3D1C8-146C-4A78-9B0C-757C2A3EA407}" type="pres">
      <dgm:prSet presAssocID="{E8DC23CF-8B0F-4EB7-9D69-C76821C5CA7C}" presName="parentLeftMargin" presStyleLbl="node1" presStyleIdx="2" presStyleCnt="4"/>
      <dgm:spPr/>
    </dgm:pt>
    <dgm:pt modelId="{F3CDFFBA-12FD-44B9-8143-619EF30B562A}" type="pres">
      <dgm:prSet presAssocID="{E8DC23CF-8B0F-4EB7-9D69-C76821C5CA7C}" presName="parentText" presStyleLbl="node1" presStyleIdx="3" presStyleCnt="4">
        <dgm:presLayoutVars>
          <dgm:chMax val="0"/>
          <dgm:bulletEnabled val="1"/>
        </dgm:presLayoutVars>
      </dgm:prSet>
      <dgm:spPr/>
    </dgm:pt>
    <dgm:pt modelId="{C676F4A9-A777-4B07-B92E-FB915B4A2CCA}" type="pres">
      <dgm:prSet presAssocID="{E8DC23CF-8B0F-4EB7-9D69-C76821C5CA7C}" presName="negativeSpace" presStyleCnt="0"/>
      <dgm:spPr/>
    </dgm:pt>
    <dgm:pt modelId="{62A67B71-35CB-4B9F-8B11-633A42E1DF3C}" type="pres">
      <dgm:prSet presAssocID="{E8DC23CF-8B0F-4EB7-9D69-C76821C5CA7C}" presName="childText" presStyleLbl="conFgAcc1" presStyleIdx="3" presStyleCnt="4">
        <dgm:presLayoutVars>
          <dgm:bulletEnabled val="1"/>
        </dgm:presLayoutVars>
      </dgm:prSet>
      <dgm:spPr/>
    </dgm:pt>
  </dgm:ptLst>
  <dgm:cxnLst>
    <dgm:cxn modelId="{689B5A06-CAE8-45FF-89BF-081FC5156A1B}" type="presOf" srcId="{1630CB15-BC8D-4D79-B5E2-8EDFF0BB4681}" destId="{E93960B8-A907-4EE5-93A2-107D8803A47D}" srcOrd="0" destOrd="0" presId="urn:microsoft.com/office/officeart/2005/8/layout/list1"/>
    <dgm:cxn modelId="{4D2B520F-3C2D-4939-ADF8-D1B054880DBE}" srcId="{E8DC23CF-8B0F-4EB7-9D69-C76821C5CA7C}" destId="{1D61A212-A116-4690-ACB3-FC16AE1C3F6B}" srcOrd="0" destOrd="0" parTransId="{6DC56457-7FE1-40AA-818E-7F6FF5307CFA}" sibTransId="{2AAE26D4-705A-4D05-B3B1-68DCF8C87CC3}"/>
    <dgm:cxn modelId="{431B9015-11B4-484D-B85C-7EC452058FD3}" type="presOf" srcId="{2EEB7368-8CE0-4FAD-9B5F-12966F070A20}" destId="{209EA10A-806A-4F7F-A912-003E16E0AC18}" srcOrd="0" destOrd="0" presId="urn:microsoft.com/office/officeart/2005/8/layout/list1"/>
    <dgm:cxn modelId="{2FD17818-08E3-456E-96B8-9282E8168505}" type="presOf" srcId="{E8DC23CF-8B0F-4EB7-9D69-C76821C5CA7C}" destId="{F3CDFFBA-12FD-44B9-8143-619EF30B562A}" srcOrd="1" destOrd="0" presId="urn:microsoft.com/office/officeart/2005/8/layout/list1"/>
    <dgm:cxn modelId="{21E04733-F3BB-495D-9D6A-1C3DEAF6CBBC}" type="presOf" srcId="{E8DC23CF-8B0F-4EB7-9D69-C76821C5CA7C}" destId="{C6A3D1C8-146C-4A78-9B0C-757C2A3EA407}" srcOrd="0" destOrd="0" presId="urn:microsoft.com/office/officeart/2005/8/layout/list1"/>
    <dgm:cxn modelId="{37FBDB61-8FE1-4B5E-9034-4C9EC5D295CB}" srcId="{2EEB7368-8CE0-4FAD-9B5F-12966F070A20}" destId="{D1FC7414-3AA1-4AB3-B4D9-3A3FA5B2D1D7}" srcOrd="0" destOrd="0" parTransId="{3AB3A03E-4F6F-4807-8C9F-11C88FA997C6}" sibTransId="{807EED88-0AE0-470D-84B2-9E043B349F5E}"/>
    <dgm:cxn modelId="{6CC5D54B-6ABC-4BA2-AD0A-7970EA4D7536}" type="presOf" srcId="{1D61A212-A116-4690-ACB3-FC16AE1C3F6B}" destId="{62A67B71-35CB-4B9F-8B11-633A42E1DF3C}" srcOrd="0" destOrd="0" presId="urn:microsoft.com/office/officeart/2005/8/layout/list1"/>
    <dgm:cxn modelId="{08693671-5389-4327-A3DF-EF9C624C4872}" srcId="{286CB029-1687-4079-B959-D2B6FCCE8F62}" destId="{973A13FB-1FD7-430B-B038-D7DE8F6971CB}" srcOrd="0" destOrd="0" parTransId="{A63407C3-4A4B-40B8-AC0A-D4E0A7995BA0}" sibTransId="{01B0AE0E-A586-49F9-9507-5A4D3706B6E1}"/>
    <dgm:cxn modelId="{EBC35174-EDA3-4171-9DDE-070A410045C0}" srcId="{C32D6FD8-4965-4B70-8537-E9B7A55231B1}" destId="{1630CB15-BC8D-4D79-B5E2-8EDFF0BB4681}" srcOrd="0" destOrd="0" parTransId="{74C4D018-DEC8-4544-B375-5F9A7EF19456}" sibTransId="{7AC33308-3F6B-449F-9008-03C6D0CA9306}"/>
    <dgm:cxn modelId="{0A34277B-A813-491D-8449-3BCDDE14DCFE}" type="presOf" srcId="{286CB029-1687-4079-B959-D2B6FCCE8F62}" destId="{20E320F8-5DE9-4E1A-87F3-4F5223B8C11B}" srcOrd="0" destOrd="0" presId="urn:microsoft.com/office/officeart/2005/8/layout/list1"/>
    <dgm:cxn modelId="{BF6CE78A-3455-4797-8F08-69FA4B0D60E5}" srcId="{973A13FB-1FD7-430B-B038-D7DE8F6971CB}" destId="{4FFB2291-9941-4B65-8211-19430C530110}" srcOrd="0" destOrd="0" parTransId="{971EB1D6-158E-4194-A04D-74D8F5EE9857}" sibTransId="{307334AF-758C-471D-B08D-DBDBEEA038FB}"/>
    <dgm:cxn modelId="{083D348C-8000-4952-8740-0C1202023AAD}" srcId="{286CB029-1687-4079-B959-D2B6FCCE8F62}" destId="{2EEB7368-8CE0-4FAD-9B5F-12966F070A20}" srcOrd="1" destOrd="0" parTransId="{F909A3DE-1A87-4EA8-8CCC-069FBC1A649B}" sibTransId="{82A2A817-FF84-414F-B799-218FEEA329C3}"/>
    <dgm:cxn modelId="{E852AB98-466C-44AC-BC7A-FAFED32E884E}" srcId="{286CB029-1687-4079-B959-D2B6FCCE8F62}" destId="{C32D6FD8-4965-4B70-8537-E9B7A55231B1}" srcOrd="2" destOrd="0" parTransId="{33F4A135-9FDB-400B-B335-0CE6FD256D7D}" sibTransId="{3EF47781-D497-406A-AD74-E3534D461D41}"/>
    <dgm:cxn modelId="{356B3A9C-2331-4B64-A656-6F25194EC2FB}" type="presOf" srcId="{C32D6FD8-4965-4B70-8537-E9B7A55231B1}" destId="{D7C1567D-A6A7-41CD-82BA-81E9D71B13F6}" srcOrd="0" destOrd="0" presId="urn:microsoft.com/office/officeart/2005/8/layout/list1"/>
    <dgm:cxn modelId="{A8DF789E-4D8F-4079-919A-CDE09F0E62D1}" type="presOf" srcId="{4FFB2291-9941-4B65-8211-19430C530110}" destId="{85056EE5-9BCD-4A2E-BB8B-8CCF5E030FF8}" srcOrd="0" destOrd="0" presId="urn:microsoft.com/office/officeart/2005/8/layout/list1"/>
    <dgm:cxn modelId="{E1A415A1-3627-44BA-877C-2B17FC862F4C}" type="presOf" srcId="{C32D6FD8-4965-4B70-8537-E9B7A55231B1}" destId="{0EF7D131-F2AA-4F5C-947A-11BB33B9A7AC}" srcOrd="1" destOrd="0" presId="urn:microsoft.com/office/officeart/2005/8/layout/list1"/>
    <dgm:cxn modelId="{E30D13CA-3D36-4354-8CB6-D6E2AEB6CFA7}" type="presOf" srcId="{973A13FB-1FD7-430B-B038-D7DE8F6971CB}" destId="{CE17D6F5-7BA6-4B3C-8690-9163952A13AD}" srcOrd="1" destOrd="0" presId="urn:microsoft.com/office/officeart/2005/8/layout/list1"/>
    <dgm:cxn modelId="{66A4E8CA-E7C1-4B62-A8FB-207E72554809}" type="presOf" srcId="{973A13FB-1FD7-430B-B038-D7DE8F6971CB}" destId="{9E1A7E00-05F0-45C3-885A-5BEABC82631B}" srcOrd="0" destOrd="0" presId="urn:microsoft.com/office/officeart/2005/8/layout/list1"/>
    <dgm:cxn modelId="{1DF1E0E8-E3B9-4140-B7B3-9AB7BF57752E}" type="presOf" srcId="{D1FC7414-3AA1-4AB3-B4D9-3A3FA5B2D1D7}" destId="{65ED0903-0594-4F49-B9D2-C32E43706054}" srcOrd="0" destOrd="0" presId="urn:microsoft.com/office/officeart/2005/8/layout/list1"/>
    <dgm:cxn modelId="{23159CED-01C6-4351-ACCD-B1FA08E56B36}" srcId="{286CB029-1687-4079-B959-D2B6FCCE8F62}" destId="{E8DC23CF-8B0F-4EB7-9D69-C76821C5CA7C}" srcOrd="3" destOrd="0" parTransId="{8E83C1B0-72CA-4823-88A8-B94F50DF315D}" sibTransId="{34B4680D-945C-4C47-852B-27ADB35C61A1}"/>
    <dgm:cxn modelId="{755FFEFC-0DBE-4D0A-BDB5-49F3C1E5A553}" type="presOf" srcId="{2EEB7368-8CE0-4FAD-9B5F-12966F070A20}" destId="{B27A4289-3344-4646-9F03-48C00B6A5876}" srcOrd="1" destOrd="0" presId="urn:microsoft.com/office/officeart/2005/8/layout/list1"/>
    <dgm:cxn modelId="{6737CDC8-E929-4F47-906C-6A91A6F7A675}" type="presParOf" srcId="{20E320F8-5DE9-4E1A-87F3-4F5223B8C11B}" destId="{57E8A5F1-77A4-460C-AFA9-2E0C1900BCA3}" srcOrd="0" destOrd="0" presId="urn:microsoft.com/office/officeart/2005/8/layout/list1"/>
    <dgm:cxn modelId="{8206A0F8-08FB-445F-8792-C155F4D34300}" type="presParOf" srcId="{57E8A5F1-77A4-460C-AFA9-2E0C1900BCA3}" destId="{9E1A7E00-05F0-45C3-885A-5BEABC82631B}" srcOrd="0" destOrd="0" presId="urn:microsoft.com/office/officeart/2005/8/layout/list1"/>
    <dgm:cxn modelId="{5F41CBB1-4539-427F-A458-84F0E67FC5FF}" type="presParOf" srcId="{57E8A5F1-77A4-460C-AFA9-2E0C1900BCA3}" destId="{CE17D6F5-7BA6-4B3C-8690-9163952A13AD}" srcOrd="1" destOrd="0" presId="urn:microsoft.com/office/officeart/2005/8/layout/list1"/>
    <dgm:cxn modelId="{B23C813A-AA0F-46FF-A560-11C63DCFA7FF}" type="presParOf" srcId="{20E320F8-5DE9-4E1A-87F3-4F5223B8C11B}" destId="{FA511D24-C4A8-44C7-9F52-D10184E99604}" srcOrd="1" destOrd="0" presId="urn:microsoft.com/office/officeart/2005/8/layout/list1"/>
    <dgm:cxn modelId="{CC0B91BF-FD37-4A6E-B461-92D6DEE02DB5}" type="presParOf" srcId="{20E320F8-5DE9-4E1A-87F3-4F5223B8C11B}" destId="{85056EE5-9BCD-4A2E-BB8B-8CCF5E030FF8}" srcOrd="2" destOrd="0" presId="urn:microsoft.com/office/officeart/2005/8/layout/list1"/>
    <dgm:cxn modelId="{B247F2A6-5C9A-452E-A94E-E8A2A40121A4}" type="presParOf" srcId="{20E320F8-5DE9-4E1A-87F3-4F5223B8C11B}" destId="{15591F30-D85E-49E6-878E-BC72D170DACE}" srcOrd="3" destOrd="0" presId="urn:microsoft.com/office/officeart/2005/8/layout/list1"/>
    <dgm:cxn modelId="{477B916E-1674-4747-89F7-92C310A4B3D2}" type="presParOf" srcId="{20E320F8-5DE9-4E1A-87F3-4F5223B8C11B}" destId="{FBA99D86-7092-4A29-9BCB-1787A65F2F2B}" srcOrd="4" destOrd="0" presId="urn:microsoft.com/office/officeart/2005/8/layout/list1"/>
    <dgm:cxn modelId="{E507F330-8BAE-459E-BBD9-F83B4C9CC989}" type="presParOf" srcId="{FBA99D86-7092-4A29-9BCB-1787A65F2F2B}" destId="{209EA10A-806A-4F7F-A912-003E16E0AC18}" srcOrd="0" destOrd="0" presId="urn:microsoft.com/office/officeart/2005/8/layout/list1"/>
    <dgm:cxn modelId="{B282295A-771D-4C1A-B570-1E4B38599C57}" type="presParOf" srcId="{FBA99D86-7092-4A29-9BCB-1787A65F2F2B}" destId="{B27A4289-3344-4646-9F03-48C00B6A5876}" srcOrd="1" destOrd="0" presId="urn:microsoft.com/office/officeart/2005/8/layout/list1"/>
    <dgm:cxn modelId="{739E86AD-E1FC-4032-88D1-B499C7588ABB}" type="presParOf" srcId="{20E320F8-5DE9-4E1A-87F3-4F5223B8C11B}" destId="{8EB546AD-AC9D-48A2-A8C8-11A35C439C40}" srcOrd="5" destOrd="0" presId="urn:microsoft.com/office/officeart/2005/8/layout/list1"/>
    <dgm:cxn modelId="{95E8B3D6-B7D6-49C7-A0A4-C2025D933063}" type="presParOf" srcId="{20E320F8-5DE9-4E1A-87F3-4F5223B8C11B}" destId="{65ED0903-0594-4F49-B9D2-C32E43706054}" srcOrd="6" destOrd="0" presId="urn:microsoft.com/office/officeart/2005/8/layout/list1"/>
    <dgm:cxn modelId="{762B59E4-82EB-43E4-8F4C-14C5E2AD5FB3}" type="presParOf" srcId="{20E320F8-5DE9-4E1A-87F3-4F5223B8C11B}" destId="{9E9CB7B7-B180-436F-919C-6668A420CD7C}" srcOrd="7" destOrd="0" presId="urn:microsoft.com/office/officeart/2005/8/layout/list1"/>
    <dgm:cxn modelId="{2EC9409F-3745-421A-9FA1-ABB4C78BFA42}" type="presParOf" srcId="{20E320F8-5DE9-4E1A-87F3-4F5223B8C11B}" destId="{33869D3F-DCED-4225-92EE-AA5A415D9984}" srcOrd="8" destOrd="0" presId="urn:microsoft.com/office/officeart/2005/8/layout/list1"/>
    <dgm:cxn modelId="{AA7C0C13-EB2B-4251-9541-7A298946F617}" type="presParOf" srcId="{33869D3F-DCED-4225-92EE-AA5A415D9984}" destId="{D7C1567D-A6A7-41CD-82BA-81E9D71B13F6}" srcOrd="0" destOrd="0" presId="urn:microsoft.com/office/officeart/2005/8/layout/list1"/>
    <dgm:cxn modelId="{55E05854-6C5A-4A86-B9D6-F5D31B564FAF}" type="presParOf" srcId="{33869D3F-DCED-4225-92EE-AA5A415D9984}" destId="{0EF7D131-F2AA-4F5C-947A-11BB33B9A7AC}" srcOrd="1" destOrd="0" presId="urn:microsoft.com/office/officeart/2005/8/layout/list1"/>
    <dgm:cxn modelId="{F391BB6F-1F24-4083-89F4-832CE50589F3}" type="presParOf" srcId="{20E320F8-5DE9-4E1A-87F3-4F5223B8C11B}" destId="{66874EF2-ECBF-4A91-8165-494CB79EBBF7}" srcOrd="9" destOrd="0" presId="urn:microsoft.com/office/officeart/2005/8/layout/list1"/>
    <dgm:cxn modelId="{A5DF1961-15C6-49EC-B318-421D89A6DB95}" type="presParOf" srcId="{20E320F8-5DE9-4E1A-87F3-4F5223B8C11B}" destId="{E93960B8-A907-4EE5-93A2-107D8803A47D}" srcOrd="10" destOrd="0" presId="urn:microsoft.com/office/officeart/2005/8/layout/list1"/>
    <dgm:cxn modelId="{282E0724-FE2F-4B72-B72B-1AB501716C66}" type="presParOf" srcId="{20E320F8-5DE9-4E1A-87F3-4F5223B8C11B}" destId="{22D17C2B-BDFD-4D11-B98D-493710688437}" srcOrd="11" destOrd="0" presId="urn:microsoft.com/office/officeart/2005/8/layout/list1"/>
    <dgm:cxn modelId="{A026B9E6-8C74-4EE6-A0ED-DDAF39142375}" type="presParOf" srcId="{20E320F8-5DE9-4E1A-87F3-4F5223B8C11B}" destId="{8D0F54E4-EB98-4B19-9A7E-5D3CE81BA638}" srcOrd="12" destOrd="0" presId="urn:microsoft.com/office/officeart/2005/8/layout/list1"/>
    <dgm:cxn modelId="{6B400A67-7D67-4142-A513-4E980899F4B6}" type="presParOf" srcId="{8D0F54E4-EB98-4B19-9A7E-5D3CE81BA638}" destId="{C6A3D1C8-146C-4A78-9B0C-757C2A3EA407}" srcOrd="0" destOrd="0" presId="urn:microsoft.com/office/officeart/2005/8/layout/list1"/>
    <dgm:cxn modelId="{CF6FDE71-693D-4BAC-8D3D-CF49198D232C}" type="presParOf" srcId="{8D0F54E4-EB98-4B19-9A7E-5D3CE81BA638}" destId="{F3CDFFBA-12FD-44B9-8143-619EF30B562A}" srcOrd="1" destOrd="0" presId="urn:microsoft.com/office/officeart/2005/8/layout/list1"/>
    <dgm:cxn modelId="{716CB7CB-DC9E-4789-B375-BE1935482A63}" type="presParOf" srcId="{20E320F8-5DE9-4E1A-87F3-4F5223B8C11B}" destId="{C676F4A9-A777-4B07-B92E-FB915B4A2CCA}" srcOrd="13" destOrd="0" presId="urn:microsoft.com/office/officeart/2005/8/layout/list1"/>
    <dgm:cxn modelId="{1F82A106-692F-4A69-A124-072EBE1ED367}" type="presParOf" srcId="{20E320F8-5DE9-4E1A-87F3-4F5223B8C11B}" destId="{62A67B71-35CB-4B9F-8B11-633A42E1DF3C}" srcOrd="14"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922436-70E3-4A14-8F55-4BC29B80DCD2}">
      <dsp:nvSpPr>
        <dsp:cNvPr id="0" name=""/>
        <dsp:cNvSpPr/>
      </dsp:nvSpPr>
      <dsp:spPr>
        <a:xfrm>
          <a:off x="0" y="1147390"/>
          <a:ext cx="9641840" cy="152985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D20514-4EBE-4794-9A14-BCFB835E5E46}">
      <dsp:nvSpPr>
        <dsp:cNvPr id="0" name=""/>
        <dsp:cNvSpPr/>
      </dsp:nvSpPr>
      <dsp:spPr>
        <a:xfrm>
          <a:off x="2383" y="0"/>
          <a:ext cx="1387662" cy="152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t>Problem Definition</a:t>
          </a:r>
          <a:endParaRPr lang="en-US" sz="1500" kern="1200"/>
        </a:p>
      </dsp:txBody>
      <dsp:txXfrm>
        <a:off x="2383" y="0"/>
        <a:ext cx="1387662" cy="1529854"/>
      </dsp:txXfrm>
    </dsp:sp>
    <dsp:sp modelId="{C46A7560-43F8-4DFA-8191-3629AB221C5E}">
      <dsp:nvSpPr>
        <dsp:cNvPr id="0" name=""/>
        <dsp:cNvSpPr/>
      </dsp:nvSpPr>
      <dsp:spPr>
        <a:xfrm>
          <a:off x="504982" y="1721086"/>
          <a:ext cx="382463" cy="3824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AFF6D7-D1FF-4B03-9E32-EDB9E364E839}">
      <dsp:nvSpPr>
        <dsp:cNvPr id="0" name=""/>
        <dsp:cNvSpPr/>
      </dsp:nvSpPr>
      <dsp:spPr>
        <a:xfrm>
          <a:off x="1459428" y="2294781"/>
          <a:ext cx="1387662" cy="152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dirty="0"/>
            <a:t>The Company X Logistics Network in 2014</a:t>
          </a:r>
          <a:endParaRPr lang="en-US" sz="1500" kern="1200" dirty="0"/>
        </a:p>
      </dsp:txBody>
      <dsp:txXfrm>
        <a:off x="1459428" y="2294781"/>
        <a:ext cx="1387662" cy="1529854"/>
      </dsp:txXfrm>
    </dsp:sp>
    <dsp:sp modelId="{9FA5A4DC-0DFE-41C0-9212-2681E64E374B}">
      <dsp:nvSpPr>
        <dsp:cNvPr id="0" name=""/>
        <dsp:cNvSpPr/>
      </dsp:nvSpPr>
      <dsp:spPr>
        <a:xfrm>
          <a:off x="1962028" y="1721086"/>
          <a:ext cx="382463" cy="3824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5EAE8B0-593D-4BE3-A326-3FBC32763B21}">
      <dsp:nvSpPr>
        <dsp:cNvPr id="0" name=""/>
        <dsp:cNvSpPr/>
      </dsp:nvSpPr>
      <dsp:spPr>
        <a:xfrm>
          <a:off x="2916474" y="0"/>
          <a:ext cx="1387662" cy="152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t>Short Breakdown</a:t>
          </a:r>
          <a:endParaRPr lang="en-US" sz="1500" kern="1200"/>
        </a:p>
      </dsp:txBody>
      <dsp:txXfrm>
        <a:off x="2916474" y="0"/>
        <a:ext cx="1387662" cy="1529854"/>
      </dsp:txXfrm>
    </dsp:sp>
    <dsp:sp modelId="{DAE058E7-50A4-40ED-869C-DDF4F108FB09}">
      <dsp:nvSpPr>
        <dsp:cNvPr id="0" name=""/>
        <dsp:cNvSpPr/>
      </dsp:nvSpPr>
      <dsp:spPr>
        <a:xfrm>
          <a:off x="3419073" y="1721086"/>
          <a:ext cx="382463" cy="3824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299CC11-2C0F-42DE-AAEF-2D5AE2BCB677}">
      <dsp:nvSpPr>
        <dsp:cNvPr id="0" name=""/>
        <dsp:cNvSpPr/>
      </dsp:nvSpPr>
      <dsp:spPr>
        <a:xfrm>
          <a:off x="4373519" y="2294781"/>
          <a:ext cx="1387662" cy="152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t>Initial Ponderations</a:t>
          </a:r>
          <a:endParaRPr lang="en-US" sz="1500" kern="1200"/>
        </a:p>
      </dsp:txBody>
      <dsp:txXfrm>
        <a:off x="4373519" y="2294781"/>
        <a:ext cx="1387662" cy="1529854"/>
      </dsp:txXfrm>
    </dsp:sp>
    <dsp:sp modelId="{8870F161-B1F3-4476-918F-42AE92E63FA9}">
      <dsp:nvSpPr>
        <dsp:cNvPr id="0" name=""/>
        <dsp:cNvSpPr/>
      </dsp:nvSpPr>
      <dsp:spPr>
        <a:xfrm>
          <a:off x="4876118" y="1721086"/>
          <a:ext cx="382463" cy="3824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3A085C-6058-4326-AB9F-3A31972FECDC}">
      <dsp:nvSpPr>
        <dsp:cNvPr id="0" name=""/>
        <dsp:cNvSpPr/>
      </dsp:nvSpPr>
      <dsp:spPr>
        <a:xfrm>
          <a:off x="5830564" y="0"/>
          <a:ext cx="1387662" cy="152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t>Solutions</a:t>
          </a:r>
          <a:endParaRPr lang="en-US" sz="1500" kern="1200"/>
        </a:p>
      </dsp:txBody>
      <dsp:txXfrm>
        <a:off x="5830564" y="0"/>
        <a:ext cx="1387662" cy="1529854"/>
      </dsp:txXfrm>
    </dsp:sp>
    <dsp:sp modelId="{DAE64100-DC05-413C-AD18-027ADA933D9D}">
      <dsp:nvSpPr>
        <dsp:cNvPr id="0" name=""/>
        <dsp:cNvSpPr/>
      </dsp:nvSpPr>
      <dsp:spPr>
        <a:xfrm>
          <a:off x="6333164" y="1721086"/>
          <a:ext cx="382463" cy="3824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C8FB6A-1215-46EE-9942-4A6472B1C48C}">
      <dsp:nvSpPr>
        <dsp:cNvPr id="0" name=""/>
        <dsp:cNvSpPr/>
      </dsp:nvSpPr>
      <dsp:spPr>
        <a:xfrm>
          <a:off x="7287610" y="2294781"/>
          <a:ext cx="1387662" cy="152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t>Key Highlights</a:t>
          </a:r>
          <a:endParaRPr lang="en-US" sz="1500" kern="1200"/>
        </a:p>
      </dsp:txBody>
      <dsp:txXfrm>
        <a:off x="7287610" y="2294781"/>
        <a:ext cx="1387662" cy="1529854"/>
      </dsp:txXfrm>
    </dsp:sp>
    <dsp:sp modelId="{ADC742EF-D165-4490-8577-9D82AA4F5D75}">
      <dsp:nvSpPr>
        <dsp:cNvPr id="0" name=""/>
        <dsp:cNvSpPr/>
      </dsp:nvSpPr>
      <dsp:spPr>
        <a:xfrm>
          <a:off x="7790209" y="1721086"/>
          <a:ext cx="382463" cy="382463"/>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9BB2B3-D9FC-43B0-8673-3222E90B3C6A}">
      <dsp:nvSpPr>
        <dsp:cNvPr id="0" name=""/>
        <dsp:cNvSpPr/>
      </dsp:nvSpPr>
      <dsp:spPr>
        <a:xfrm>
          <a:off x="1430697" y="-159042"/>
          <a:ext cx="1260001" cy="1260001"/>
        </a:xfrm>
        <a:prstGeom prst="ellipse">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a:t>SG&amp;A</a:t>
          </a:r>
          <a:r>
            <a:rPr lang="tr-TR" sz="1400" b="0" i="0" kern="1200"/>
            <a:t> </a:t>
          </a:r>
          <a:r>
            <a:rPr lang="en-US" sz="1400" b="0" i="0" kern="1200"/>
            <a:t>50% of the gross profit.</a:t>
          </a:r>
          <a:endParaRPr lang="en-US" sz="1400" kern="1200"/>
        </a:p>
      </dsp:txBody>
      <dsp:txXfrm>
        <a:off x="1615220" y="25481"/>
        <a:ext cx="890955" cy="890955"/>
      </dsp:txXfrm>
    </dsp:sp>
    <dsp:sp modelId="{8FC16B8A-AFEA-4BD4-9AB7-157B52FE99B7}">
      <dsp:nvSpPr>
        <dsp:cNvPr id="0" name=""/>
        <dsp:cNvSpPr/>
      </dsp:nvSpPr>
      <dsp:spPr>
        <a:xfrm rot="2140438">
          <a:off x="2637126" y="821181"/>
          <a:ext cx="265628" cy="317858"/>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2644603" y="861517"/>
        <a:ext cx="185940" cy="190714"/>
      </dsp:txXfrm>
    </dsp:sp>
    <dsp:sp modelId="{A3967E81-F7CA-442C-BA6A-C32E91202212}">
      <dsp:nvSpPr>
        <dsp:cNvPr id="0" name=""/>
        <dsp:cNvSpPr/>
      </dsp:nvSpPr>
      <dsp:spPr>
        <a:xfrm>
          <a:off x="2861395" y="868032"/>
          <a:ext cx="1260001" cy="1260001"/>
        </a:xfrm>
        <a:prstGeom prst="ellipse">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dirty="0"/>
            <a:t>Excise tax weight:</a:t>
          </a:r>
          <a:r>
            <a:rPr lang="tr-TR" sz="1400" b="0" i="0" kern="1200" dirty="0"/>
            <a:t> </a:t>
          </a:r>
          <a:r>
            <a:rPr lang="en-US" sz="1400" b="0" i="0" kern="1200"/>
            <a:t>up to 20%.</a:t>
          </a:r>
          <a:endParaRPr lang="en-US" sz="1400" kern="1200"/>
        </a:p>
      </dsp:txBody>
      <dsp:txXfrm>
        <a:off x="3045918" y="1052555"/>
        <a:ext cx="890955" cy="890955"/>
      </dsp:txXfrm>
    </dsp:sp>
    <dsp:sp modelId="{1638E096-8881-4037-829E-73E622AD1236}">
      <dsp:nvSpPr>
        <dsp:cNvPr id="0" name=""/>
        <dsp:cNvSpPr/>
      </dsp:nvSpPr>
      <dsp:spPr>
        <a:xfrm rot="8746375">
          <a:off x="2657232" y="1821780"/>
          <a:ext cx="249296" cy="317858"/>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2725545" y="1864319"/>
        <a:ext cx="174507" cy="190714"/>
      </dsp:txXfrm>
    </dsp:sp>
    <dsp:sp modelId="{EEA984DE-0A0A-4BA3-B3E1-5E459D0C9D72}">
      <dsp:nvSpPr>
        <dsp:cNvPr id="0" name=""/>
        <dsp:cNvSpPr/>
      </dsp:nvSpPr>
      <dsp:spPr>
        <a:xfrm>
          <a:off x="1430697" y="1841322"/>
          <a:ext cx="1260001" cy="1260001"/>
        </a:xfrm>
        <a:prstGeom prst="ellipse">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a:t>2015: 6.043M 2016 6426M</a:t>
          </a:r>
          <a:endParaRPr lang="en-US" sz="1400" kern="1200"/>
        </a:p>
      </dsp:txBody>
      <dsp:txXfrm>
        <a:off x="1615220" y="2025845"/>
        <a:ext cx="890955" cy="890955"/>
      </dsp:txXfrm>
    </dsp:sp>
    <dsp:sp modelId="{BEF6B84A-611F-4287-B23E-5CE2153AAC77}">
      <dsp:nvSpPr>
        <dsp:cNvPr id="0" name=""/>
        <dsp:cNvSpPr/>
      </dsp:nvSpPr>
      <dsp:spPr>
        <a:xfrm rot="12928273">
          <a:off x="1272258" y="1829383"/>
          <a:ext cx="221128" cy="317858"/>
        </a:xfrm>
        <a:prstGeom prst="rightArrow">
          <a:avLst>
            <a:gd name="adj1" fmla="val 60000"/>
            <a:gd name="adj2" fmla="val 50000"/>
          </a:avLst>
        </a:prstGeom>
        <a:solidFill>
          <a:schemeClr val="accent1">
            <a:tint val="60000"/>
            <a:hueOff val="0"/>
            <a:satOff val="0"/>
            <a:lumOff val="0"/>
            <a:alphaOff val="0"/>
          </a:schemeClr>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1332440" y="1912203"/>
        <a:ext cx="154790" cy="190714"/>
      </dsp:txXfrm>
    </dsp:sp>
    <dsp:sp modelId="{D47AAE79-D356-4224-81B1-3DC300D2C85D}">
      <dsp:nvSpPr>
        <dsp:cNvPr id="0" name=""/>
        <dsp:cNvSpPr/>
      </dsp:nvSpPr>
      <dsp:spPr>
        <a:xfrm>
          <a:off x="64753" y="868038"/>
          <a:ext cx="1260001" cy="1260001"/>
        </a:xfrm>
        <a:prstGeom prst="ellipse">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i="0" kern="1200"/>
            <a:t>Decrease in SG&amp;A needed:</a:t>
          </a:r>
          <a:r>
            <a:rPr lang="tr-TR" sz="1400" b="0" i="0" kern="1200"/>
            <a:t> </a:t>
          </a:r>
          <a:r>
            <a:rPr lang="en-US" sz="1400" b="0" i="0" kern="1200"/>
            <a:t>6,5%.</a:t>
          </a:r>
          <a:endParaRPr lang="en-US" sz="1400" kern="1200"/>
        </a:p>
      </dsp:txBody>
      <dsp:txXfrm>
        <a:off x="249276" y="1052561"/>
        <a:ext cx="890955" cy="890955"/>
      </dsp:txXfrm>
    </dsp:sp>
    <dsp:sp modelId="{4F9F9CC1-CDFF-4B3B-BA8E-5D9AD19DE09D}">
      <dsp:nvSpPr>
        <dsp:cNvPr id="0" name=""/>
        <dsp:cNvSpPr/>
      </dsp:nvSpPr>
      <dsp:spPr>
        <a:xfrm rot="37377">
          <a:off x="3473397" y="2546052"/>
          <a:ext cx="1295999" cy="389195"/>
        </a:xfrm>
        <a:prstGeom prst="rightArrow">
          <a:avLst>
            <a:gd name="adj1" fmla="val 60000"/>
            <a:gd name="adj2" fmla="val 50000"/>
          </a:avLst>
        </a:prstGeom>
        <a:solidFill>
          <a:srgbClr val="FFC000"/>
        </a:solidFill>
        <a:ln>
          <a:noFill/>
        </a:ln>
        <a:effectLst>
          <a:outerShdw blurRad="40000" dist="20000" dir="5400000" rotWithShape="0">
            <a:srgbClr val="000000">
              <a:alpha val="38000"/>
            </a:srgbClr>
          </a:outerShdw>
        </a:effectLst>
      </dsp:spPr>
      <dsp:style>
        <a:lnRef idx="0">
          <a:scrgbClr r="0" g="0" b="0"/>
        </a:lnRef>
        <a:fillRef idx="1">
          <a:scrgbClr r="0" g="0" b="0"/>
        </a:fillRef>
        <a:effectRef idx="1">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tr-TR" sz="1200" b="1" kern="1200" dirty="0" err="1"/>
            <a:t>SOLUTION</a:t>
          </a:r>
          <a:r>
            <a:rPr lang="tr-TR" sz="1200" b="1" kern="1200" dirty="0"/>
            <a:t> ?</a:t>
          </a:r>
          <a:endParaRPr lang="en-US" sz="1200" b="1" kern="1200" dirty="0"/>
        </a:p>
      </dsp:txBody>
      <dsp:txXfrm>
        <a:off x="3473400" y="2623256"/>
        <a:ext cx="1179241" cy="2335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59E64-62DD-4626-83E7-739349EFF351}">
      <dsp:nvSpPr>
        <dsp:cNvPr id="0" name=""/>
        <dsp:cNvSpPr/>
      </dsp:nvSpPr>
      <dsp:spPr>
        <a:xfrm rot="16200000">
          <a:off x="-1070065" y="1075223"/>
          <a:ext cx="3960440" cy="1809992"/>
        </a:xfrm>
        <a:prstGeom prst="flowChartManualOperation">
          <a:avLst/>
        </a:prstGeom>
        <a:gradFill rotWithShape="0">
          <a:gsLst>
            <a:gs pos="0">
              <a:schemeClr val="accent6">
                <a:shade val="50000"/>
                <a:hueOff val="0"/>
                <a:satOff val="0"/>
                <a:lumOff val="0"/>
                <a:alphaOff val="0"/>
                <a:tint val="100000"/>
                <a:shade val="100000"/>
                <a:satMod val="130000"/>
              </a:schemeClr>
            </a:gs>
            <a:gs pos="100000">
              <a:schemeClr val="accent6">
                <a:shade val="50000"/>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0" tIns="0" rIns="130163" bIns="0" numCol="1" spcCol="1270" anchor="ctr" anchorCtr="0">
          <a:noAutofit/>
        </a:bodyPr>
        <a:lstStyle/>
        <a:p>
          <a:pPr marL="0" lvl="0" indent="0" algn="ctr" defTabSz="889000">
            <a:lnSpc>
              <a:spcPct val="90000"/>
            </a:lnSpc>
            <a:spcBef>
              <a:spcPct val="0"/>
            </a:spcBef>
            <a:spcAft>
              <a:spcPct val="35000"/>
            </a:spcAft>
            <a:buNone/>
          </a:pPr>
          <a:r>
            <a:rPr lang="en-US" sz="2000" kern="1200" noProof="0" dirty="0"/>
            <a:t>Inventory of 6 months</a:t>
          </a:r>
        </a:p>
      </dsp:txBody>
      <dsp:txXfrm rot="5400000">
        <a:off x="5159" y="792087"/>
        <a:ext cx="1809992" cy="2376264"/>
      </dsp:txXfrm>
    </dsp:sp>
    <dsp:sp modelId="{F1DD6A9E-F460-4BCE-A57C-826B62E185B0}">
      <dsp:nvSpPr>
        <dsp:cNvPr id="0" name=""/>
        <dsp:cNvSpPr/>
      </dsp:nvSpPr>
      <dsp:spPr>
        <a:xfrm rot="16200000">
          <a:off x="875675" y="1075223"/>
          <a:ext cx="3960440" cy="1809992"/>
        </a:xfrm>
        <a:prstGeom prst="flowChartManualOperation">
          <a:avLst/>
        </a:prstGeom>
        <a:gradFill rotWithShape="0">
          <a:gsLst>
            <a:gs pos="0">
              <a:schemeClr val="accent6">
                <a:shade val="50000"/>
                <a:hueOff val="55805"/>
                <a:satOff val="-2154"/>
                <a:lumOff val="16544"/>
                <a:alphaOff val="0"/>
                <a:tint val="100000"/>
                <a:shade val="100000"/>
                <a:satMod val="130000"/>
              </a:schemeClr>
            </a:gs>
            <a:gs pos="100000">
              <a:schemeClr val="accent6">
                <a:shade val="50000"/>
                <a:hueOff val="55805"/>
                <a:satOff val="-2154"/>
                <a:lumOff val="16544"/>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0" tIns="0" rIns="130163" bIns="0" numCol="1" spcCol="1270" anchor="ctr" anchorCtr="0">
          <a:noAutofit/>
        </a:bodyPr>
        <a:lstStyle/>
        <a:p>
          <a:pPr marL="0" lvl="0" indent="0" algn="ctr" defTabSz="889000">
            <a:lnSpc>
              <a:spcPct val="90000"/>
            </a:lnSpc>
            <a:spcBef>
              <a:spcPct val="0"/>
            </a:spcBef>
            <a:spcAft>
              <a:spcPct val="35000"/>
            </a:spcAft>
            <a:buNone/>
          </a:pPr>
          <a:r>
            <a:rPr lang="tr-TR" sz="2000" kern="1200" noProof="0" dirty="0"/>
            <a:t>Multiple </a:t>
          </a:r>
          <a:r>
            <a:rPr lang="en-US" sz="2000" kern="1200" noProof="0" dirty="0"/>
            <a:t>roles</a:t>
          </a:r>
          <a:r>
            <a:rPr lang="tr-TR" sz="2000" kern="1200" noProof="0" dirty="0"/>
            <a:t> of </a:t>
          </a:r>
          <a:r>
            <a:rPr lang="tr-TR" sz="2000" kern="1200" noProof="0" dirty="0" err="1"/>
            <a:t>salespersons</a:t>
          </a:r>
          <a:endParaRPr lang="en-US" sz="2000" kern="1200" noProof="0" dirty="0"/>
        </a:p>
      </dsp:txBody>
      <dsp:txXfrm rot="5400000">
        <a:off x="1950899" y="792087"/>
        <a:ext cx="1809992" cy="2376264"/>
      </dsp:txXfrm>
    </dsp:sp>
    <dsp:sp modelId="{6A2A8A08-2D32-425F-AE28-FC004BADAF05}">
      <dsp:nvSpPr>
        <dsp:cNvPr id="0" name=""/>
        <dsp:cNvSpPr/>
      </dsp:nvSpPr>
      <dsp:spPr>
        <a:xfrm rot="16200000">
          <a:off x="2821417" y="1075223"/>
          <a:ext cx="3960440" cy="1809992"/>
        </a:xfrm>
        <a:prstGeom prst="flowChartManualOperation">
          <a:avLst/>
        </a:prstGeom>
        <a:gradFill rotWithShape="0">
          <a:gsLst>
            <a:gs pos="0">
              <a:schemeClr val="accent6">
                <a:shade val="50000"/>
                <a:hueOff val="111609"/>
                <a:satOff val="-4308"/>
                <a:lumOff val="33089"/>
                <a:alphaOff val="0"/>
                <a:tint val="100000"/>
                <a:shade val="100000"/>
                <a:satMod val="130000"/>
              </a:schemeClr>
            </a:gs>
            <a:gs pos="100000">
              <a:schemeClr val="accent6">
                <a:shade val="50000"/>
                <a:hueOff val="111609"/>
                <a:satOff val="-4308"/>
                <a:lumOff val="33089"/>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0" tIns="0" rIns="130163" bIns="0" numCol="1" spcCol="1270" anchor="ctr" anchorCtr="0">
          <a:noAutofit/>
        </a:bodyPr>
        <a:lstStyle/>
        <a:p>
          <a:pPr marL="0" lvl="0" indent="0" algn="ctr" defTabSz="889000">
            <a:lnSpc>
              <a:spcPct val="90000"/>
            </a:lnSpc>
            <a:spcBef>
              <a:spcPct val="0"/>
            </a:spcBef>
            <a:spcAft>
              <a:spcPct val="35000"/>
            </a:spcAft>
            <a:buNone/>
          </a:pPr>
          <a:r>
            <a:rPr lang="en-US" sz="2000" kern="1200" noProof="0" dirty="0"/>
            <a:t>Intermediary removal</a:t>
          </a:r>
          <a:r>
            <a:rPr lang="tr-TR" sz="2000" kern="1200" noProof="0" dirty="0"/>
            <a:t> ?</a:t>
          </a:r>
          <a:endParaRPr lang="en-US" sz="2000" kern="1200" noProof="0" dirty="0"/>
        </a:p>
      </dsp:txBody>
      <dsp:txXfrm rot="5400000">
        <a:off x="3896641" y="792087"/>
        <a:ext cx="1809992" cy="2376264"/>
      </dsp:txXfrm>
    </dsp:sp>
    <dsp:sp modelId="{C588DB26-1D34-490D-B6E6-1F24E1CF9ABF}">
      <dsp:nvSpPr>
        <dsp:cNvPr id="0" name=""/>
        <dsp:cNvSpPr/>
      </dsp:nvSpPr>
      <dsp:spPr>
        <a:xfrm rot="16200000">
          <a:off x="4767159" y="1075223"/>
          <a:ext cx="3960440" cy="1809992"/>
        </a:xfrm>
        <a:prstGeom prst="flowChartManualOperation">
          <a:avLst/>
        </a:prstGeom>
        <a:gradFill rotWithShape="0">
          <a:gsLst>
            <a:gs pos="0">
              <a:schemeClr val="accent6">
                <a:shade val="50000"/>
                <a:hueOff val="111609"/>
                <a:satOff val="-4308"/>
                <a:lumOff val="33089"/>
                <a:alphaOff val="0"/>
                <a:tint val="100000"/>
                <a:shade val="100000"/>
                <a:satMod val="130000"/>
              </a:schemeClr>
            </a:gs>
            <a:gs pos="100000">
              <a:schemeClr val="accent6">
                <a:shade val="50000"/>
                <a:hueOff val="111609"/>
                <a:satOff val="-4308"/>
                <a:lumOff val="33089"/>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0" tIns="0" rIns="130163" bIns="0" numCol="1" spcCol="1270" anchor="ctr" anchorCtr="0">
          <a:noAutofit/>
        </a:bodyPr>
        <a:lstStyle/>
        <a:p>
          <a:pPr marL="0" lvl="0" indent="0" algn="ctr" defTabSz="889000">
            <a:lnSpc>
              <a:spcPct val="90000"/>
            </a:lnSpc>
            <a:spcBef>
              <a:spcPct val="0"/>
            </a:spcBef>
            <a:spcAft>
              <a:spcPct val="35000"/>
            </a:spcAft>
            <a:buNone/>
          </a:pPr>
          <a:r>
            <a:rPr lang="en-US" sz="2000" kern="1200" noProof="0" dirty="0"/>
            <a:t>Shorter lead times</a:t>
          </a:r>
          <a:r>
            <a:rPr lang="tr-TR" sz="2000" kern="1200" noProof="0" dirty="0"/>
            <a:t> ?</a:t>
          </a:r>
          <a:endParaRPr lang="en-US" sz="2000" kern="1200" noProof="0" dirty="0"/>
        </a:p>
      </dsp:txBody>
      <dsp:txXfrm rot="5400000">
        <a:off x="5842383" y="792087"/>
        <a:ext cx="1809992" cy="2376264"/>
      </dsp:txXfrm>
    </dsp:sp>
    <dsp:sp modelId="{57FDA712-4895-456A-BB6B-F288AC6F6557}">
      <dsp:nvSpPr>
        <dsp:cNvPr id="0" name=""/>
        <dsp:cNvSpPr/>
      </dsp:nvSpPr>
      <dsp:spPr>
        <a:xfrm rot="16200000">
          <a:off x="6712900" y="1075223"/>
          <a:ext cx="3960440" cy="1809992"/>
        </a:xfrm>
        <a:prstGeom prst="flowChartManualOperation">
          <a:avLst/>
        </a:prstGeom>
        <a:gradFill rotWithShape="0">
          <a:gsLst>
            <a:gs pos="0">
              <a:schemeClr val="accent6">
                <a:shade val="50000"/>
                <a:hueOff val="55805"/>
                <a:satOff val="-2154"/>
                <a:lumOff val="16544"/>
                <a:alphaOff val="0"/>
                <a:tint val="100000"/>
                <a:shade val="100000"/>
                <a:satMod val="130000"/>
              </a:schemeClr>
            </a:gs>
            <a:gs pos="100000">
              <a:schemeClr val="accent6">
                <a:shade val="50000"/>
                <a:hueOff val="55805"/>
                <a:satOff val="-2154"/>
                <a:lumOff val="16544"/>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0" tIns="0" rIns="130163" bIns="0" numCol="1" spcCol="1270" anchor="ctr" anchorCtr="0">
          <a:noAutofit/>
        </a:bodyPr>
        <a:lstStyle/>
        <a:p>
          <a:pPr marL="0" lvl="0" indent="0" algn="ctr" defTabSz="889000">
            <a:lnSpc>
              <a:spcPct val="90000"/>
            </a:lnSpc>
            <a:spcBef>
              <a:spcPct val="0"/>
            </a:spcBef>
            <a:spcAft>
              <a:spcPct val="35000"/>
            </a:spcAft>
            <a:buNone/>
          </a:pPr>
          <a:r>
            <a:rPr lang="en-US" sz="2000" kern="1200" noProof="0" dirty="0"/>
            <a:t>The </a:t>
          </a:r>
          <a:r>
            <a:rPr lang="tr-TR" sz="2000" kern="1200" noProof="0" dirty="0"/>
            <a:t>c</a:t>
          </a:r>
          <a:r>
            <a:rPr lang="en-US" sz="2000" kern="1200" noProof="0" dirty="0" err="1"/>
            <a:t>ompany</a:t>
          </a:r>
          <a:r>
            <a:rPr lang="en-US" sz="2000" kern="1200" noProof="0" dirty="0"/>
            <a:t> </a:t>
          </a:r>
          <a:r>
            <a:rPr lang="tr-TR" sz="2000" kern="1200" noProof="0" dirty="0" err="1"/>
            <a:t>HQ</a:t>
          </a:r>
          <a:endParaRPr lang="en-US" sz="2000" kern="1200" noProof="0" dirty="0"/>
        </a:p>
      </dsp:txBody>
      <dsp:txXfrm rot="5400000">
        <a:off x="7788124" y="792087"/>
        <a:ext cx="1809992" cy="237626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56EE5-9BCD-4A2E-BB8B-8CCF5E030FF8}">
      <dsp:nvSpPr>
        <dsp:cNvPr id="0" name=""/>
        <dsp:cNvSpPr/>
      </dsp:nvSpPr>
      <dsp:spPr>
        <a:xfrm>
          <a:off x="0" y="292722"/>
          <a:ext cx="10515600" cy="709537"/>
        </a:xfrm>
        <a:prstGeom prst="rect">
          <a:avLst/>
        </a:prstGeom>
        <a:solidFill>
          <a:schemeClr val="lt1">
            <a:hueOff val="0"/>
            <a:satOff val="0"/>
            <a:lumOff val="0"/>
            <a:alpha val="2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6127" tIns="354076" rIns="81612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noProof="0" dirty="0"/>
            <a:t>1 to 1,5% decrease in SG&amp;A.</a:t>
          </a:r>
        </a:p>
      </dsp:txBody>
      <dsp:txXfrm>
        <a:off x="0" y="292722"/>
        <a:ext cx="10515600" cy="709537"/>
      </dsp:txXfrm>
    </dsp:sp>
    <dsp:sp modelId="{CE17D6F5-7BA6-4B3C-8690-9163952A13AD}">
      <dsp:nvSpPr>
        <dsp:cNvPr id="0" name=""/>
        <dsp:cNvSpPr/>
      </dsp:nvSpPr>
      <dsp:spPr>
        <a:xfrm>
          <a:off x="525780" y="41802"/>
          <a:ext cx="7360920" cy="5018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55650">
            <a:lnSpc>
              <a:spcPct val="90000"/>
            </a:lnSpc>
            <a:spcBef>
              <a:spcPct val="0"/>
            </a:spcBef>
            <a:spcAft>
              <a:spcPct val="35000"/>
            </a:spcAft>
            <a:buNone/>
          </a:pPr>
          <a:r>
            <a:rPr lang="en-US" sz="1700" kern="1200" noProof="0" dirty="0"/>
            <a:t>Undress sellers from their transportation and training roles.</a:t>
          </a:r>
        </a:p>
      </dsp:txBody>
      <dsp:txXfrm>
        <a:off x="550278" y="66300"/>
        <a:ext cx="7311924" cy="452844"/>
      </dsp:txXfrm>
    </dsp:sp>
    <dsp:sp modelId="{65ED0903-0594-4F49-B9D2-C32E43706054}">
      <dsp:nvSpPr>
        <dsp:cNvPr id="0" name=""/>
        <dsp:cNvSpPr/>
      </dsp:nvSpPr>
      <dsp:spPr>
        <a:xfrm>
          <a:off x="0" y="1344980"/>
          <a:ext cx="10515600" cy="709537"/>
        </a:xfrm>
        <a:prstGeom prst="rect">
          <a:avLst/>
        </a:prstGeom>
        <a:solidFill>
          <a:schemeClr val="lt1">
            <a:hueOff val="0"/>
            <a:satOff val="0"/>
            <a:lumOff val="0"/>
            <a:alpha val="2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6127" tIns="354076" rIns="81612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noProof="0" dirty="0"/>
            <a:t>Through seamless demand forecast and advance planning.</a:t>
          </a:r>
        </a:p>
      </dsp:txBody>
      <dsp:txXfrm>
        <a:off x="0" y="1344980"/>
        <a:ext cx="10515600" cy="709537"/>
      </dsp:txXfrm>
    </dsp:sp>
    <dsp:sp modelId="{B27A4289-3344-4646-9F03-48C00B6A5876}">
      <dsp:nvSpPr>
        <dsp:cNvPr id="0" name=""/>
        <dsp:cNvSpPr/>
      </dsp:nvSpPr>
      <dsp:spPr>
        <a:xfrm>
          <a:off x="525780" y="1094060"/>
          <a:ext cx="7360920" cy="5018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55650">
            <a:lnSpc>
              <a:spcPct val="90000"/>
            </a:lnSpc>
            <a:spcBef>
              <a:spcPct val="0"/>
            </a:spcBef>
            <a:spcAft>
              <a:spcPct val="35000"/>
            </a:spcAft>
            <a:buNone/>
          </a:pPr>
          <a:r>
            <a:rPr lang="en-US" sz="1700" kern="1200" noProof="0" dirty="0"/>
            <a:t>Shape storage in X, distributors, seller agents, and hospitals.</a:t>
          </a:r>
        </a:p>
      </dsp:txBody>
      <dsp:txXfrm>
        <a:off x="550278" y="1118558"/>
        <a:ext cx="7311924" cy="452844"/>
      </dsp:txXfrm>
    </dsp:sp>
    <dsp:sp modelId="{E93960B8-A907-4EE5-93A2-107D8803A47D}">
      <dsp:nvSpPr>
        <dsp:cNvPr id="0" name=""/>
        <dsp:cNvSpPr/>
      </dsp:nvSpPr>
      <dsp:spPr>
        <a:xfrm>
          <a:off x="0" y="2397238"/>
          <a:ext cx="10515600" cy="709537"/>
        </a:xfrm>
        <a:prstGeom prst="rect">
          <a:avLst/>
        </a:prstGeom>
        <a:solidFill>
          <a:schemeClr val="lt1">
            <a:hueOff val="0"/>
            <a:satOff val="0"/>
            <a:lumOff val="0"/>
            <a:alpha val="2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6127" tIns="354076" rIns="81612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noProof="0" dirty="0"/>
            <a:t>Needs careful monitoring.</a:t>
          </a:r>
        </a:p>
      </dsp:txBody>
      <dsp:txXfrm>
        <a:off x="0" y="2397238"/>
        <a:ext cx="10515600" cy="709537"/>
      </dsp:txXfrm>
    </dsp:sp>
    <dsp:sp modelId="{0EF7D131-F2AA-4F5C-947A-11BB33B9A7AC}">
      <dsp:nvSpPr>
        <dsp:cNvPr id="0" name=""/>
        <dsp:cNvSpPr/>
      </dsp:nvSpPr>
      <dsp:spPr>
        <a:xfrm>
          <a:off x="525780" y="2146318"/>
          <a:ext cx="7360920" cy="5018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55650">
            <a:lnSpc>
              <a:spcPct val="90000"/>
            </a:lnSpc>
            <a:spcBef>
              <a:spcPct val="0"/>
            </a:spcBef>
            <a:spcAft>
              <a:spcPct val="35000"/>
            </a:spcAft>
            <a:buNone/>
          </a:pPr>
          <a:r>
            <a:rPr lang="en-US" sz="1700" kern="1200" noProof="0" dirty="0"/>
            <a:t>RIFD is a must.</a:t>
          </a:r>
        </a:p>
      </dsp:txBody>
      <dsp:txXfrm>
        <a:off x="550278" y="2170816"/>
        <a:ext cx="7311924" cy="452844"/>
      </dsp:txXfrm>
    </dsp:sp>
    <dsp:sp modelId="{62A67B71-35CB-4B9F-8B11-633A42E1DF3C}">
      <dsp:nvSpPr>
        <dsp:cNvPr id="0" name=""/>
        <dsp:cNvSpPr/>
      </dsp:nvSpPr>
      <dsp:spPr>
        <a:xfrm>
          <a:off x="0" y="3449495"/>
          <a:ext cx="10515600" cy="709537"/>
        </a:xfrm>
        <a:prstGeom prst="rect">
          <a:avLst/>
        </a:prstGeom>
        <a:solidFill>
          <a:schemeClr val="lt1">
            <a:hueOff val="0"/>
            <a:satOff val="0"/>
            <a:lumOff val="0"/>
            <a:alpha val="2000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16127" tIns="354076" rIns="816127"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noProof="0" dirty="0"/>
            <a:t>Mainly by savings from other areas and lean approach.</a:t>
          </a:r>
        </a:p>
      </dsp:txBody>
      <dsp:txXfrm>
        <a:off x="0" y="3449495"/>
        <a:ext cx="10515600" cy="709537"/>
      </dsp:txXfrm>
    </dsp:sp>
    <dsp:sp modelId="{F3CDFFBA-12FD-44B9-8143-619EF30B562A}">
      <dsp:nvSpPr>
        <dsp:cNvPr id="0" name=""/>
        <dsp:cNvSpPr/>
      </dsp:nvSpPr>
      <dsp:spPr>
        <a:xfrm>
          <a:off x="525780" y="3198575"/>
          <a:ext cx="7360920" cy="5018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55650">
            <a:lnSpc>
              <a:spcPct val="90000"/>
            </a:lnSpc>
            <a:spcBef>
              <a:spcPct val="0"/>
            </a:spcBef>
            <a:spcAft>
              <a:spcPct val="35000"/>
            </a:spcAft>
            <a:buNone/>
          </a:pPr>
          <a:r>
            <a:rPr lang="en-US" sz="1700" kern="1200" noProof="0" dirty="0"/>
            <a:t>Full exploitation of hospitals in warehousing without cost increase.</a:t>
          </a:r>
        </a:p>
      </dsp:txBody>
      <dsp:txXfrm>
        <a:off x="550278" y="3223073"/>
        <a:ext cx="7311924"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sequence of my solution to this specific supply chain optimization problem is presented on the slide.</a:t>
            </a:r>
            <a:endParaRPr/>
          </a:p>
        </p:txBody>
      </p:sp>
      <p:sp>
        <p:nvSpPr>
          <p:cNvPr id="110" name="Google Shape;11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r>
              <a:rPr lang="en-US" dirty="0"/>
              <a:t>An excise tax of 2.3% has been imposed on medical device firms’ </a:t>
            </a:r>
            <a:r>
              <a:rPr lang="en-US" dirty="0">
                <a:solidFill>
                  <a:srgbClr val="FF0000"/>
                </a:solidFill>
              </a:rPr>
              <a:t>revenues</a:t>
            </a:r>
            <a:r>
              <a:rPr lang="en-US" dirty="0"/>
              <a:t> in 2014.This translates into </a:t>
            </a:r>
            <a:r>
              <a:rPr lang="en-US" dirty="0">
                <a:solidFill>
                  <a:srgbClr val="FF0000"/>
                </a:solidFill>
              </a:rPr>
              <a:t>10 to 20 % </a:t>
            </a:r>
            <a:r>
              <a:rPr lang="en-US" dirty="0"/>
              <a:t>(depending on the last 5 years’ data) of </a:t>
            </a:r>
            <a:r>
              <a:rPr lang="en-US" dirty="0">
                <a:solidFill>
                  <a:srgbClr val="FF0000"/>
                </a:solidFill>
              </a:rPr>
              <a:t>net profit </a:t>
            </a:r>
            <a:r>
              <a:rPr lang="en-US" dirty="0"/>
              <a:t>for the Company X.</a:t>
            </a:r>
            <a:endParaRPr dirty="0">
              <a:solidFill>
                <a:srgbClr val="FF0000"/>
              </a:solidFill>
            </a:endParaRPr>
          </a:p>
        </p:txBody>
      </p:sp>
      <p:sp>
        <p:nvSpPr>
          <p:cNvPr id="137" name="Google Shape;13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chemeClr val="dk1"/>
                </a:solidFill>
                <a:latin typeface="Calibri"/>
                <a:ea typeface="Calibri"/>
                <a:cs typeface="Calibri"/>
                <a:sym typeface="Calibri"/>
              </a:rPr>
              <a:t>1. Obviously, the largest lot of the expenses that detracts from the net earnings increase is “selling, general, and administrative expenses”: generally more than 50% of the gross profit. One step further, we understand that the costs that structure this clause are mainly the salaries and logistics (transportation and inventory holding). </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2. Since the excise tax will be levied from the revenue, if everything goes flat in 2015 from a cost and revenue perspective, a 2.3% tax on revenue in 2015 would mean a revenue of 5,953.86 million dollars. So, 136.93 million dollars will be added to the costs section, and just because we said, If everything goes flat, these 136.93 million dollars will directly be subtracted from the net earnings This eventually means a decrease in cost of up to 20% (at least for 2014 through 2015). This is huge. So, it must be dealt with.</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3. A linear regression trendline analysis shows that the revenue in 2015 might be near 6043 million and 6426 million in 2016.</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4. Therefore, a 6.5% cost shrinkage in “selling, general, and administrative expenses” is what we need, mathematically: 2.3 * revenue / “selling, general, and administrative expenses” cost.</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85" name="Google Shape;18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2324D-2611-6424-66BE-E83D559C9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65A53-F161-236B-9341-519A947BA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D34D0-3165-BFC0-C355-F7C727030564}"/>
              </a:ext>
            </a:extLst>
          </p:cNvPr>
          <p:cNvSpPr>
            <a:spLocks noGrp="1"/>
          </p:cNvSpPr>
          <p:nvPr>
            <p:ph type="body" idx="1"/>
          </p:nvPr>
        </p:nvSpPr>
        <p:spPr/>
        <p:txBody>
          <a:bodyPr/>
          <a:lstStyle/>
          <a:p>
            <a:pPr rtl="0" eaLnBrk="1" latinLnBrk="0" hangingPunct="1"/>
            <a:r>
              <a:rPr lang="tr-TR" sz="1200" kern="1200" dirty="0">
                <a:solidFill>
                  <a:schemeClr val="tx1"/>
                </a:solidFill>
                <a:effectLst/>
                <a:latin typeface="+mn-lt"/>
                <a:ea typeface="+mn-ea"/>
                <a:cs typeface="+mn-cs"/>
              </a:rPr>
              <a:t>1. </a:t>
            </a:r>
            <a:r>
              <a:rPr lang="en-US" sz="1200" kern="1200" dirty="0">
                <a:solidFill>
                  <a:schemeClr val="tx1"/>
                </a:solidFill>
                <a:effectLst/>
                <a:latin typeface="+mn-lt"/>
                <a:ea typeface="+mn-ea"/>
                <a:cs typeface="+mn-cs"/>
              </a:rPr>
              <a:t>In part, as logistics (transportation) is carried out </a:t>
            </a:r>
            <a:r>
              <a:rPr lang="en-US" sz="1200" kern="1200" noProof="0" dirty="0">
                <a:solidFill>
                  <a:schemeClr val="tx1"/>
                </a:solidFill>
                <a:effectLst/>
                <a:latin typeface="+mn-lt"/>
                <a:ea typeface="+mn-ea"/>
                <a:cs typeface="+mn-cs"/>
              </a:rPr>
              <a:t>both</a:t>
            </a:r>
            <a:r>
              <a:rPr lang="tr-TR"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by the sellers</a:t>
            </a:r>
            <a:r>
              <a:rPr lang="tr-TR" sz="1200" kern="1200" dirty="0">
                <a:solidFill>
                  <a:schemeClr val="tx1"/>
                </a:solidFill>
                <a:effectLst/>
                <a:latin typeface="+mn-lt"/>
                <a:ea typeface="+mn-ea"/>
                <a:cs typeface="+mn-cs"/>
              </a:rPr>
              <a:t> and distributors.</a:t>
            </a:r>
            <a:r>
              <a:rPr lang="en-US" sz="1200" kern="1200" dirty="0">
                <a:solidFill>
                  <a:schemeClr val="tx1"/>
                </a:solidFill>
                <a:effectLst/>
                <a:latin typeface="+mn-lt"/>
                <a:ea typeface="+mn-ea"/>
                <a:cs typeface="+mn-cs"/>
              </a:rPr>
              <a:t> </a:t>
            </a:r>
            <a:r>
              <a:rPr lang="tr-TR" sz="1200" kern="1200" dirty="0">
                <a:solidFill>
                  <a:schemeClr val="tx1"/>
                </a:solidFill>
                <a:effectLst/>
                <a:latin typeface="+mn-lt"/>
                <a:ea typeface="+mn-ea"/>
                <a:cs typeface="+mn-cs"/>
              </a:rPr>
              <a:t>T</a:t>
            </a:r>
            <a:r>
              <a:rPr lang="en-US" sz="1200" kern="1200" dirty="0">
                <a:solidFill>
                  <a:schemeClr val="tx1"/>
                </a:solidFill>
                <a:effectLst/>
                <a:latin typeface="+mn-lt"/>
                <a:ea typeface="+mn-ea"/>
                <a:cs typeface="+mn-cs"/>
              </a:rPr>
              <a:t>his makes these two costs actually relate to each other. Then why is there an extra inventory of 6 month</a:t>
            </a:r>
            <a:r>
              <a:rPr lang="tr-TR" sz="1200" kern="1200" dirty="0">
                <a:solidFill>
                  <a:schemeClr val="tx1"/>
                </a:solidFill>
                <a:effectLst/>
                <a:latin typeface="+mn-lt"/>
                <a:ea typeface="+mn-ea"/>
                <a:cs typeface="+mn-cs"/>
              </a:rPr>
              <a:t>s</a:t>
            </a:r>
            <a:r>
              <a:rPr lang="en-US" sz="1200" kern="1200" dirty="0">
                <a:solidFill>
                  <a:schemeClr val="tx1"/>
                </a:solidFill>
                <a:effectLst/>
                <a:latin typeface="+mn-lt"/>
                <a:ea typeface="+mn-ea"/>
                <a:cs typeface="+mn-cs"/>
              </a:rPr>
              <a:t>? That is a question to be addressed in the first phase: namely, how to streamline production to produce lean, regardless of the inventory storage method utilized. </a:t>
            </a:r>
            <a:endParaRPr lang="tr-TR" sz="1200" kern="1200" dirty="0">
              <a:solidFill>
                <a:schemeClr val="tx1"/>
              </a:solidFill>
              <a:effectLst/>
              <a:latin typeface="+mn-lt"/>
              <a:ea typeface="+mn-ea"/>
              <a:cs typeface="+mn-cs"/>
            </a:endParaRPr>
          </a:p>
          <a:p>
            <a:pPr rtl="0" eaLnBrk="1" latinLnBrk="0" hangingPunct="1"/>
            <a:endParaRPr lang="en-US" dirty="0">
              <a:effectLst/>
            </a:endParaRPr>
          </a:p>
          <a:p>
            <a:pPr rtl="0" eaLnBrk="1" latinLnBrk="0" hangingPunct="1"/>
            <a:r>
              <a:rPr lang="tr-TR" sz="1200" kern="1200" dirty="0">
                <a:solidFill>
                  <a:schemeClr val="tx1"/>
                </a:solidFill>
                <a:effectLst/>
                <a:latin typeface="+mn-lt"/>
                <a:ea typeface="+mn-ea"/>
                <a:cs typeface="+mn-cs"/>
              </a:rPr>
              <a:t>2. </a:t>
            </a:r>
            <a:r>
              <a:rPr lang="en-US" sz="1200" kern="1200" dirty="0">
                <a:solidFill>
                  <a:schemeClr val="tx1"/>
                </a:solidFill>
                <a:effectLst/>
                <a:latin typeface="+mn-lt"/>
                <a:ea typeface="+mn-ea"/>
                <a:cs typeface="+mn-cs"/>
              </a:rPr>
              <a:t>Secondly, they seem to be equipped for two roles: marketing and selling, and logistics. But no, we have now known that they are the ones as well that manage the consignment storage on the customer side (which seems to be low) and train the operators on the usage of goods in the hospitals. Too many missions seem to explain the high salaries they get. But really, do they need to wear all these roles?</a:t>
            </a:r>
            <a:endParaRPr lang="tr-TR" sz="1200" kern="1200" dirty="0">
              <a:solidFill>
                <a:schemeClr val="tx1"/>
              </a:solidFill>
              <a:effectLst/>
              <a:latin typeface="+mn-lt"/>
              <a:ea typeface="+mn-ea"/>
              <a:cs typeface="+mn-cs"/>
            </a:endParaRPr>
          </a:p>
          <a:p>
            <a:pPr rtl="0" eaLnBrk="1" latinLnBrk="0" hangingPunct="1"/>
            <a:endParaRPr lang="en-US" dirty="0">
              <a:effectLst/>
            </a:endParaRPr>
          </a:p>
          <a:p>
            <a:pPr rtl="0" eaLnBrk="1" latinLnBrk="0" hangingPunct="1"/>
            <a:r>
              <a:rPr lang="tr-TR" sz="1200" kern="1200" dirty="0">
                <a:solidFill>
                  <a:schemeClr val="tx1"/>
                </a:solidFill>
                <a:effectLst/>
                <a:latin typeface="+mn-lt"/>
                <a:ea typeface="+mn-ea"/>
                <a:cs typeface="+mn-cs"/>
              </a:rPr>
              <a:t>3. </a:t>
            </a:r>
            <a:r>
              <a:rPr lang="en-US" sz="1200" kern="1200" dirty="0">
                <a:solidFill>
                  <a:schemeClr val="tx1"/>
                </a:solidFill>
                <a:effectLst/>
                <a:latin typeface="+mn-lt"/>
                <a:ea typeface="+mn-ea"/>
                <a:cs typeface="+mn-cs"/>
              </a:rPr>
              <a:t>Overruling the intermediaries, the distributors might seem appealing at the beginning. But hospitals wouldn't stop buying from the distributors, as distributors might serve as a one-stop shop for the hospitals that they can find numerous goods from numerous distribut</a:t>
            </a:r>
            <a:r>
              <a:rPr lang="tr-TR" sz="1200" kern="1200" dirty="0">
                <a:solidFill>
                  <a:schemeClr val="tx1"/>
                </a:solidFill>
                <a:effectLst/>
                <a:latin typeface="+mn-lt"/>
                <a:ea typeface="+mn-ea"/>
                <a:cs typeface="+mn-cs"/>
              </a:rPr>
              <a:t>o</a:t>
            </a:r>
            <a:r>
              <a:rPr lang="en-US" sz="1200" kern="1200" dirty="0">
                <a:solidFill>
                  <a:schemeClr val="tx1"/>
                </a:solidFill>
                <a:effectLst/>
                <a:latin typeface="+mn-lt"/>
                <a:ea typeface="+mn-ea"/>
                <a:cs typeface="+mn-cs"/>
              </a:rPr>
              <a:t>rs: hospitals don't want to arrange contracts with every single supplier / manufacturer in order not to increase their administrative costs. But can’t we decrease the part the distribut</a:t>
            </a:r>
            <a:r>
              <a:rPr lang="tr-TR" sz="1200" kern="1200" dirty="0">
                <a:solidFill>
                  <a:schemeClr val="tx1"/>
                </a:solidFill>
                <a:effectLst/>
                <a:latin typeface="+mn-lt"/>
                <a:ea typeface="+mn-ea"/>
                <a:cs typeface="+mn-cs"/>
              </a:rPr>
              <a:t>o</a:t>
            </a:r>
            <a:r>
              <a:rPr lang="en-US" sz="1200" kern="1200" dirty="0">
                <a:solidFill>
                  <a:schemeClr val="tx1"/>
                </a:solidFill>
                <a:effectLst/>
                <a:latin typeface="+mn-lt"/>
                <a:ea typeface="+mn-ea"/>
                <a:cs typeface="+mn-cs"/>
              </a:rPr>
              <a:t>rs charge even for some small amount?</a:t>
            </a:r>
            <a:endParaRPr lang="tr-TR" sz="1200" kern="1200" dirty="0">
              <a:solidFill>
                <a:schemeClr val="tx1"/>
              </a:solidFill>
              <a:effectLst/>
              <a:latin typeface="+mn-lt"/>
              <a:ea typeface="+mn-ea"/>
              <a:cs typeface="+mn-cs"/>
            </a:endParaRPr>
          </a:p>
          <a:p>
            <a:pPr rtl="0" eaLnBrk="1" latinLnBrk="0" hangingPunct="1"/>
            <a:endParaRPr lang="en-US" dirty="0">
              <a:effectLst/>
            </a:endParaRPr>
          </a:p>
          <a:p>
            <a:pPr rtl="0" eaLnBrk="1" latinLnBrk="0" hangingPunct="1"/>
            <a:r>
              <a:rPr lang="tr-TR" sz="1200" kern="1200" dirty="0">
                <a:solidFill>
                  <a:schemeClr val="tx1"/>
                </a:solidFill>
                <a:effectLst/>
                <a:latin typeface="+mn-lt"/>
                <a:ea typeface="+mn-ea"/>
                <a:cs typeface="+mn-cs"/>
              </a:rPr>
              <a:t>4. The life</a:t>
            </a:r>
            <a:r>
              <a:rPr lang="en-US" sz="1200" kern="1200" dirty="0">
                <a:solidFill>
                  <a:schemeClr val="tx1"/>
                </a:solidFill>
                <a:effectLst/>
                <a:latin typeface="+mn-lt"/>
                <a:ea typeface="+mn-ea"/>
                <a:cs typeface="+mn-cs"/>
              </a:rPr>
              <a:t> cycle of the goods seems to be short, like 18-24 months. In many of the cases, apparently, it is impossible to foresee demand. That’s why they are using a seller-transporter approach to meet the requirements 24/7. However, it shouldn’t necessarily be impossible altogether to track average demand to streamline manufacturing and warehousing. But how?</a:t>
            </a:r>
            <a:endParaRPr lang="tr-TR" sz="1200" kern="1200" dirty="0">
              <a:solidFill>
                <a:schemeClr val="tx1"/>
              </a:solidFill>
              <a:effectLst/>
              <a:latin typeface="+mn-lt"/>
              <a:ea typeface="+mn-ea"/>
              <a:cs typeface="+mn-cs"/>
            </a:endParaRPr>
          </a:p>
          <a:p>
            <a:pPr rtl="0" eaLnBrk="1" latinLnBrk="0" hangingPunct="1"/>
            <a:endParaRPr lang="en-US" dirty="0">
              <a:effectLst/>
            </a:endParaRPr>
          </a:p>
          <a:p>
            <a:pPr rtl="0" eaLnBrk="1" latinLnBrk="0" hangingPunct="1"/>
            <a:r>
              <a:rPr lang="tr-TR" sz="1200" kern="1200" dirty="0">
                <a:solidFill>
                  <a:schemeClr val="tx1"/>
                </a:solidFill>
                <a:effectLst/>
                <a:latin typeface="+mn-lt"/>
                <a:ea typeface="+mn-ea"/>
                <a:cs typeface="+mn-cs"/>
              </a:rPr>
              <a:t>5. </a:t>
            </a:r>
            <a:r>
              <a:rPr lang="en-US" sz="1200" kern="1200" dirty="0">
                <a:solidFill>
                  <a:schemeClr val="tx1"/>
                </a:solidFill>
                <a:effectLst/>
                <a:latin typeface="+mn-lt"/>
                <a:ea typeface="+mn-ea"/>
                <a:cs typeface="+mn-cs"/>
              </a:rPr>
              <a:t>The "X" warehouse and the plant / center are located in different places. Why? There seems to be no apparent reason for a company that handles customers United States-wide and with sellers disseminated all across the country. That means possible administrative costs in vain.</a:t>
            </a:r>
            <a:endParaRPr lang="en-US" dirty="0">
              <a:effectLst/>
            </a:endParaRPr>
          </a:p>
        </p:txBody>
      </p:sp>
      <p:sp>
        <p:nvSpPr>
          <p:cNvPr id="4" name="Slide Number Placeholder 3">
            <a:extLst>
              <a:ext uri="{FF2B5EF4-FFF2-40B4-BE49-F238E27FC236}">
                <a16:creationId xmlns:a16="http://schemas.microsoft.com/office/drawing/2014/main" id="{AE100E73-DD11-FF34-3958-21F973B5E8DE}"/>
              </a:ext>
            </a:extLst>
          </p:cNvPr>
          <p:cNvSpPr>
            <a:spLocks noGrp="1"/>
          </p:cNvSpPr>
          <p:nvPr>
            <p:ph type="sldNum" sz="quarter" idx="5"/>
          </p:nvPr>
        </p:nvSpPr>
        <p:spPr/>
        <p:txBody>
          <a:bodyPr/>
          <a:lstStyle/>
          <a:p>
            <a:fld id="{6F3B4CED-91AC-41AF-B774-8887D0D5A005}" type="slidenum">
              <a:rPr lang="en-US" smtClean="0"/>
              <a:t>6</a:t>
            </a:fld>
            <a:endParaRPr lang="en-US" dirty="0"/>
          </a:p>
        </p:txBody>
      </p:sp>
    </p:spTree>
    <p:extLst>
      <p:ext uri="{BB962C8B-B14F-4D97-AF65-F5344CB8AC3E}">
        <p14:creationId xmlns:p14="http://schemas.microsoft.com/office/powerpoint/2010/main" val="33261685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latinLnBrk="0"/>
            <a:r>
              <a:rPr lang="en-US" sz="1200" b="0" i="0" kern="1200" dirty="0">
                <a:solidFill>
                  <a:schemeClr val="tx1"/>
                </a:solidFill>
                <a:effectLst/>
                <a:latin typeface="+mn-lt"/>
                <a:ea typeface="+mn-ea"/>
                <a:cs typeface="+mn-cs"/>
              </a:rPr>
              <a:t>1. Sellers will only be involved in selling and marketing. Emergency case selling/transportation and end-user training will be discussed below. Even if we assume 100 trunk storage sellers exist over there, it would mean a 1 to 1,5% cost decrease.</a:t>
            </a:r>
            <a:endParaRPr lang="tr-TR" sz="1200" b="0" i="0" kern="1200" dirty="0">
              <a:solidFill>
                <a:schemeClr val="tx1"/>
              </a:solidFill>
              <a:effectLst/>
              <a:latin typeface="+mn-lt"/>
              <a:ea typeface="+mn-ea"/>
              <a:cs typeface="+mn-cs"/>
            </a:endParaRPr>
          </a:p>
          <a:p>
            <a:pPr rtl="0" fontAlgn="base" latinLnBrk="0"/>
            <a:endParaRPr lang="en-US" sz="1200" b="0" i="0" kern="1200" dirty="0">
              <a:solidFill>
                <a:schemeClr val="tx1"/>
              </a:solidFill>
              <a:effectLst/>
              <a:latin typeface="+mn-lt"/>
              <a:ea typeface="+mn-ea"/>
              <a:cs typeface="+mn-cs"/>
            </a:endParaRPr>
          </a:p>
          <a:p>
            <a:pPr rtl="0" fontAlgn="base" latinLnBrk="0"/>
            <a:r>
              <a:rPr lang="en-US" sz="1200" b="0" i="0" kern="1200" dirty="0">
                <a:solidFill>
                  <a:schemeClr val="tx1"/>
                </a:solidFill>
                <a:effectLst/>
                <a:latin typeface="+mn-lt"/>
                <a:ea typeface="+mn-ea"/>
                <a:cs typeface="+mn-cs"/>
              </a:rPr>
              <a:t>2. The storage of 6 months is divided into four places: goods in the "X" Warehouse, "X" goods that are in distributors’ warehouses but still counted in "X" records, trunk storage, and finally low-level hospital storage. We can ignore the last. Distributors’ storage (not putting in an order in the long run) might have caused an increase in the warehouse storage if merged with the clumsy management of material requirements planning. But this is manageable by careful administration; moreover, it might not decrease the costs in the long run. So, the main issues here are the "X" warehouse inventory and the trunk stocks. This clearly indicates that all the focus is directed towards emergency case sales, as they stipulate stock on seller vehicles all the time. That means a huge safety stock that would unnecessarily meet these requirements. But it is worthy of consideration that most of the selling is done to the distributors, and there is a tiny storage in hospitals already. Hence, keeping a huge amount of stock just for the remaining trunk storage business is not logical. But in order to lay these verbal expressions into numerical values, it is necessary to determine demand, but determine it instantly, as instant medical replenishment is crucial, and we want to discard trunk storage once and for all: we will need time in operation and logistics to decrease lead times as much as the sellers do with their trunks.</a:t>
            </a:r>
            <a:endParaRPr lang="tr-TR" sz="1200" b="0" i="0" kern="1200" dirty="0">
              <a:solidFill>
                <a:schemeClr val="tx1"/>
              </a:solidFill>
              <a:effectLst/>
              <a:latin typeface="+mn-lt"/>
              <a:ea typeface="+mn-ea"/>
              <a:cs typeface="+mn-cs"/>
            </a:endParaRPr>
          </a:p>
          <a:p>
            <a:pPr rtl="0" fontAlgn="base" latinLnBrk="0"/>
            <a:endParaRPr lang="tr-TR" sz="1200" b="0" i="0" kern="1200" dirty="0">
              <a:solidFill>
                <a:schemeClr val="tx1"/>
              </a:solidFill>
              <a:effectLst/>
              <a:latin typeface="+mn-lt"/>
              <a:ea typeface="+mn-ea"/>
              <a:cs typeface="+mn-cs"/>
            </a:endParaRPr>
          </a:p>
          <a:p>
            <a:pPr rtl="0" fontAlgn="base" latinLnBrk="0"/>
            <a:r>
              <a:rPr lang="en-US" sz="1200" b="0" i="0" kern="1200" dirty="0">
                <a:solidFill>
                  <a:schemeClr val="tx1"/>
                </a:solidFill>
                <a:effectLst/>
                <a:latin typeface="+mn-lt"/>
                <a:ea typeface="+mn-ea"/>
                <a:cs typeface="+mn-cs"/>
              </a:rPr>
              <a:t>3. RFID systems might effectively monitor the devices in use in hospitals and provide feedback when it comes to their life cycles. That would easily trigger supply planning in advance, operations manufacturing in advance, and logistics transportation in advance. We understand that one of the benefits of the trunk storage system is to maintain a delicate level of service through short lead times, apart from the lead time itself. Because a buyer might change the seller if it gets unsatisfied. But we are talking here about building a super-planned system to reach that prior/the same lead times and level of service with RFID. Overall, this will enable us to forecast demand more accurately. This will enable them to reach the same lead times normally obtained via a trunk storage system. This will enable the lessening of safety and cycle stock, and as a result, less inventory holding cost.</a:t>
            </a:r>
            <a:endParaRPr lang="tr-TR" sz="1200" b="0" i="0" kern="1200" dirty="0">
              <a:solidFill>
                <a:schemeClr val="tx1"/>
              </a:solidFill>
              <a:effectLst/>
              <a:latin typeface="+mn-lt"/>
              <a:ea typeface="+mn-ea"/>
              <a:cs typeface="+mn-cs"/>
            </a:endParaRPr>
          </a:p>
          <a:p>
            <a:pPr rtl="0" fontAlgn="base" latinLnBrk="0"/>
            <a:endParaRPr lang="en-US" sz="1200" b="0" i="0" kern="1200" dirty="0">
              <a:solidFill>
                <a:schemeClr val="tx1"/>
              </a:solidFill>
              <a:effectLst/>
              <a:latin typeface="+mn-lt"/>
              <a:ea typeface="+mn-ea"/>
              <a:cs typeface="+mn-cs"/>
            </a:endParaRPr>
          </a:p>
          <a:p>
            <a:pPr rtl="0" fontAlgn="base" latinLnBrk="0"/>
            <a:r>
              <a:rPr lang="en-US" sz="1200" b="0" i="0" kern="1200" dirty="0">
                <a:solidFill>
                  <a:schemeClr val="tx1"/>
                </a:solidFill>
                <a:effectLst/>
                <a:latin typeface="+mn-lt"/>
                <a:ea typeface="+mn-ea"/>
                <a:cs typeface="+mn-cs"/>
              </a:rPr>
              <a:t>4. RFID means extra storage in hospitals. One might say extra warehousing at hospitals might turn out costly. But it wouldn’t. (Please keep in mind that while "X" has hospitals to store goods, there is no need to increase the number of  "X"-owned warehouses for a customer spectrum that is sprawled across the country). Because</a:t>
            </a:r>
          </a:p>
          <a:p>
            <a:pPr rtl="0" fontAlgn="base" latinLnBrk="0"/>
            <a:r>
              <a:rPr lang="en-US" sz="1200" b="0" i="0" kern="1200" dirty="0">
                <a:solidFill>
                  <a:schemeClr val="tx1"/>
                </a:solidFill>
                <a:effectLst/>
                <a:latin typeface="+mn-lt"/>
                <a:ea typeface="+mn-ea"/>
                <a:cs typeface="+mn-cs"/>
              </a:rPr>
              <a:t>— Firstly, as I will explain later how, we will truncate the volume of business that we do with the distributors.</a:t>
            </a:r>
          </a:p>
          <a:p>
            <a:pPr rtl="0" fontAlgn="base" latinLnBrk="0"/>
            <a:r>
              <a:rPr lang="en-US" sz="1200" b="0" i="0" kern="1200" dirty="0">
                <a:solidFill>
                  <a:schemeClr val="tx1"/>
                </a:solidFill>
                <a:effectLst/>
                <a:latin typeface="+mn-lt"/>
                <a:ea typeface="+mn-ea"/>
                <a:cs typeface="+mn-cs"/>
              </a:rPr>
              <a:t>— Secondly, we will extract the amount of finance that distributors receive as a means of their profit margin through this truncated volume of business.</a:t>
            </a:r>
          </a:p>
          <a:p>
            <a:pPr rtl="0" fontAlgn="base" latinLnBrk="0"/>
            <a:r>
              <a:rPr lang="en-US" sz="1200" b="0" i="0" kern="1200" dirty="0">
                <a:solidFill>
                  <a:schemeClr val="tx1"/>
                </a:solidFill>
                <a:effectLst/>
                <a:latin typeface="+mn-lt"/>
                <a:ea typeface="+mn-ea"/>
                <a:cs typeface="+mn-cs"/>
              </a:rPr>
              <a:t>— Thirdly, this design will decrease the salaries of sellers and maybe decrease the numbers of them, as their sole work will be sales; moreover, the cars will be taken from them or at least reduced to a small car.</a:t>
            </a:r>
          </a:p>
          <a:p>
            <a:pPr rtl="0" fontAlgn="base" latinLnBrk="0"/>
            <a:r>
              <a:rPr lang="en-US" sz="1200" b="0" i="0" kern="1200" dirty="0">
                <a:solidFill>
                  <a:schemeClr val="tx1"/>
                </a:solidFill>
                <a:effectLst/>
                <a:latin typeface="+mn-lt"/>
                <a:ea typeface="+mn-ea"/>
                <a:cs typeface="+mn-cs"/>
              </a:rPr>
              <a:t> — And fourthly and most importantly, lean process will be obtained by less inventory, less movement of goods by only producing when there is a need, as we will be greatly informed by accurate forecasts of demand through RFID—no overproduction.</a:t>
            </a:r>
            <a:br>
              <a:rPr lang="en-US" dirty="0">
                <a:effectLst/>
              </a:rPr>
            </a:br>
            <a:endParaRPr lang="en-US" dirty="0">
              <a:effectLst/>
            </a:endParaRPr>
          </a:p>
          <a:p>
            <a:pPr rtl="0" eaLnBrk="1" fontAlgn="auto" latinLnBrk="0" hangingPunct="1"/>
            <a:r>
              <a:rPr lang="en-US" sz="1200" kern="1200" dirty="0">
                <a:solidFill>
                  <a:schemeClr val="tx1"/>
                </a:solidFill>
                <a:effectLst/>
                <a:latin typeface="+mn-lt"/>
                <a:ea typeface="+mn-ea"/>
                <a:cs typeface="+mn-cs"/>
              </a:rPr>
              <a:t>Constraints and solutions: hospitals should agree on RFID and more storage options on their side. I guess that would be arranged. </a:t>
            </a:r>
            <a:endParaRPr lang="en-US" dirty="0">
              <a:effectLst/>
            </a:endParaRPr>
          </a:p>
          <a:p>
            <a:pPr rtl="0" eaLnBrk="1" fontAlgn="auto" latinLnBrk="0" hangingPunct="1"/>
            <a:endParaRPr lang="en-US" dirty="0">
              <a:effectLst/>
            </a:endParaRPr>
          </a:p>
          <a:p>
            <a:pPr rtl="0" eaLnBrk="1" latinLnBrk="0" hangingPunct="1"/>
            <a:r>
              <a:rPr lang="en-US" sz="1200" kern="1200" dirty="0">
                <a:solidFill>
                  <a:schemeClr val="tx1"/>
                </a:solidFill>
                <a:effectLst/>
                <a:latin typeface="+mn-lt"/>
                <a:ea typeface="+mn-ea"/>
                <a:cs typeface="+mn-cs"/>
              </a:rPr>
              <a:t>RFID systems and automation will also allow no human oversight for warehousing needs in hospitals. The transportation and warehouse issue is </a:t>
            </a:r>
            <a:r>
              <a:rPr lang="tr-TR" sz="1200" kern="1200" dirty="0">
                <a:solidFill>
                  <a:schemeClr val="tx1"/>
                </a:solidFill>
                <a:effectLst/>
                <a:latin typeface="+mn-lt"/>
                <a:ea typeface="+mn-ea"/>
                <a:cs typeface="+mn-cs"/>
              </a:rPr>
              <a:t>next.</a:t>
            </a:r>
            <a:endParaRPr lang="en-US" dirty="0">
              <a:effectLst/>
            </a:endParaRPr>
          </a:p>
          <a:p>
            <a:pPr rtl="0" fontAlgn="base" latinLnBrk="0"/>
            <a:endParaRPr lang="en-US" sz="1200" b="0" i="0" kern="1200" dirty="0">
              <a:solidFill>
                <a:schemeClr val="tx1"/>
              </a:solidFill>
              <a:effectLst/>
              <a:latin typeface="+mn-lt"/>
              <a:ea typeface="+mn-ea"/>
              <a:cs typeface="+mn-cs"/>
            </a:endParaRPr>
          </a:p>
          <a:p>
            <a:pPr rtl="0" fontAlgn="base" latinLnBrk="0"/>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6F3B4CED-91AC-41AF-B774-8887D0D5A005}" type="slidenum">
              <a:rPr lang="en-US" smtClean="0"/>
              <a:t>7</a:t>
            </a:fld>
            <a:endParaRPr lang="en-US" dirty="0"/>
          </a:p>
        </p:txBody>
      </p:sp>
    </p:spTree>
    <p:extLst>
      <p:ext uri="{BB962C8B-B14F-4D97-AF65-F5344CB8AC3E}">
        <p14:creationId xmlns:p14="http://schemas.microsoft.com/office/powerpoint/2010/main" val="4910151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dirty="0">
                <a:solidFill>
                  <a:schemeClr val="dk1"/>
                </a:solidFill>
                <a:latin typeface="Calibri"/>
                <a:ea typeface="Calibri"/>
                <a:cs typeface="Calibri"/>
                <a:sym typeface="Calibri"/>
              </a:rPr>
              <a:t>5. Transportation will all be handled by a third party, with an effective use of the "X" warehouse. There would still be a need to compensate for the 72 hours in sterilization through smart operations. But a possible temporary storage possibility in the sterilization facility might solve the problem in order not to enlarge transportation needs again by receiving sterilized goods back to the plant. Overall, an extra mile in transportation would certainly cost more than  temporary storage of finite goods in a sterilization firm. And the distributors were already charging "X" for warehousing until selling them to the end-users, hospitals, already. On balance, this will enable us to contract storage time as much as possible and give leeway to leaner processes in terms of no unnecessary motion / transportation, no overproduction (production based on accurate demand through RFID), and no unnecessary inventory keeping. Financing for the contract with a 3PL company will be elicited from the savings that are obtained through seller salary cuts and distributor storage selling cuts. This will enable them to reach the same lead times normally obtained via a trunk storage system. This will enable "X" to reduce holding costs.</a:t>
            </a: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6. Moreover, still on transportation, although truckload transportation would mean a less complex and cheap mode of transportation, low unit of measure methodology might also decrease the cost. But this might stipulate more complex transportation-related administrative issues, involving courier services. Anyway, a careful calculation would also prove that a mix of TL and LTL (logistic firm—3PL and country-wide courier firm) might also bring the best in terms of cost and shorter lead times.</a:t>
            </a: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7. More on transportation: "X" will manage the supply planning so perfectly that the logistics firm will only deliver items between points; no extra warehousing on their side is expected.</a:t>
            </a: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8. We will certainly transact with distributors since they are also our door to the end users. Not working with them would mean loss of marketing, maybe in full. But we will decrease the volume to convey the remaining to the hospitals, the end themselves. This allows the company to save on costs and walk towards disintermediation. Overall, intermediary affliction on income (warehousing and bulk buy-in on their side) will be eliminated to some degree. This will change the classification of goods from bulk selling to retail selling directly to the hospitals.  As retail prices are higher, more income will be elicited.</a:t>
            </a:r>
            <a:endParaRPr dirty="0"/>
          </a:p>
          <a:p>
            <a:pPr marL="0" lvl="0" indent="0" algn="l" rtl="0">
              <a:spcBef>
                <a:spcPts val="0"/>
              </a:spcBef>
              <a:spcAft>
                <a:spcPts val="0"/>
              </a:spcAft>
              <a:buNone/>
            </a:pPr>
            <a:endParaRPr sz="1200" dirty="0">
              <a:solidFill>
                <a:schemeClr val="dk1"/>
              </a:solidFill>
              <a:latin typeface="Calibri"/>
              <a:ea typeface="Calibri"/>
              <a:cs typeface="Calibri"/>
              <a:sym typeface="Calibri"/>
            </a:endParaRPr>
          </a:p>
        </p:txBody>
      </p:sp>
      <p:sp>
        <p:nvSpPr>
          <p:cNvPr id="253" name="Google Shape;25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BCB1-6528-5D39-4D9D-68F6F6343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52AFE-2E54-F979-9CC3-1A4A313DD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9D83E6-8939-C55C-E944-7A3D53EF8A3F}"/>
              </a:ext>
            </a:extLst>
          </p:cNvPr>
          <p:cNvSpPr>
            <a:spLocks noGrp="1"/>
          </p:cNvSpPr>
          <p:nvPr>
            <p:ph type="body" idx="1"/>
          </p:nvPr>
        </p:nvSpPr>
        <p:spPr/>
        <p:txBody>
          <a:bodyPr/>
          <a:lstStyle/>
          <a:p>
            <a:pPr rtl="0" eaLnBrk="1" latinLnBrk="0" hangingPunct="1"/>
            <a:r>
              <a:rPr lang="tr-TR" sz="1200" kern="1200" dirty="0">
                <a:solidFill>
                  <a:schemeClr val="tx1"/>
                </a:solidFill>
                <a:effectLst/>
                <a:latin typeface="+mn-lt"/>
                <a:ea typeface="+mn-ea"/>
                <a:cs typeface="+mn-cs"/>
              </a:rPr>
              <a:t>1. </a:t>
            </a:r>
            <a:r>
              <a:rPr lang="en-US" sz="1200" kern="1200" dirty="0">
                <a:solidFill>
                  <a:schemeClr val="tx1"/>
                </a:solidFill>
                <a:effectLst/>
                <a:latin typeface="+mn-lt"/>
                <a:ea typeface="+mn-ea"/>
                <a:cs typeface="+mn-cs"/>
              </a:rPr>
              <a:t>Up until now, cost savings are elicited primarily through </a:t>
            </a:r>
            <a:endParaRPr lang="en-US" dirty="0">
              <a:effectLst/>
            </a:endParaRPr>
          </a:p>
          <a:p>
            <a:pPr rtl="0" eaLnBrk="1" latinLnBrk="0" hangingPunct="1"/>
            <a:r>
              <a:rPr lang="en-US" sz="1200" kern="1200" dirty="0">
                <a:solidFill>
                  <a:schemeClr val="tx1"/>
                </a:solidFill>
                <a:effectLst/>
                <a:latin typeface="+mn-lt"/>
                <a:ea typeface="+mn-ea"/>
                <a:cs typeface="+mn-cs"/>
              </a:rPr>
              <a:t>— salary cut and </a:t>
            </a:r>
            <a:r>
              <a:rPr lang="tr-TR" sz="1200" kern="1200" dirty="0">
                <a:solidFill>
                  <a:schemeClr val="tx1"/>
                </a:solidFill>
                <a:effectLst/>
                <a:latin typeface="+mn-lt"/>
                <a:ea typeface="+mn-ea"/>
                <a:cs typeface="+mn-cs"/>
              </a:rPr>
              <a:t>sales agent cut</a:t>
            </a:r>
            <a:endParaRPr lang="en-US" dirty="0">
              <a:effectLst/>
            </a:endParaRPr>
          </a:p>
          <a:p>
            <a:pPr rtl="0" eaLnBrk="1" latinLnBrk="0" hangingPunct="1"/>
            <a:r>
              <a:rPr lang="en-US" sz="1200" kern="1200" dirty="0">
                <a:solidFill>
                  <a:schemeClr val="tx1"/>
                </a:solidFill>
                <a:effectLst/>
                <a:latin typeface="+mn-lt"/>
                <a:ea typeface="+mn-ea"/>
                <a:cs typeface="+mn-cs"/>
              </a:rPr>
              <a:t>— by the help of RFIDs and methodological shift, through less warehousing (lean principles, not 6 months but maybe this time 2 months),</a:t>
            </a:r>
            <a:endParaRPr lang="en-US" dirty="0">
              <a:effectLst/>
            </a:endParaRPr>
          </a:p>
          <a:p>
            <a:pPr rtl="0" eaLnBrk="1" latinLnBrk="0" hangingPunct="1"/>
            <a:r>
              <a:rPr lang="en-US" sz="1200" kern="1200" dirty="0">
                <a:solidFill>
                  <a:schemeClr val="tx1"/>
                </a:solidFill>
                <a:effectLst/>
                <a:latin typeface="+mn-lt"/>
                <a:ea typeface="+mn-ea"/>
                <a:cs typeface="+mn-cs"/>
              </a:rPr>
              <a:t>— facilitating the profit margin of distributors on the truncated volume of business. </a:t>
            </a:r>
            <a:endParaRPr lang="en-US" dirty="0">
              <a:effectLst/>
            </a:endParaRPr>
          </a:p>
          <a:p>
            <a:pPr rtl="0" eaLnBrk="1" latinLnBrk="0" hangingPunct="1"/>
            <a:r>
              <a:rPr lang="en-US" sz="1200" kern="1200" dirty="0">
                <a:solidFill>
                  <a:schemeClr val="tx1"/>
                </a:solidFill>
                <a:effectLst/>
                <a:latin typeface="+mn-lt"/>
                <a:ea typeface="+mn-ea"/>
                <a:cs typeface="+mn-cs"/>
              </a:rPr>
              <a:t>Of course we have one extra newly emerged cost clause: 3PL. I believe a thorough analysis would really lessen the cost, mostly caused by seller salaries and distributor intermediaries.</a:t>
            </a:r>
            <a:endParaRPr lang="tr-TR" sz="1200" kern="1200" dirty="0">
              <a:solidFill>
                <a:schemeClr val="tx1"/>
              </a:solidFill>
              <a:effectLst/>
              <a:latin typeface="+mn-lt"/>
              <a:ea typeface="+mn-ea"/>
              <a:cs typeface="+mn-cs"/>
            </a:endParaRPr>
          </a:p>
          <a:p>
            <a:pPr rtl="0" eaLnBrk="1" latinLnBrk="0" hangingPunct="1"/>
            <a:endParaRPr lang="en-US" dirty="0">
              <a:effectLst/>
            </a:endParaRPr>
          </a:p>
          <a:p>
            <a:pPr rtl="0" eaLnBrk="1" latinLnBrk="0" hangingPunct="1"/>
            <a:r>
              <a:rPr lang="tr-TR" sz="1200" kern="1200" dirty="0">
                <a:solidFill>
                  <a:schemeClr val="tx1"/>
                </a:solidFill>
                <a:effectLst/>
                <a:latin typeface="+mn-lt"/>
                <a:ea typeface="+mn-ea"/>
                <a:cs typeface="+mn-cs"/>
              </a:rPr>
              <a:t>2. </a:t>
            </a:r>
            <a:r>
              <a:rPr lang="en-US" sz="1200" kern="1200" dirty="0">
                <a:solidFill>
                  <a:schemeClr val="tx1"/>
                </a:solidFill>
                <a:effectLst/>
                <a:latin typeface="+mn-lt"/>
                <a:ea typeface="+mn-ea"/>
                <a:cs typeface="+mn-cs"/>
              </a:rPr>
              <a:t>One of the functions that sellers do and have not been replaced for was to train end-users. This job will be taken to the manufacturing department. Complete technical expertise should not be expected from the sellers anymore, whose only job will be selling and marketing. They will coordinate a sale with the selling department and serve the end users. A couple of such teams would be disseminated to some parts of the country to intervene. Most importantly, proactively, "X" will provide training even when a glimpse of the need for a device looms in the near future.</a:t>
            </a:r>
            <a:endParaRPr lang="tr-TR" sz="1200" kern="1200" dirty="0">
              <a:solidFill>
                <a:schemeClr val="tx1"/>
              </a:solidFill>
              <a:effectLst/>
              <a:latin typeface="+mn-lt"/>
              <a:ea typeface="+mn-ea"/>
              <a:cs typeface="+mn-cs"/>
            </a:endParaRPr>
          </a:p>
          <a:p>
            <a:pPr rtl="0" eaLnBrk="1" latinLnBrk="0" hangingPunct="1"/>
            <a:endParaRPr lang="en-US" dirty="0">
              <a:effectLst/>
            </a:endParaRPr>
          </a:p>
          <a:p>
            <a:pPr rtl="0" eaLnBrk="1" latinLnBrk="0" hangingPunct="1"/>
            <a:r>
              <a:rPr lang="tr-TR" sz="1200" kern="1200" dirty="0">
                <a:solidFill>
                  <a:schemeClr val="tx1"/>
                </a:solidFill>
                <a:effectLst/>
                <a:latin typeface="+mn-lt"/>
                <a:ea typeface="+mn-ea"/>
                <a:cs typeface="+mn-cs"/>
              </a:rPr>
              <a:t>3. </a:t>
            </a:r>
            <a:r>
              <a:rPr lang="en-US" sz="1200" kern="1200" dirty="0">
                <a:solidFill>
                  <a:schemeClr val="tx1"/>
                </a:solidFill>
                <a:effectLst/>
                <a:latin typeface="+mn-lt"/>
                <a:ea typeface="+mn-ea"/>
                <a:cs typeface="+mn-cs"/>
              </a:rPr>
              <a:t>One important thing, but secondary to the things above, is that the "X" move to Minnesota, where the plant, warehouse, and possibly the sterilization company are located, in the long run. </a:t>
            </a:r>
            <a:endParaRPr lang="en-US" dirty="0">
              <a:effectLst/>
            </a:endParaRPr>
          </a:p>
          <a:p>
            <a:endParaRPr lang="tr-TR"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F0F1A43A-3D45-D589-3CB7-3E6122CC5959}"/>
              </a:ext>
            </a:extLst>
          </p:cNvPr>
          <p:cNvSpPr>
            <a:spLocks noGrp="1"/>
          </p:cNvSpPr>
          <p:nvPr>
            <p:ph type="sldNum" sz="quarter" idx="5"/>
          </p:nvPr>
        </p:nvSpPr>
        <p:spPr/>
        <p:txBody>
          <a:bodyPr/>
          <a:lstStyle/>
          <a:p>
            <a:fld id="{6F3B4CED-91AC-41AF-B774-8887D0D5A005}" type="slidenum">
              <a:rPr lang="en-US" smtClean="0"/>
              <a:t>9</a:t>
            </a:fld>
            <a:endParaRPr lang="en-US" dirty="0"/>
          </a:p>
        </p:txBody>
      </p:sp>
    </p:spTree>
    <p:extLst>
      <p:ext uri="{BB962C8B-B14F-4D97-AF65-F5344CB8AC3E}">
        <p14:creationId xmlns:p14="http://schemas.microsoft.com/office/powerpoint/2010/main" val="2250250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dirty="0">
                <a:solidFill>
                  <a:schemeClr val="dk1"/>
                </a:solidFill>
                <a:latin typeface="Calibri"/>
                <a:ea typeface="Calibri"/>
                <a:cs typeface="Calibri"/>
                <a:sym typeface="Calibri"/>
              </a:rPr>
              <a:t>Cycle Stock Calculations</a:t>
            </a:r>
            <a:endParaRPr sz="1200" b="1"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Regarding shipping values of 2013 and 2014;</a:t>
            </a: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1. "X" production values were somewhat like depending on a moving average methodology: incorporating an average trendline but also responsive to the changes slightly. As demand values were considerably erratic, not accounting for any rule ostensibly, "X" might have used the exponential smoothing method of alpha values slightly demand-wise. But it is not a naive method employed. Anyway, it does not resemble any of my forecasts in terms of both values and patterns.</a:t>
            </a: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2. I calculated over 24 months monthly naive forecast, cumulative forecast, moving averages of N=2 / 3 / 4 / 5 (stopped at 5 because it started to resemble the cumulative method afterward), and exponential smoothing of alpha=0.1, 0.2, 0.3, 0.4, and 0.5 (0.6 and above meant superior mean square errors). I have calculated all the mean square error values pertaining to the above-mentioned values of forecast methods. The monthly naive method proved to be the worst. Cumulative proved to be a good estimate. But the actual demand values were erratic to some degree, and this method was unable to respond. Exponential smoothing was the best when alpha was 0.1. Even if responsive enough, this was too related to the demand of one prior, always guessing the one prior value well but missing the actual one, like the naive method.</a:t>
            </a: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3. Later on, I compared all the mean square error values of all methodologies employed, including "X" production values, ascribing them to their forecast values. What I have seen is that their forecast values were the best. This was bizarre, as it would mean nothing needs to be done in terms of cycle stock, so the only thing to look at was safety stock.</a:t>
            </a: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4. However, what surprised me is that there is a near-exact conformity between the values of corresponding months of 2013 and 2014. I calculated the variation average of the demand values of corresponding months in 2013 and 2014 to be 3.1%, which is pretty good. Therefore, the best method would be to use the naive method, but this time not monthly but yearly (year-wise, matching the demand of Jan. 2013 to Jan. 2014). I did so and found a mean square error value that was one-hundredth of the "X" production square error values. That was amazing.</a:t>
            </a: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endParaRPr sz="1200" b="0" i="0" dirty="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dirty="0">
                <a:solidFill>
                  <a:schemeClr val="dk1"/>
                </a:solidFill>
                <a:latin typeface="Calibri"/>
                <a:ea typeface="Calibri"/>
                <a:cs typeface="Calibri"/>
                <a:sym typeface="Calibri"/>
              </a:rPr>
              <a:t>5. As a result, a yearly naive method with a safety figure should have been employed. But what could that safety valve be? To find it, I employed a mean error method this time between the yearly naive method and corresponding 2014 demand values (namely between 2013 and 2014 monthly demand values). I found only one value negative, which means the bias is negative only in one value: August 2014. So, a safety value, which would be 3.1 percent of the highest demand of 2013, should prove to be more than enough: 3.1 × 48953. Approximately 1500. So, the formula will be like, “Take the value of the month of one year before and add 1500 to it to determine the forecast of the month coming.” If it happens to be a negative bias anyway, safety stock would catch it.</a:t>
            </a:r>
            <a:endParaRPr dirty="0"/>
          </a:p>
          <a:p>
            <a:pPr marL="0" lvl="0" indent="0" algn="l" rtl="0">
              <a:spcBef>
                <a:spcPts val="0"/>
              </a:spcBef>
              <a:spcAft>
                <a:spcPts val="0"/>
              </a:spcAft>
              <a:buNone/>
            </a:pPr>
            <a:endParaRPr sz="1200" dirty="0">
              <a:solidFill>
                <a:schemeClr val="dk1"/>
              </a:solidFill>
              <a:latin typeface="Calibri"/>
              <a:ea typeface="Calibri"/>
              <a:cs typeface="Calibri"/>
              <a:sym typeface="Calibri"/>
            </a:endParaRPr>
          </a:p>
        </p:txBody>
      </p:sp>
      <p:sp>
        <p:nvSpPr>
          <p:cNvPr id="290" name="Google Shape;29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chemeClr val="dk1"/>
                </a:solidFill>
                <a:latin typeface="Calibri"/>
                <a:ea typeface="Calibri"/>
                <a:cs typeface="Calibri"/>
                <a:sym typeface="Calibri"/>
              </a:rPr>
              <a:t>Safety Stock Calculations</a:t>
            </a:r>
            <a:endParaRPr sz="1200" b="1"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The assumptions—1: The total stock amount is considered as safety stock as a whole: 130,000 items on average. Because the monthly production amount in general seems to be determined only to meet demand. In that vein, we happen to see that inaccurate and positively biased forecast / production figures have caused nearly a 20,000-item increase in the total stock amount.</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The assumptions—2: There are normally 4 places that could have the possibility to form this stock amount: "X" warehouse, distributors (if revenue realization has not been in place yet), trunk loads, and hospitals. Distributors will not be accounted for in remarks herein, as revenue realizations will be assumed to be done as immediately as the sale is done. Trunk loads will not be accounted for in remarks herein, as, from an operational viewpoint, trunk loads should be removed since they are the actual cause of over-storage. Therefore, we will account for warehouse and hospital storage. Again, from an operational viewpoint, I assume it is the best idea to keep all the cycle stock in hospitals, which is approximately between 20,000 and 40,000, as calculated through the yearly naive method (explained in the previous slide). Hence, only the "X" warehouse will be the only place to keep safety stock in our calculations.</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In order to make a sound calculation on safety stock, we need to know lead times. But from an operational viewpoint, we don’t know the lead times yet, and we didn’t have a contract with 3PLs to end distributor dependency if ever we want to.</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However, "X" is assumed to have only one in-house warehouse, which is an advantage in terms of holding costs and planning issues.</a:t>
            </a:r>
            <a:endParaRPr sz="1200" dirty="0">
              <a:solidFill>
                <a:schemeClr val="dk1"/>
              </a:solidFill>
              <a:latin typeface="Calibri"/>
              <a:ea typeface="Calibri"/>
              <a:cs typeface="Calibri"/>
              <a:sym typeface="Calibri"/>
            </a:endParaRPr>
          </a:p>
          <a:p>
            <a:pPr marL="0" lvl="0" indent="0" algn="l" rtl="0">
              <a:spcBef>
                <a:spcPts val="0"/>
              </a:spcBef>
              <a:spcAft>
                <a:spcPts val="0"/>
              </a:spcAft>
              <a:buNone/>
            </a:pPr>
            <a:endParaRPr dirty="0"/>
          </a:p>
          <a:p>
            <a:pPr marL="0" lvl="0" indent="0" algn="l" rtl="0">
              <a:spcBef>
                <a:spcPts val="0"/>
              </a:spcBef>
              <a:spcAft>
                <a:spcPts val="0"/>
              </a:spcAft>
              <a:buNone/>
            </a:pPr>
            <a:r>
              <a:rPr lang="en-US" sz="1200" dirty="0">
                <a:solidFill>
                  <a:schemeClr val="dk1"/>
                </a:solidFill>
                <a:latin typeface="Calibri"/>
                <a:ea typeface="Calibri"/>
                <a:cs typeface="Calibri"/>
                <a:sym typeface="Calibri"/>
              </a:rPr>
              <a:t>Even if we assume one month of lead time and one week of standard deviation of lead time, the safety stock turns out to be around 25000 (when the Z value is 1.64). Nevertheless, it would be beneficial for "X" to equalize that number to the monthly average demand, which is around 30000. When compared to around 130000 stocks of "X" now, 30000 is an incredible decrease in number and holding cost.</a:t>
            </a:r>
            <a:endParaRPr dirty="0"/>
          </a:p>
        </p:txBody>
      </p:sp>
      <p:sp>
        <p:nvSpPr>
          <p:cNvPr id="310" name="Google Shape;31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0" name="Google Shape;330;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Key Highlights</a:t>
            </a:r>
            <a:endParaRPr/>
          </a:p>
        </p:txBody>
      </p:sp>
      <p:sp>
        <p:nvSpPr>
          <p:cNvPr id="331" name="Google Shape;331;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9" name="Google Shape;349;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1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5"/>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21" name="Google Shape;21;p15"/>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5"/>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4" name="Google Shape;24;p15"/>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18"/>
          <p:cNvSpPr txBox="1">
            <a:spLocks noGrp="1"/>
          </p:cNvSpPr>
          <p:nvPr>
            <p:ph type="title"/>
          </p:nvPr>
        </p:nvSpPr>
        <p:spPr>
          <a:xfrm>
            <a:off x="1449217" y="804889"/>
            <a:ext cx="9605635" cy="105930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8"/>
          <p:cNvSpPr txBox="1">
            <a:spLocks noGrp="1"/>
          </p:cNvSpPr>
          <p:nvPr>
            <p:ph type="body" idx="1"/>
          </p:nvPr>
        </p:nvSpPr>
        <p:spPr>
          <a:xfrm>
            <a:off x="1447331" y="2010878"/>
            <a:ext cx="4645152" cy="344859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2" name="Google Shape;42;p18"/>
          <p:cNvSpPr txBox="1">
            <a:spLocks noGrp="1"/>
          </p:cNvSpPr>
          <p:nvPr>
            <p:ph type="body" idx="2"/>
          </p:nvPr>
        </p:nvSpPr>
        <p:spPr>
          <a:xfrm>
            <a:off x="6413771" y="2017343"/>
            <a:ext cx="4645152" cy="344152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43" name="Google Shape;43;p18"/>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8"/>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8"/>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6" name="Google Shape;46;p18"/>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19"/>
          <p:cNvSpPr txBox="1">
            <a:spLocks noGrp="1"/>
          </p:cNvSpPr>
          <p:nvPr>
            <p:ph type="title"/>
          </p:nvPr>
        </p:nvSpPr>
        <p:spPr>
          <a:xfrm>
            <a:off x="1447191" y="804163"/>
            <a:ext cx="9607661" cy="105631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9"/>
          <p:cNvSpPr txBox="1">
            <a:spLocks noGrp="1"/>
          </p:cNvSpPr>
          <p:nvPr>
            <p:ph type="body" idx="1"/>
          </p:nvPr>
        </p:nvSpPr>
        <p:spPr>
          <a:xfrm>
            <a:off x="1447191" y="2019549"/>
            <a:ext cx="4645152" cy="801943"/>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50" name="Google Shape;50;p19"/>
          <p:cNvSpPr txBox="1">
            <a:spLocks noGrp="1"/>
          </p:cNvSpPr>
          <p:nvPr>
            <p:ph type="body" idx="2"/>
          </p:nvPr>
        </p:nvSpPr>
        <p:spPr>
          <a:xfrm>
            <a:off x="1447191" y="2824269"/>
            <a:ext cx="4645152" cy="2644457"/>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51" name="Google Shape;51;p19"/>
          <p:cNvSpPr txBox="1">
            <a:spLocks noGrp="1"/>
          </p:cNvSpPr>
          <p:nvPr>
            <p:ph type="body" idx="3"/>
          </p:nvPr>
        </p:nvSpPr>
        <p:spPr>
          <a:xfrm>
            <a:off x="6412362" y="2023003"/>
            <a:ext cx="4645152" cy="80223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2200"/>
              <a:buNone/>
              <a:defRPr sz="2200" b="0" cap="none">
                <a:solidFill>
                  <a:schemeClr val="accent1"/>
                </a:solidFill>
              </a:defRPr>
            </a:lvl1pPr>
            <a:lvl2pPr marL="914400" lvl="1" indent="-228600" algn="l">
              <a:lnSpc>
                <a:spcPct val="120000"/>
              </a:lnSpc>
              <a:spcBef>
                <a:spcPts val="500"/>
              </a:spcBef>
              <a:spcAft>
                <a:spcPts val="0"/>
              </a:spcAft>
              <a:buSzPts val="2000"/>
              <a:buNone/>
              <a:defRPr sz="2000" b="1"/>
            </a:lvl2pPr>
            <a:lvl3pPr marL="1371600" lvl="2" indent="-228600" algn="l">
              <a:lnSpc>
                <a:spcPct val="120000"/>
              </a:lnSpc>
              <a:spcBef>
                <a:spcPts val="500"/>
              </a:spcBef>
              <a:spcAft>
                <a:spcPts val="0"/>
              </a:spcAft>
              <a:buSzPts val="1800"/>
              <a:buNone/>
              <a:defRPr sz="1800" b="1"/>
            </a:lvl3pPr>
            <a:lvl4pPr marL="1828800" lvl="3" indent="-228600" algn="l">
              <a:lnSpc>
                <a:spcPct val="120000"/>
              </a:lnSpc>
              <a:spcBef>
                <a:spcPts val="500"/>
              </a:spcBef>
              <a:spcAft>
                <a:spcPts val="0"/>
              </a:spcAft>
              <a:buSzPts val="1600"/>
              <a:buNone/>
              <a:defRPr sz="1600" b="1"/>
            </a:lvl4pPr>
            <a:lvl5pPr marL="2286000" lvl="4" indent="-228600" algn="l">
              <a:lnSpc>
                <a:spcPct val="120000"/>
              </a:lnSpc>
              <a:spcBef>
                <a:spcPts val="500"/>
              </a:spcBef>
              <a:spcAft>
                <a:spcPts val="0"/>
              </a:spcAft>
              <a:buSzPts val="1600"/>
              <a:buNone/>
              <a:defRPr sz="1600" b="1"/>
            </a:lvl5pPr>
            <a:lvl6pPr marL="2743200" lvl="5" indent="-228600" algn="l">
              <a:lnSpc>
                <a:spcPct val="120000"/>
              </a:lnSpc>
              <a:spcBef>
                <a:spcPts val="500"/>
              </a:spcBef>
              <a:spcAft>
                <a:spcPts val="0"/>
              </a:spcAft>
              <a:buSzPts val="1600"/>
              <a:buNone/>
              <a:defRPr sz="1600" b="1"/>
            </a:lvl6pPr>
            <a:lvl7pPr marL="3200400" lvl="6" indent="-228600" algn="l">
              <a:lnSpc>
                <a:spcPct val="120000"/>
              </a:lnSpc>
              <a:spcBef>
                <a:spcPts val="500"/>
              </a:spcBef>
              <a:spcAft>
                <a:spcPts val="0"/>
              </a:spcAft>
              <a:buSzPts val="1600"/>
              <a:buNone/>
              <a:defRPr sz="1600" b="1"/>
            </a:lvl7pPr>
            <a:lvl8pPr marL="3657600" lvl="7" indent="-228600" algn="l">
              <a:lnSpc>
                <a:spcPct val="120000"/>
              </a:lnSpc>
              <a:spcBef>
                <a:spcPts val="500"/>
              </a:spcBef>
              <a:spcAft>
                <a:spcPts val="0"/>
              </a:spcAft>
              <a:buSzPts val="1600"/>
              <a:buNone/>
              <a:defRPr sz="1600" b="1"/>
            </a:lvl8pPr>
            <a:lvl9pPr marL="4114800" lvl="8" indent="-228600" algn="l">
              <a:lnSpc>
                <a:spcPct val="120000"/>
              </a:lnSpc>
              <a:spcBef>
                <a:spcPts val="500"/>
              </a:spcBef>
              <a:spcAft>
                <a:spcPts val="0"/>
              </a:spcAft>
              <a:buSzPts val="1600"/>
              <a:buNone/>
              <a:defRPr sz="1600" b="1"/>
            </a:lvl9pPr>
          </a:lstStyle>
          <a:p>
            <a:endParaRPr/>
          </a:p>
        </p:txBody>
      </p:sp>
      <p:sp>
        <p:nvSpPr>
          <p:cNvPr id="52" name="Google Shape;52;p19"/>
          <p:cNvSpPr txBox="1">
            <a:spLocks noGrp="1"/>
          </p:cNvSpPr>
          <p:nvPr>
            <p:ph type="body" idx="4"/>
          </p:nvPr>
        </p:nvSpPr>
        <p:spPr>
          <a:xfrm>
            <a:off x="6412362" y="2821491"/>
            <a:ext cx="4645152" cy="2637371"/>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53" name="Google Shape;53;p19"/>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9"/>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9"/>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56" name="Google Shape;56;p19"/>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2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20"/>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62" name="Google Shape;62;p20"/>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21"/>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1"/>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22"/>
          <p:cNvSpPr txBox="1">
            <a:spLocks noGrp="1"/>
          </p:cNvSpPr>
          <p:nvPr>
            <p:ph type="title"/>
          </p:nvPr>
        </p:nvSpPr>
        <p:spPr>
          <a:xfrm>
            <a:off x="1444671" y="798973"/>
            <a:ext cx="3273099" cy="22471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22"/>
          <p:cNvSpPr txBox="1">
            <a:spLocks noGrp="1"/>
          </p:cNvSpPr>
          <p:nvPr>
            <p:ph type="body" idx="1"/>
          </p:nvPr>
        </p:nvSpPr>
        <p:spPr>
          <a:xfrm>
            <a:off x="5043714" y="798974"/>
            <a:ext cx="6012470" cy="4658826"/>
          </a:xfrm>
          <a:prstGeom prst="rect">
            <a:avLst/>
          </a:prstGeom>
          <a:noFill/>
          <a:ln>
            <a:noFill/>
          </a:ln>
        </p:spPr>
        <p:txBody>
          <a:bodyPr spcFirstLastPara="1" wrap="square" lIns="91425" tIns="45700" rIns="91425" bIns="45700" anchor="ctr"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70" name="Google Shape;70;p22"/>
          <p:cNvSpPr txBox="1">
            <a:spLocks noGrp="1"/>
          </p:cNvSpPr>
          <p:nvPr>
            <p:ph type="body" idx="2"/>
          </p:nvPr>
        </p:nvSpPr>
        <p:spPr>
          <a:xfrm>
            <a:off x="1444671" y="3205491"/>
            <a:ext cx="3275013" cy="2248181"/>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600"/>
              <a:buNone/>
              <a:defRPr sz="16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71" name="Google Shape;71;p22"/>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74" name="Google Shape;74;p22"/>
          <p:cNvCxnSpPr/>
          <p:nvPr/>
        </p:nvCxnSpPr>
        <p:spPr>
          <a:xfrm>
            <a:off x="1448280" y="3205491"/>
            <a:ext cx="3269490"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5"/>
        <p:cNvGrpSpPr/>
        <p:nvPr/>
      </p:nvGrpSpPr>
      <p:grpSpPr>
        <a:xfrm>
          <a:off x="0" y="0"/>
          <a:ext cx="0" cy="0"/>
          <a:chOff x="0" y="0"/>
          <a:chExt cx="0" cy="0"/>
        </a:xfrm>
      </p:grpSpPr>
      <p:grpSp>
        <p:nvGrpSpPr>
          <p:cNvPr id="76" name="Google Shape;76;p23"/>
          <p:cNvGrpSpPr/>
          <p:nvPr/>
        </p:nvGrpSpPr>
        <p:grpSpPr>
          <a:xfrm>
            <a:off x="7477387" y="482170"/>
            <a:ext cx="4074533" cy="5149101"/>
            <a:chOff x="7477387" y="482170"/>
            <a:chExt cx="4074533" cy="5149101"/>
          </a:xfrm>
        </p:grpSpPr>
        <p:sp>
          <p:nvSpPr>
            <p:cNvPr id="77" name="Google Shape;77;p23"/>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dist="228600" dir="4740000" sx="98000" sy="98000" algn="tl" rotWithShape="0">
                <a:srgbClr val="000000">
                  <a:alpha val="3411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3"/>
            <p:cNvSpPr/>
            <p:nvPr/>
          </p:nvSpPr>
          <p:spPr>
            <a:xfrm>
              <a:off x="7790446" y="812506"/>
              <a:ext cx="3450289" cy="4466452"/>
            </a:xfrm>
            <a:prstGeom prst="rect">
              <a:avLst/>
            </a:prstGeom>
            <a:gradFill>
              <a:gsLst>
                <a:gs pos="0">
                  <a:srgbClr val="DADADA"/>
                </a:gs>
                <a:gs pos="100000">
                  <a:srgbClr val="FFFFFE"/>
                </a:gs>
              </a:gsLst>
              <a:lin ang="16200000" scaled="0"/>
            </a:gradFill>
            <a:ln w="50800" cap="flat" cmpd="sng">
              <a:solidFill>
                <a:srgbClr val="191919"/>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 name="Google Shape;79;p23"/>
          <p:cNvSpPr txBox="1">
            <a:spLocks noGrp="1"/>
          </p:cNvSpPr>
          <p:nvPr>
            <p:ph type="title"/>
          </p:nvPr>
        </p:nvSpPr>
        <p:spPr>
          <a:xfrm>
            <a:off x="1451206" y="1129513"/>
            <a:ext cx="5532328" cy="18305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3"/>
          <p:cNvSpPr>
            <a:spLocks noGrp="1"/>
          </p:cNvSpPr>
          <p:nvPr>
            <p:ph type="pic" idx="2"/>
          </p:nvPr>
        </p:nvSpPr>
        <p:spPr>
          <a:xfrm>
            <a:off x="8124389" y="1122542"/>
            <a:ext cx="2791171" cy="3866327"/>
          </a:xfrm>
          <a:prstGeom prst="rect">
            <a:avLst/>
          </a:prstGeom>
          <a:solidFill>
            <a:srgbClr val="D8D8D8"/>
          </a:solidFill>
          <a:ln>
            <a:noFill/>
          </a:ln>
        </p:spPr>
      </p:sp>
      <p:sp>
        <p:nvSpPr>
          <p:cNvPr id="81" name="Google Shape;81;p23"/>
          <p:cNvSpPr txBox="1">
            <a:spLocks noGrp="1"/>
          </p:cNvSpPr>
          <p:nvPr>
            <p:ph type="body" idx="1"/>
          </p:nvPr>
        </p:nvSpPr>
        <p:spPr>
          <a:xfrm>
            <a:off x="1450329" y="3145992"/>
            <a:ext cx="5524404" cy="2003742"/>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SzPts val="1800"/>
              <a:buNone/>
              <a:defRPr sz="1800"/>
            </a:lvl1pPr>
            <a:lvl2pPr marL="914400" lvl="1" indent="-228600" algn="l">
              <a:lnSpc>
                <a:spcPct val="120000"/>
              </a:lnSpc>
              <a:spcBef>
                <a:spcPts val="500"/>
              </a:spcBef>
              <a:spcAft>
                <a:spcPts val="0"/>
              </a:spcAft>
              <a:buSzPts val="1400"/>
              <a:buNone/>
              <a:defRPr sz="1400"/>
            </a:lvl2pPr>
            <a:lvl3pPr marL="1371600" lvl="2" indent="-228600" algn="l">
              <a:lnSpc>
                <a:spcPct val="120000"/>
              </a:lnSpc>
              <a:spcBef>
                <a:spcPts val="500"/>
              </a:spcBef>
              <a:spcAft>
                <a:spcPts val="0"/>
              </a:spcAft>
              <a:buSzPts val="1200"/>
              <a:buNone/>
              <a:defRPr sz="1200"/>
            </a:lvl3pPr>
            <a:lvl4pPr marL="1828800" lvl="3" indent="-228600" algn="l">
              <a:lnSpc>
                <a:spcPct val="120000"/>
              </a:lnSpc>
              <a:spcBef>
                <a:spcPts val="500"/>
              </a:spcBef>
              <a:spcAft>
                <a:spcPts val="0"/>
              </a:spcAft>
              <a:buSzPts val="1000"/>
              <a:buNone/>
              <a:defRPr sz="1000"/>
            </a:lvl4pPr>
            <a:lvl5pPr marL="2286000" lvl="4" indent="-228600" algn="l">
              <a:lnSpc>
                <a:spcPct val="120000"/>
              </a:lnSpc>
              <a:spcBef>
                <a:spcPts val="500"/>
              </a:spcBef>
              <a:spcAft>
                <a:spcPts val="0"/>
              </a:spcAft>
              <a:buSzPts val="1000"/>
              <a:buNone/>
              <a:defRPr sz="1000"/>
            </a:lvl5pPr>
            <a:lvl6pPr marL="2743200" lvl="5" indent="-228600" algn="l">
              <a:lnSpc>
                <a:spcPct val="120000"/>
              </a:lnSpc>
              <a:spcBef>
                <a:spcPts val="500"/>
              </a:spcBef>
              <a:spcAft>
                <a:spcPts val="0"/>
              </a:spcAft>
              <a:buSzPts val="1000"/>
              <a:buNone/>
              <a:defRPr sz="1000"/>
            </a:lvl6pPr>
            <a:lvl7pPr marL="3200400" lvl="6" indent="-228600" algn="l">
              <a:lnSpc>
                <a:spcPct val="120000"/>
              </a:lnSpc>
              <a:spcBef>
                <a:spcPts val="500"/>
              </a:spcBef>
              <a:spcAft>
                <a:spcPts val="0"/>
              </a:spcAft>
              <a:buSzPts val="1000"/>
              <a:buNone/>
              <a:defRPr sz="1000"/>
            </a:lvl7pPr>
            <a:lvl8pPr marL="3657600" lvl="7" indent="-228600" algn="l">
              <a:lnSpc>
                <a:spcPct val="120000"/>
              </a:lnSpc>
              <a:spcBef>
                <a:spcPts val="500"/>
              </a:spcBef>
              <a:spcAft>
                <a:spcPts val="0"/>
              </a:spcAft>
              <a:buSzPts val="1000"/>
              <a:buNone/>
              <a:defRPr sz="1000"/>
            </a:lvl8pPr>
            <a:lvl9pPr marL="4114800" lvl="8" indent="-228600" algn="l">
              <a:lnSpc>
                <a:spcPct val="120000"/>
              </a:lnSpc>
              <a:spcBef>
                <a:spcPts val="500"/>
              </a:spcBef>
              <a:spcAft>
                <a:spcPts val="0"/>
              </a:spcAft>
              <a:buSzPts val="1000"/>
              <a:buNone/>
              <a:defRPr sz="1000"/>
            </a:lvl9pPr>
          </a:lstStyle>
          <a:p>
            <a:endParaRPr/>
          </a:p>
        </p:txBody>
      </p:sp>
      <p:sp>
        <p:nvSpPr>
          <p:cNvPr id="82" name="Google Shape;82;p23"/>
          <p:cNvSpPr txBox="1">
            <a:spLocks noGrp="1"/>
          </p:cNvSpPr>
          <p:nvPr>
            <p:ph type="dt" idx="10"/>
          </p:nvPr>
        </p:nvSpPr>
        <p:spPr>
          <a:xfrm>
            <a:off x="1447382" y="5469856"/>
            <a:ext cx="5527351" cy="32012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3"/>
          <p:cNvSpPr txBox="1">
            <a:spLocks noGrp="1"/>
          </p:cNvSpPr>
          <p:nvPr>
            <p:ph type="ftr" idx="11"/>
          </p:nvPr>
        </p:nvSpPr>
        <p:spPr>
          <a:xfrm>
            <a:off x="1447382" y="318640"/>
            <a:ext cx="5541004" cy="32093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3"/>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85" name="Google Shape;85;p23"/>
          <p:cNvCxnSpPr/>
          <p:nvPr/>
        </p:nvCxnSpPr>
        <p:spPr>
          <a:xfrm>
            <a:off x="1447382" y="3143605"/>
            <a:ext cx="5527351"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2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4"/>
          <p:cNvSpPr txBox="1">
            <a:spLocks noGrp="1"/>
          </p:cNvSpPr>
          <p:nvPr>
            <p:ph type="body" idx="1"/>
          </p:nvPr>
        </p:nvSpPr>
        <p:spPr>
          <a:xfrm rot="5400000">
            <a:off x="4527910" y="-1060599"/>
            <a:ext cx="3450613" cy="9603275"/>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89" name="Google Shape;89;p24"/>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24"/>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4"/>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92" name="Google Shape;92;p24"/>
          <p:cNvCxnSpPr/>
          <p:nvPr/>
        </p:nvCxnSpPr>
        <p:spPr>
          <a:xfrm>
            <a:off x="1453896" y="1847088"/>
            <a:ext cx="9607522" cy="0"/>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25"/>
          <p:cNvSpPr txBox="1">
            <a:spLocks noGrp="1"/>
          </p:cNvSpPr>
          <p:nvPr>
            <p:ph type="title"/>
          </p:nvPr>
        </p:nvSpPr>
        <p:spPr>
          <a:xfrm rot="5400000">
            <a:off x="7917038" y="2321047"/>
            <a:ext cx="4659889" cy="1615742"/>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 name="Google Shape;95;p25"/>
          <p:cNvSpPr txBox="1">
            <a:spLocks noGrp="1"/>
          </p:cNvSpPr>
          <p:nvPr>
            <p:ph type="body" idx="1"/>
          </p:nvPr>
        </p:nvSpPr>
        <p:spPr>
          <a:xfrm rot="5400000">
            <a:off x="3029143" y="-785498"/>
            <a:ext cx="4659889" cy="7828830"/>
          </a:xfrm>
          <a:prstGeom prst="rect">
            <a:avLst/>
          </a:prstGeom>
          <a:noFill/>
          <a:ln>
            <a:noFill/>
          </a:ln>
        </p:spPr>
        <p:txBody>
          <a:bodyPr spcFirstLastPara="1" wrap="square" lIns="91425" tIns="45700" rIns="91425" bIns="45700" anchor="t" anchorCtr="0">
            <a:normAutofit/>
          </a:bodyPr>
          <a:lstStyle>
            <a:lvl1pPr marL="457200" lvl="0" indent="-342900" algn="l">
              <a:lnSpc>
                <a:spcPct val="120000"/>
              </a:lnSpc>
              <a:spcBef>
                <a:spcPts val="1000"/>
              </a:spcBef>
              <a:spcAft>
                <a:spcPts val="0"/>
              </a:spcAft>
              <a:buSzPts val="1800"/>
              <a:buChar char="•"/>
              <a:defRPr/>
            </a:lvl1pPr>
            <a:lvl2pPr marL="914400" lvl="1" indent="-342900" algn="l">
              <a:lnSpc>
                <a:spcPct val="120000"/>
              </a:lnSpc>
              <a:spcBef>
                <a:spcPts val="500"/>
              </a:spcBef>
              <a:spcAft>
                <a:spcPts val="0"/>
              </a:spcAft>
              <a:buSzPts val="1800"/>
              <a:buChar char="•"/>
              <a:defRPr/>
            </a:lvl2pPr>
            <a:lvl3pPr marL="1371600" lvl="2" indent="-342900" algn="l">
              <a:lnSpc>
                <a:spcPct val="120000"/>
              </a:lnSpc>
              <a:spcBef>
                <a:spcPts val="500"/>
              </a:spcBef>
              <a:spcAft>
                <a:spcPts val="0"/>
              </a:spcAft>
              <a:buSzPts val="1800"/>
              <a:buChar char="•"/>
              <a:defRPr/>
            </a:lvl3pPr>
            <a:lvl4pPr marL="1828800" lvl="3" indent="-342900" algn="l">
              <a:lnSpc>
                <a:spcPct val="120000"/>
              </a:lnSpc>
              <a:spcBef>
                <a:spcPts val="500"/>
              </a:spcBef>
              <a:spcAft>
                <a:spcPts val="0"/>
              </a:spcAft>
              <a:buSzPts val="1800"/>
              <a:buChar char="•"/>
              <a:defRPr/>
            </a:lvl4pPr>
            <a:lvl5pPr marL="2286000" lvl="4" indent="-342900" algn="l">
              <a:lnSpc>
                <a:spcPct val="120000"/>
              </a:lnSpc>
              <a:spcBef>
                <a:spcPts val="500"/>
              </a:spcBef>
              <a:spcAft>
                <a:spcPts val="0"/>
              </a:spcAft>
              <a:buSzPts val="1800"/>
              <a:buChar char="•"/>
              <a:defRPr/>
            </a:lvl5pPr>
            <a:lvl6pPr marL="2743200" lvl="5" indent="-342900" algn="l">
              <a:lnSpc>
                <a:spcPct val="120000"/>
              </a:lnSpc>
              <a:spcBef>
                <a:spcPts val="500"/>
              </a:spcBef>
              <a:spcAft>
                <a:spcPts val="0"/>
              </a:spcAft>
              <a:buSzPts val="1800"/>
              <a:buChar char="•"/>
              <a:defRPr/>
            </a:lvl6pPr>
            <a:lvl7pPr marL="3200400" lvl="6" indent="-342900" algn="l">
              <a:lnSpc>
                <a:spcPct val="120000"/>
              </a:lnSpc>
              <a:spcBef>
                <a:spcPts val="500"/>
              </a:spcBef>
              <a:spcAft>
                <a:spcPts val="0"/>
              </a:spcAft>
              <a:buSzPts val="1800"/>
              <a:buChar char="•"/>
              <a:defRPr/>
            </a:lvl7pPr>
            <a:lvl8pPr marL="3657600" lvl="7" indent="-342900" algn="l">
              <a:lnSpc>
                <a:spcPct val="120000"/>
              </a:lnSpc>
              <a:spcBef>
                <a:spcPts val="500"/>
              </a:spcBef>
              <a:spcAft>
                <a:spcPts val="0"/>
              </a:spcAft>
              <a:buSzPts val="1800"/>
              <a:buChar char="•"/>
              <a:defRPr/>
            </a:lvl8pPr>
            <a:lvl9pPr marL="4114800" lvl="8" indent="-342900" algn="l">
              <a:lnSpc>
                <a:spcPct val="120000"/>
              </a:lnSpc>
              <a:spcBef>
                <a:spcPts val="500"/>
              </a:spcBef>
              <a:spcAft>
                <a:spcPts val="0"/>
              </a:spcAft>
              <a:buSzPts val="1800"/>
              <a:buChar char="•"/>
              <a:defRPr/>
            </a:lvl9pPr>
          </a:lstStyle>
          <a:p>
            <a:endParaRPr/>
          </a:p>
        </p:txBody>
      </p:sp>
      <p:sp>
        <p:nvSpPr>
          <p:cNvPr id="96" name="Google Shape;96;p25"/>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99" name="Google Shape;99;p25"/>
          <p:cNvCxnSpPr/>
          <p:nvPr/>
        </p:nvCxnSpPr>
        <p:spPr>
          <a:xfrm>
            <a:off x="9439111" y="798973"/>
            <a:ext cx="0" cy="4659889"/>
          </a:xfrm>
          <a:prstGeom prst="straightConnector1">
            <a:avLst/>
          </a:prstGeom>
          <a:noFill/>
          <a:ln w="31750"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EBE9E6"/>
            </a:gs>
            <a:gs pos="100000">
              <a:srgbClr val="C9C5C0"/>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4"/>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11;p14"/>
          <p:cNvPicPr preferRelativeResize="0"/>
          <p:nvPr/>
        </p:nvPicPr>
        <p:blipFill rotWithShape="1">
          <a:blip r:embed="rId11">
            <a:alphaModFix/>
          </a:blip>
          <a:srcRect t="1538" b="-1538"/>
          <a:stretch/>
        </p:blipFill>
        <p:spPr>
          <a:xfrm>
            <a:off x="0" y="6126480"/>
            <a:ext cx="12192000" cy="742950"/>
          </a:xfrm>
          <a:prstGeom prst="rect">
            <a:avLst/>
          </a:prstGeom>
          <a:noFill/>
          <a:ln>
            <a:noFill/>
          </a:ln>
        </p:spPr>
      </p:pic>
      <p:sp>
        <p:nvSpPr>
          <p:cNvPr id="12" name="Google Shape;12;p1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0"/>
              </a:spcBef>
              <a:spcAft>
                <a:spcPts val="0"/>
              </a:spcAft>
              <a:buClr>
                <a:schemeClr val="dk1"/>
              </a:buClr>
              <a:buSzPts val="3200"/>
              <a:buFont typeface="Gill Sans"/>
              <a:buNone/>
              <a:defRPr sz="3200" b="0" i="0" u="none" strike="noStrike" cap="non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4"/>
          <p:cNvSpPr txBox="1">
            <a:spLocks noGrp="1"/>
          </p:cNvSpPr>
          <p:nvPr>
            <p:ph type="body" idx="1"/>
          </p:nvPr>
        </p:nvSpPr>
        <p:spPr>
          <a:xfrm>
            <a:off x="1451579" y="2015732"/>
            <a:ext cx="9603275" cy="3450613"/>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20000"/>
              </a:lnSpc>
              <a:spcBef>
                <a:spcPts val="1000"/>
              </a:spcBef>
              <a:spcAft>
                <a:spcPts val="0"/>
              </a:spcAft>
              <a:buClr>
                <a:schemeClr val="accent1"/>
              </a:buClr>
              <a:buSzPts val="2000"/>
              <a:buFont typeface="Arial"/>
              <a:buChar char="•"/>
              <a:defRPr sz="2000" b="0" i="0" u="none" strike="noStrike" cap="none">
                <a:solidFill>
                  <a:schemeClr val="dk1"/>
                </a:solidFill>
                <a:latin typeface="Gill Sans"/>
                <a:ea typeface="Gill Sans"/>
                <a:cs typeface="Gill Sans"/>
                <a:sym typeface="Gill Sans"/>
              </a:defRPr>
            </a:lvl1pPr>
            <a:lvl2pPr marL="914400" marR="0" lvl="1" indent="-342900" algn="l" rtl="0">
              <a:lnSpc>
                <a:spcPct val="120000"/>
              </a:lnSpc>
              <a:spcBef>
                <a:spcPts val="500"/>
              </a:spcBef>
              <a:spcAft>
                <a:spcPts val="0"/>
              </a:spcAft>
              <a:buClr>
                <a:schemeClr val="accent1"/>
              </a:buClr>
              <a:buSzPts val="1800"/>
              <a:buFont typeface="Arial"/>
              <a:buChar char="•"/>
              <a:defRPr sz="1800" b="0" i="0" u="none" strike="noStrike" cap="none">
                <a:solidFill>
                  <a:schemeClr val="dk1"/>
                </a:solidFill>
                <a:latin typeface="Gill Sans"/>
                <a:ea typeface="Gill Sans"/>
                <a:cs typeface="Gill Sans"/>
                <a:sym typeface="Gill Sans"/>
              </a:defRPr>
            </a:lvl2pPr>
            <a:lvl3pPr marL="1371600" marR="0" lvl="2" indent="-330200" algn="l" rtl="0">
              <a:lnSpc>
                <a:spcPct val="120000"/>
              </a:lnSpc>
              <a:spcBef>
                <a:spcPts val="500"/>
              </a:spcBef>
              <a:spcAft>
                <a:spcPts val="0"/>
              </a:spcAft>
              <a:buClr>
                <a:schemeClr val="accent1"/>
              </a:buClr>
              <a:buSzPts val="1600"/>
              <a:buFont typeface="Arial"/>
              <a:buChar char="•"/>
              <a:defRPr sz="1600" b="0" i="0" u="none" strike="noStrike" cap="none">
                <a:solidFill>
                  <a:schemeClr val="dk1"/>
                </a:solidFill>
                <a:latin typeface="Gill Sans"/>
                <a:ea typeface="Gill Sans"/>
                <a:cs typeface="Gill Sans"/>
                <a:sym typeface="Gill Sans"/>
              </a:defRPr>
            </a:lvl3pPr>
            <a:lvl4pPr marL="1828800" marR="0" lvl="3" indent="-317500" algn="l" rtl="0">
              <a:lnSpc>
                <a:spcPct val="120000"/>
              </a:lnSpc>
              <a:spcBef>
                <a:spcPts val="500"/>
              </a:spcBef>
              <a:spcAft>
                <a:spcPts val="0"/>
              </a:spcAft>
              <a:buClr>
                <a:schemeClr val="accent1"/>
              </a:buClr>
              <a:buSzPts val="1400"/>
              <a:buFont typeface="Arial"/>
              <a:buChar char="•"/>
              <a:defRPr sz="1400" b="0" i="0" u="none" strike="noStrike" cap="none">
                <a:solidFill>
                  <a:schemeClr val="dk1"/>
                </a:solidFill>
                <a:latin typeface="Gill Sans"/>
                <a:ea typeface="Gill Sans"/>
                <a:cs typeface="Gill Sans"/>
                <a:sym typeface="Gill Sans"/>
              </a:defRPr>
            </a:lvl4pPr>
            <a:lvl5pPr marL="2286000" marR="0" lvl="4"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5pPr>
            <a:lvl6pPr marL="2743200" marR="0" lvl="5"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6pPr>
            <a:lvl7pPr marL="3200400" marR="0" lvl="6"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7pPr>
            <a:lvl8pPr marL="3657600" marR="0" lvl="7"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8pPr>
            <a:lvl9pPr marL="4114800" marR="0" lvl="8" indent="-304800" algn="l" rtl="0">
              <a:lnSpc>
                <a:spcPct val="120000"/>
              </a:lnSpc>
              <a:spcBef>
                <a:spcPts val="500"/>
              </a:spcBef>
              <a:spcAft>
                <a:spcPts val="0"/>
              </a:spcAft>
              <a:buClr>
                <a:schemeClr val="accent1"/>
              </a:buClr>
              <a:buSzPts val="1200"/>
              <a:buFont typeface="Arial"/>
              <a:buChar char="•"/>
              <a:defRPr sz="1200" b="0" i="0" u="none" strike="noStrike" cap="none">
                <a:solidFill>
                  <a:schemeClr val="dk1"/>
                </a:solidFill>
                <a:latin typeface="Gill Sans"/>
                <a:ea typeface="Gill Sans"/>
                <a:cs typeface="Gill Sans"/>
                <a:sym typeface="Gill Sans"/>
              </a:defRPr>
            </a:lvl9pPr>
          </a:lstStyle>
          <a:p>
            <a:endParaRPr/>
          </a:p>
        </p:txBody>
      </p:sp>
      <p:sp>
        <p:nvSpPr>
          <p:cNvPr id="14" name="Google Shape;14;p14"/>
          <p:cNvSpPr txBox="1">
            <a:spLocks noGrp="1"/>
          </p:cNvSpPr>
          <p:nvPr>
            <p:ph type="dt" idx="10"/>
          </p:nvPr>
        </p:nvSpPr>
        <p:spPr>
          <a:xfrm>
            <a:off x="7554138" y="330370"/>
            <a:ext cx="3500715" cy="309201"/>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rgbClr val="888888"/>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5" name="Google Shape;15;p14"/>
          <p:cNvSpPr txBox="1">
            <a:spLocks noGrp="1"/>
          </p:cNvSpPr>
          <p:nvPr>
            <p:ph type="ftr" idx="11"/>
          </p:nvPr>
        </p:nvSpPr>
        <p:spPr>
          <a:xfrm>
            <a:off x="1451579" y="329307"/>
            <a:ext cx="5938836" cy="30920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rgbClr val="888888"/>
                </a:solidFill>
                <a:latin typeface="Gill Sans"/>
                <a:ea typeface="Gill Sans"/>
                <a:cs typeface="Gill Sans"/>
                <a:sym typeface="Gill Sans"/>
              </a:defRPr>
            </a:lvl1pPr>
            <a:lvl2pPr marR="0" lvl="1"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rtl="0">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16" name="Google Shape;16;p14"/>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2800" b="0" i="0" u="none" strike="noStrike" cap="none">
                <a:solidFill>
                  <a:schemeClr val="accent1"/>
                </a:solidFill>
                <a:latin typeface="Gill Sans"/>
                <a:ea typeface="Gill Sans"/>
                <a:cs typeface="Gill Sans"/>
                <a:sym typeface="Gill Sans"/>
              </a:defRPr>
            </a:lvl1pPr>
            <a:lvl2pPr marL="0" marR="0" lvl="1" indent="0" algn="r" rtl="0">
              <a:spcBef>
                <a:spcPts val="0"/>
              </a:spcBef>
              <a:buNone/>
              <a:defRPr sz="2800" b="0" i="0" u="none" strike="noStrike" cap="none">
                <a:solidFill>
                  <a:schemeClr val="accent1"/>
                </a:solidFill>
                <a:latin typeface="Gill Sans"/>
                <a:ea typeface="Gill Sans"/>
                <a:cs typeface="Gill Sans"/>
                <a:sym typeface="Gill Sans"/>
              </a:defRPr>
            </a:lvl2pPr>
            <a:lvl3pPr marL="0" marR="0" lvl="2" indent="0" algn="r" rtl="0">
              <a:spcBef>
                <a:spcPts val="0"/>
              </a:spcBef>
              <a:buNone/>
              <a:defRPr sz="2800" b="0" i="0" u="none" strike="noStrike" cap="none">
                <a:solidFill>
                  <a:schemeClr val="accent1"/>
                </a:solidFill>
                <a:latin typeface="Gill Sans"/>
                <a:ea typeface="Gill Sans"/>
                <a:cs typeface="Gill Sans"/>
                <a:sym typeface="Gill Sans"/>
              </a:defRPr>
            </a:lvl3pPr>
            <a:lvl4pPr marL="0" marR="0" lvl="3" indent="0" algn="r" rtl="0">
              <a:spcBef>
                <a:spcPts val="0"/>
              </a:spcBef>
              <a:buNone/>
              <a:defRPr sz="2800" b="0" i="0" u="none" strike="noStrike" cap="none">
                <a:solidFill>
                  <a:schemeClr val="accent1"/>
                </a:solidFill>
                <a:latin typeface="Gill Sans"/>
                <a:ea typeface="Gill Sans"/>
                <a:cs typeface="Gill Sans"/>
                <a:sym typeface="Gill Sans"/>
              </a:defRPr>
            </a:lvl4pPr>
            <a:lvl5pPr marL="0" marR="0" lvl="4" indent="0" algn="r" rtl="0">
              <a:spcBef>
                <a:spcPts val="0"/>
              </a:spcBef>
              <a:buNone/>
              <a:defRPr sz="2800" b="0" i="0" u="none" strike="noStrike" cap="none">
                <a:solidFill>
                  <a:schemeClr val="accent1"/>
                </a:solidFill>
                <a:latin typeface="Gill Sans"/>
                <a:ea typeface="Gill Sans"/>
                <a:cs typeface="Gill Sans"/>
                <a:sym typeface="Gill Sans"/>
              </a:defRPr>
            </a:lvl5pPr>
            <a:lvl6pPr marL="0" marR="0" lvl="5" indent="0" algn="r" rtl="0">
              <a:spcBef>
                <a:spcPts val="0"/>
              </a:spcBef>
              <a:buNone/>
              <a:defRPr sz="2800" b="0" i="0" u="none" strike="noStrike" cap="none">
                <a:solidFill>
                  <a:schemeClr val="accent1"/>
                </a:solidFill>
                <a:latin typeface="Gill Sans"/>
                <a:ea typeface="Gill Sans"/>
                <a:cs typeface="Gill Sans"/>
                <a:sym typeface="Gill Sans"/>
              </a:defRPr>
            </a:lvl6pPr>
            <a:lvl7pPr marL="0" marR="0" lvl="6" indent="0" algn="r" rtl="0">
              <a:spcBef>
                <a:spcPts val="0"/>
              </a:spcBef>
              <a:buNone/>
              <a:defRPr sz="2800" b="0" i="0" u="none" strike="noStrike" cap="none">
                <a:solidFill>
                  <a:schemeClr val="accent1"/>
                </a:solidFill>
                <a:latin typeface="Gill Sans"/>
                <a:ea typeface="Gill Sans"/>
                <a:cs typeface="Gill Sans"/>
                <a:sym typeface="Gill Sans"/>
              </a:defRPr>
            </a:lvl7pPr>
            <a:lvl8pPr marL="0" marR="0" lvl="7" indent="0" algn="r" rtl="0">
              <a:spcBef>
                <a:spcPts val="0"/>
              </a:spcBef>
              <a:buNone/>
              <a:defRPr sz="2800" b="0" i="0" u="none" strike="noStrike" cap="none">
                <a:solidFill>
                  <a:schemeClr val="accent1"/>
                </a:solidFill>
                <a:latin typeface="Gill Sans"/>
                <a:ea typeface="Gill Sans"/>
                <a:cs typeface="Gill Sans"/>
                <a:sym typeface="Gill Sans"/>
              </a:defRPr>
            </a:lvl8pPr>
            <a:lvl9pPr marL="0" marR="0" lvl="8" indent="0" algn="r" rtl="0">
              <a:spcBef>
                <a:spcPts val="0"/>
              </a:spcBef>
              <a:buNone/>
              <a:defRPr sz="2800" b="0" i="0" u="none" strike="noStrike" cap="none">
                <a:solidFill>
                  <a:schemeClr val="accent1"/>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4"/>
          <p:cNvCxnSpPr/>
          <p:nvPr/>
        </p:nvCxnSpPr>
        <p:spPr>
          <a:xfrm>
            <a:off x="0" y="6128413"/>
            <a:ext cx="12192000" cy="0"/>
          </a:xfrm>
          <a:prstGeom prst="straightConnector1">
            <a:avLst/>
          </a:prstGeom>
          <a:noFill/>
          <a:ln w="12700" cap="flat" cmpd="sng">
            <a:solidFill>
              <a:srgbClr val="000001">
                <a:alpha val="20000"/>
              </a:srgbClr>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5.png"/><Relationship Id="rId7" Type="http://schemas.openxmlformats.org/officeDocument/2006/relationships/diagramQuickStyle" Target="../diagrams/quickStyle4.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Layout" Target="../diagrams/layout4.xml"/><Relationship Id="rId5" Type="http://schemas.openxmlformats.org/officeDocument/2006/relationships/diagramData" Target="../diagrams/data4.xml"/><Relationship Id="rId4" Type="http://schemas.microsoft.com/office/2007/relationships/hdphoto" Target="../media/hdphoto1.wdp"/><Relationship Id="rId9" Type="http://schemas.microsoft.com/office/2007/relationships/diagramDrawing" Target="../diagrams/drawing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hyperlink" Target="https://openclipart.org/detail/189546"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pic>
        <p:nvPicPr>
          <p:cNvPr id="105" name="Google Shape;105;p1" descr="First move of a chess game"/>
          <p:cNvPicPr preferRelativeResize="0"/>
          <p:nvPr/>
        </p:nvPicPr>
        <p:blipFill rotWithShape="1">
          <a:blip r:embed="rId3">
            <a:alphaModFix/>
          </a:blip>
          <a:srcRect/>
          <a:stretch/>
        </p:blipFill>
        <p:spPr>
          <a:xfrm>
            <a:off x="1" y="0"/>
            <a:ext cx="12192000" cy="6120000"/>
          </a:xfrm>
          <a:prstGeom prst="rect">
            <a:avLst/>
          </a:prstGeom>
          <a:noFill/>
          <a:ln>
            <a:noFill/>
          </a:ln>
        </p:spPr>
      </p:pic>
      <p:sp>
        <p:nvSpPr>
          <p:cNvPr id="106" name="Google Shape;106;p1"/>
          <p:cNvSpPr txBox="1">
            <a:spLocks noGrp="1"/>
          </p:cNvSpPr>
          <p:nvPr>
            <p:ph type="title"/>
          </p:nvPr>
        </p:nvSpPr>
        <p:spPr>
          <a:xfrm>
            <a:off x="1666292" y="260648"/>
            <a:ext cx="8859416" cy="183515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Times New Roman"/>
              <a:buNone/>
            </a:pPr>
            <a:r>
              <a:rPr lang="en-US">
                <a:latin typeface="Times New Roman"/>
                <a:ea typeface="Times New Roman"/>
                <a:cs typeface="Times New Roman"/>
                <a:sym typeface="Times New Roman"/>
              </a:rPr>
              <a:t>STRATEGIC COST OPTIMIZATION IN RESPONSE TO REGULATORY CHANGES</a:t>
            </a:r>
            <a:endParaRPr>
              <a:solidFill>
                <a:srgbClr val="002060"/>
              </a:solidFill>
              <a:latin typeface="Times New Roman"/>
              <a:ea typeface="Times New Roman"/>
              <a:cs typeface="Times New Roman"/>
              <a:sym typeface="Times New Roman"/>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33" name="Google Shape;133;p2"/>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a:t>
            </a:fld>
            <a:endParaRPr/>
          </a:p>
        </p:txBody>
      </p:sp>
      <p:graphicFrame>
        <p:nvGraphicFramePr>
          <p:cNvPr id="7" name="Diagram 6">
            <a:extLst>
              <a:ext uri="{FF2B5EF4-FFF2-40B4-BE49-F238E27FC236}">
                <a16:creationId xmlns:a16="http://schemas.microsoft.com/office/drawing/2014/main" id="{BFD7112A-4D16-B973-0C8C-804E7CC7EB5E}"/>
              </a:ext>
            </a:extLst>
          </p:cNvPr>
          <p:cNvGraphicFramePr/>
          <p:nvPr>
            <p:extLst>
              <p:ext uri="{D42A27DB-BD31-4B8C-83A1-F6EECF244321}">
                <p14:modId xmlns:p14="http://schemas.microsoft.com/office/powerpoint/2010/main" val="3777218325"/>
              </p:ext>
            </p:extLst>
          </p:nvPr>
        </p:nvGraphicFramePr>
        <p:xfrm>
          <a:off x="1442720" y="1773524"/>
          <a:ext cx="9641840" cy="38246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2" name="Google Shape;132;p2"/>
          <p:cNvSpPr txBox="1">
            <a:spLocks noGrp="1"/>
          </p:cNvSpPr>
          <p:nvPr>
            <p:ph type="title"/>
          </p:nvPr>
        </p:nvSpPr>
        <p:spPr>
          <a:xfrm>
            <a:off x="618756" y="3190322"/>
            <a:ext cx="11233248" cy="1049235"/>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200"/>
              <a:buFont typeface="Gill Sans"/>
              <a:buNone/>
            </a:pPr>
            <a:r>
              <a:rPr lang="en-US" dirty="0"/>
              <a:t>COST OPTIMIZATION IN RESPONSE TO REGULATORY CHANGES</a:t>
            </a:r>
            <a:endParaRPr dirty="0">
              <a:solidFill>
                <a:srgbClr val="FF0000"/>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66667E-6 3.33333E-6 L 0.00273 -0.35162 " pathEditMode="relative" rAng="0" ptsTypes="AA">
                                      <p:cBhvr>
                                        <p:cTn id="6" dur="1000" fill="hold"/>
                                        <p:tgtEl>
                                          <p:spTgt spid="132"/>
                                        </p:tgtEl>
                                        <p:attrNameLst>
                                          <p:attrName>ppt_x</p:attrName>
                                          <p:attrName>ppt_y</p:attrName>
                                        </p:attrNameLst>
                                      </p:cBhvr>
                                      <p:rCtr x="130" y="-17593"/>
                                    </p:animMotion>
                                  </p:childTnLst>
                                </p:cTn>
                              </p:par>
                              <p:par>
                                <p:cTn id="7" presetID="2" presetClass="entr" presetSubtype="8" fill="hold" grpId="0" nodeType="withEffect">
                                  <p:stCondLst>
                                    <p:cond delay="0"/>
                                  </p:stCondLst>
                                  <p:childTnLst>
                                    <p:set>
                                      <p:cBhvr>
                                        <p:cTn id="8" dur="1" fill="hold">
                                          <p:stCondLst>
                                            <p:cond delay="0"/>
                                          </p:stCondLst>
                                        </p:cTn>
                                        <p:tgtEl>
                                          <p:spTgt spid="7">
                                            <p:graphicEl>
                                              <a:dgm id="{6E922436-70E3-4A14-8F55-4BC29B80DCD2}"/>
                                            </p:graphicEl>
                                          </p:spTgt>
                                        </p:tgtEl>
                                        <p:attrNameLst>
                                          <p:attrName>style.visibility</p:attrName>
                                        </p:attrNameLst>
                                      </p:cBhvr>
                                      <p:to>
                                        <p:strVal val="visible"/>
                                      </p:to>
                                    </p:set>
                                    <p:anim calcmode="lin" valueType="num">
                                      <p:cBhvr additive="base">
                                        <p:cTn id="9" dur="1000" fill="hold"/>
                                        <p:tgtEl>
                                          <p:spTgt spid="7">
                                            <p:graphicEl>
                                              <a:dgm id="{6E922436-70E3-4A14-8F55-4BC29B80DCD2}"/>
                                            </p:graphicEl>
                                          </p:spTgt>
                                        </p:tgtEl>
                                        <p:attrNameLst>
                                          <p:attrName>ppt_x</p:attrName>
                                        </p:attrNameLst>
                                      </p:cBhvr>
                                      <p:tavLst>
                                        <p:tav tm="0">
                                          <p:val>
                                            <p:strVal val="0-#ppt_w/2"/>
                                          </p:val>
                                        </p:tav>
                                        <p:tav tm="100000">
                                          <p:val>
                                            <p:strVal val="#ppt_x"/>
                                          </p:val>
                                        </p:tav>
                                      </p:tavLst>
                                    </p:anim>
                                    <p:anim calcmode="lin" valueType="num">
                                      <p:cBhvr additive="base">
                                        <p:cTn id="10" dur="1000" fill="hold"/>
                                        <p:tgtEl>
                                          <p:spTgt spid="7">
                                            <p:graphicEl>
                                              <a:dgm id="{6E922436-70E3-4A14-8F55-4BC29B80DCD2}"/>
                                            </p:graphicEl>
                                          </p:spTgt>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7">
                                            <p:graphicEl>
                                              <a:dgm id="{C46A7560-43F8-4DFA-8191-3629AB221C5E}"/>
                                            </p:graphicEl>
                                          </p:spTgt>
                                        </p:tgtEl>
                                        <p:attrNameLst>
                                          <p:attrName>style.visibility</p:attrName>
                                        </p:attrNameLst>
                                      </p:cBhvr>
                                      <p:to>
                                        <p:strVal val="visible"/>
                                      </p:to>
                                    </p:set>
                                    <p:anim calcmode="lin" valueType="num">
                                      <p:cBhvr additive="base">
                                        <p:cTn id="15" dur="500" fill="hold"/>
                                        <p:tgtEl>
                                          <p:spTgt spid="7">
                                            <p:graphicEl>
                                              <a:dgm id="{C46A7560-43F8-4DFA-8191-3629AB221C5E}"/>
                                            </p:graphic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7">
                                            <p:graphicEl>
                                              <a:dgm id="{C46A7560-43F8-4DFA-8191-3629AB221C5E}"/>
                                            </p:graphic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
                                            <p:graphicEl>
                                              <a:dgm id="{D9D20514-4EBE-4794-9A14-BCFB835E5E46}"/>
                                            </p:graphicEl>
                                          </p:spTgt>
                                        </p:tgtEl>
                                        <p:attrNameLst>
                                          <p:attrName>style.visibility</p:attrName>
                                        </p:attrNameLst>
                                      </p:cBhvr>
                                      <p:to>
                                        <p:strVal val="visible"/>
                                      </p:to>
                                    </p:set>
                                    <p:anim calcmode="lin" valueType="num">
                                      <p:cBhvr additive="base">
                                        <p:cTn id="19" dur="500" fill="hold"/>
                                        <p:tgtEl>
                                          <p:spTgt spid="7">
                                            <p:graphicEl>
                                              <a:dgm id="{D9D20514-4EBE-4794-9A14-BCFB835E5E46}"/>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
                                            <p:graphicEl>
                                              <a:dgm id="{D9D20514-4EBE-4794-9A14-BCFB835E5E46}"/>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
                                            <p:graphicEl>
                                              <a:dgm id="{9FA5A4DC-0DFE-41C0-9212-2681E64E374B}"/>
                                            </p:graphicEl>
                                          </p:spTgt>
                                        </p:tgtEl>
                                        <p:attrNameLst>
                                          <p:attrName>style.visibility</p:attrName>
                                        </p:attrNameLst>
                                      </p:cBhvr>
                                      <p:to>
                                        <p:strVal val="visible"/>
                                      </p:to>
                                    </p:set>
                                    <p:anim calcmode="lin" valueType="num">
                                      <p:cBhvr additive="base">
                                        <p:cTn id="25" dur="500" fill="hold"/>
                                        <p:tgtEl>
                                          <p:spTgt spid="7">
                                            <p:graphicEl>
                                              <a:dgm id="{9FA5A4DC-0DFE-41C0-9212-2681E64E374B}"/>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
                                            <p:graphicEl>
                                              <a:dgm id="{9FA5A4DC-0DFE-41C0-9212-2681E64E374B}"/>
                                            </p:graphic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7">
                                            <p:graphicEl>
                                              <a:dgm id="{91AFF6D7-D1FF-4B03-9E32-EDB9E364E839}"/>
                                            </p:graphicEl>
                                          </p:spTgt>
                                        </p:tgtEl>
                                        <p:attrNameLst>
                                          <p:attrName>style.visibility</p:attrName>
                                        </p:attrNameLst>
                                      </p:cBhvr>
                                      <p:to>
                                        <p:strVal val="visible"/>
                                      </p:to>
                                    </p:set>
                                    <p:anim calcmode="lin" valueType="num">
                                      <p:cBhvr additive="base">
                                        <p:cTn id="29" dur="500" fill="hold"/>
                                        <p:tgtEl>
                                          <p:spTgt spid="7">
                                            <p:graphicEl>
                                              <a:dgm id="{91AFF6D7-D1FF-4B03-9E32-EDB9E364E839}"/>
                                            </p:graphic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7">
                                            <p:graphicEl>
                                              <a:dgm id="{91AFF6D7-D1FF-4B03-9E32-EDB9E364E839}"/>
                                            </p:graphic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7">
                                            <p:graphicEl>
                                              <a:dgm id="{DAE058E7-50A4-40ED-869C-DDF4F108FB09}"/>
                                            </p:graphicEl>
                                          </p:spTgt>
                                        </p:tgtEl>
                                        <p:attrNameLst>
                                          <p:attrName>style.visibility</p:attrName>
                                        </p:attrNameLst>
                                      </p:cBhvr>
                                      <p:to>
                                        <p:strVal val="visible"/>
                                      </p:to>
                                    </p:set>
                                    <p:anim calcmode="lin" valueType="num">
                                      <p:cBhvr additive="base">
                                        <p:cTn id="35" dur="500" fill="hold"/>
                                        <p:tgtEl>
                                          <p:spTgt spid="7">
                                            <p:graphicEl>
                                              <a:dgm id="{DAE058E7-50A4-40ED-869C-DDF4F108FB09}"/>
                                            </p:graphic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7">
                                            <p:graphicEl>
                                              <a:dgm id="{DAE058E7-50A4-40ED-869C-DDF4F108FB09}"/>
                                            </p:graphicEl>
                                          </p:spTgt>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7">
                                            <p:graphicEl>
                                              <a:dgm id="{A5EAE8B0-593D-4BE3-A326-3FBC32763B21}"/>
                                            </p:graphicEl>
                                          </p:spTgt>
                                        </p:tgtEl>
                                        <p:attrNameLst>
                                          <p:attrName>style.visibility</p:attrName>
                                        </p:attrNameLst>
                                      </p:cBhvr>
                                      <p:to>
                                        <p:strVal val="visible"/>
                                      </p:to>
                                    </p:set>
                                    <p:anim calcmode="lin" valueType="num">
                                      <p:cBhvr additive="base">
                                        <p:cTn id="39" dur="500" fill="hold"/>
                                        <p:tgtEl>
                                          <p:spTgt spid="7">
                                            <p:graphicEl>
                                              <a:dgm id="{A5EAE8B0-593D-4BE3-A326-3FBC32763B21}"/>
                                            </p:graphicEl>
                                          </p:spTgt>
                                        </p:tgtEl>
                                        <p:attrNameLst>
                                          <p:attrName>ppt_x</p:attrName>
                                        </p:attrNameLst>
                                      </p:cBhvr>
                                      <p:tavLst>
                                        <p:tav tm="0">
                                          <p:val>
                                            <p:strVal val="0-#ppt_w/2"/>
                                          </p:val>
                                        </p:tav>
                                        <p:tav tm="100000">
                                          <p:val>
                                            <p:strVal val="#ppt_x"/>
                                          </p:val>
                                        </p:tav>
                                      </p:tavLst>
                                    </p:anim>
                                    <p:anim calcmode="lin" valueType="num">
                                      <p:cBhvr additive="base">
                                        <p:cTn id="40" dur="500" fill="hold"/>
                                        <p:tgtEl>
                                          <p:spTgt spid="7">
                                            <p:graphicEl>
                                              <a:dgm id="{A5EAE8B0-593D-4BE3-A326-3FBC32763B21}"/>
                                            </p:graphic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7">
                                            <p:graphicEl>
                                              <a:dgm id="{8870F161-B1F3-4476-918F-42AE92E63FA9}"/>
                                            </p:graphicEl>
                                          </p:spTgt>
                                        </p:tgtEl>
                                        <p:attrNameLst>
                                          <p:attrName>style.visibility</p:attrName>
                                        </p:attrNameLst>
                                      </p:cBhvr>
                                      <p:to>
                                        <p:strVal val="visible"/>
                                      </p:to>
                                    </p:set>
                                    <p:anim calcmode="lin" valueType="num">
                                      <p:cBhvr additive="base">
                                        <p:cTn id="45" dur="500" fill="hold"/>
                                        <p:tgtEl>
                                          <p:spTgt spid="7">
                                            <p:graphicEl>
                                              <a:dgm id="{8870F161-B1F3-4476-918F-42AE92E63FA9}"/>
                                            </p:graphicEl>
                                          </p:spTgt>
                                        </p:tgtEl>
                                        <p:attrNameLst>
                                          <p:attrName>ppt_x</p:attrName>
                                        </p:attrNameLst>
                                      </p:cBhvr>
                                      <p:tavLst>
                                        <p:tav tm="0">
                                          <p:val>
                                            <p:strVal val="0-#ppt_w/2"/>
                                          </p:val>
                                        </p:tav>
                                        <p:tav tm="100000">
                                          <p:val>
                                            <p:strVal val="#ppt_x"/>
                                          </p:val>
                                        </p:tav>
                                      </p:tavLst>
                                    </p:anim>
                                    <p:anim calcmode="lin" valueType="num">
                                      <p:cBhvr additive="base">
                                        <p:cTn id="46" dur="500" fill="hold"/>
                                        <p:tgtEl>
                                          <p:spTgt spid="7">
                                            <p:graphicEl>
                                              <a:dgm id="{8870F161-B1F3-4476-918F-42AE92E63FA9}"/>
                                            </p:graphicEl>
                                          </p:spTgt>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7">
                                            <p:graphicEl>
                                              <a:dgm id="{A299CC11-2C0F-42DE-AAEF-2D5AE2BCB677}"/>
                                            </p:graphicEl>
                                          </p:spTgt>
                                        </p:tgtEl>
                                        <p:attrNameLst>
                                          <p:attrName>style.visibility</p:attrName>
                                        </p:attrNameLst>
                                      </p:cBhvr>
                                      <p:to>
                                        <p:strVal val="visible"/>
                                      </p:to>
                                    </p:set>
                                    <p:anim calcmode="lin" valueType="num">
                                      <p:cBhvr additive="base">
                                        <p:cTn id="49" dur="500" fill="hold"/>
                                        <p:tgtEl>
                                          <p:spTgt spid="7">
                                            <p:graphicEl>
                                              <a:dgm id="{A299CC11-2C0F-42DE-AAEF-2D5AE2BCB677}"/>
                                            </p:graphic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7">
                                            <p:graphicEl>
                                              <a:dgm id="{A299CC11-2C0F-42DE-AAEF-2D5AE2BCB677}"/>
                                            </p:graphic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7">
                                            <p:graphicEl>
                                              <a:dgm id="{DAE64100-DC05-413C-AD18-027ADA933D9D}"/>
                                            </p:graphicEl>
                                          </p:spTgt>
                                        </p:tgtEl>
                                        <p:attrNameLst>
                                          <p:attrName>style.visibility</p:attrName>
                                        </p:attrNameLst>
                                      </p:cBhvr>
                                      <p:to>
                                        <p:strVal val="visible"/>
                                      </p:to>
                                    </p:set>
                                    <p:anim calcmode="lin" valueType="num">
                                      <p:cBhvr additive="base">
                                        <p:cTn id="55" dur="500" fill="hold"/>
                                        <p:tgtEl>
                                          <p:spTgt spid="7">
                                            <p:graphicEl>
                                              <a:dgm id="{DAE64100-DC05-413C-AD18-027ADA933D9D}"/>
                                            </p:graphic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7">
                                            <p:graphicEl>
                                              <a:dgm id="{DAE64100-DC05-413C-AD18-027ADA933D9D}"/>
                                            </p:graphicEl>
                                          </p:spTgt>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7">
                                            <p:graphicEl>
                                              <a:dgm id="{C73A085C-6058-4326-AB9F-3A31972FECDC}"/>
                                            </p:graphicEl>
                                          </p:spTgt>
                                        </p:tgtEl>
                                        <p:attrNameLst>
                                          <p:attrName>style.visibility</p:attrName>
                                        </p:attrNameLst>
                                      </p:cBhvr>
                                      <p:to>
                                        <p:strVal val="visible"/>
                                      </p:to>
                                    </p:set>
                                    <p:anim calcmode="lin" valueType="num">
                                      <p:cBhvr additive="base">
                                        <p:cTn id="59" dur="500" fill="hold"/>
                                        <p:tgtEl>
                                          <p:spTgt spid="7">
                                            <p:graphicEl>
                                              <a:dgm id="{C73A085C-6058-4326-AB9F-3A31972FECDC}"/>
                                            </p:graphic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7">
                                            <p:graphicEl>
                                              <a:dgm id="{C73A085C-6058-4326-AB9F-3A31972FECDC}"/>
                                            </p:graphicEl>
                                          </p:spTgt>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7">
                                            <p:graphicEl>
                                              <a:dgm id="{ADC742EF-D165-4490-8577-9D82AA4F5D75}"/>
                                            </p:graphicEl>
                                          </p:spTgt>
                                        </p:tgtEl>
                                        <p:attrNameLst>
                                          <p:attrName>style.visibility</p:attrName>
                                        </p:attrNameLst>
                                      </p:cBhvr>
                                      <p:to>
                                        <p:strVal val="visible"/>
                                      </p:to>
                                    </p:set>
                                    <p:anim calcmode="lin" valueType="num">
                                      <p:cBhvr additive="base">
                                        <p:cTn id="65" dur="500" fill="hold"/>
                                        <p:tgtEl>
                                          <p:spTgt spid="7">
                                            <p:graphicEl>
                                              <a:dgm id="{ADC742EF-D165-4490-8577-9D82AA4F5D75}"/>
                                            </p:graphic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7">
                                            <p:graphicEl>
                                              <a:dgm id="{ADC742EF-D165-4490-8577-9D82AA4F5D75}"/>
                                            </p:graphicEl>
                                          </p:spTgt>
                                        </p:tgtEl>
                                        <p:attrNameLst>
                                          <p:attrName>ppt_y</p:attrName>
                                        </p:attrNameLst>
                                      </p:cBhvr>
                                      <p:tavLst>
                                        <p:tav tm="0">
                                          <p:val>
                                            <p:strVal val="#ppt_y"/>
                                          </p:val>
                                        </p:tav>
                                        <p:tav tm="100000">
                                          <p:val>
                                            <p:strVal val="#ppt_y"/>
                                          </p:val>
                                        </p:tav>
                                      </p:tavLst>
                                    </p:anim>
                                  </p:childTnLst>
                                </p:cTn>
                              </p:par>
                              <p:par>
                                <p:cTn id="67" presetID="2" presetClass="entr" presetSubtype="8" fill="hold" grpId="0" nodeType="withEffect">
                                  <p:stCondLst>
                                    <p:cond delay="0"/>
                                  </p:stCondLst>
                                  <p:childTnLst>
                                    <p:set>
                                      <p:cBhvr>
                                        <p:cTn id="68" dur="1" fill="hold">
                                          <p:stCondLst>
                                            <p:cond delay="0"/>
                                          </p:stCondLst>
                                        </p:cTn>
                                        <p:tgtEl>
                                          <p:spTgt spid="7">
                                            <p:graphicEl>
                                              <a:dgm id="{B2C8FB6A-1215-46EE-9942-4A6472B1C48C}"/>
                                            </p:graphicEl>
                                          </p:spTgt>
                                        </p:tgtEl>
                                        <p:attrNameLst>
                                          <p:attrName>style.visibility</p:attrName>
                                        </p:attrNameLst>
                                      </p:cBhvr>
                                      <p:to>
                                        <p:strVal val="visible"/>
                                      </p:to>
                                    </p:set>
                                    <p:anim calcmode="lin" valueType="num">
                                      <p:cBhvr additive="base">
                                        <p:cTn id="69" dur="500" fill="hold"/>
                                        <p:tgtEl>
                                          <p:spTgt spid="7">
                                            <p:graphicEl>
                                              <a:dgm id="{B2C8FB6A-1215-46EE-9942-4A6472B1C48C}"/>
                                            </p:graphicEl>
                                          </p:spTgt>
                                        </p:tgtEl>
                                        <p:attrNameLst>
                                          <p:attrName>ppt_x</p:attrName>
                                        </p:attrNameLst>
                                      </p:cBhvr>
                                      <p:tavLst>
                                        <p:tav tm="0">
                                          <p:val>
                                            <p:strVal val="0-#ppt_w/2"/>
                                          </p:val>
                                        </p:tav>
                                        <p:tav tm="100000">
                                          <p:val>
                                            <p:strVal val="#ppt_x"/>
                                          </p:val>
                                        </p:tav>
                                      </p:tavLst>
                                    </p:anim>
                                    <p:anim calcmode="lin" valueType="num">
                                      <p:cBhvr additive="base">
                                        <p:cTn id="70" dur="500" fill="hold"/>
                                        <p:tgtEl>
                                          <p:spTgt spid="7">
                                            <p:graphicEl>
                                              <a:dgm id="{B2C8FB6A-1215-46EE-9942-4A6472B1C48C}"/>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Dgm bld="one"/>
        </p:bldSub>
      </p:bldGraphic>
      <p:bldP spid="1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3"/>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Gill Sans"/>
              <a:buNone/>
            </a:pPr>
            <a:r>
              <a:rPr lang="en-US">
                <a:solidFill>
                  <a:srgbClr val="0070C0"/>
                </a:solidFill>
              </a:rPr>
              <a:t>PROBLEM DEFINITION</a:t>
            </a:r>
            <a:endParaRPr/>
          </a:p>
        </p:txBody>
      </p:sp>
      <p:sp>
        <p:nvSpPr>
          <p:cNvPr id="140" name="Google Shape;140;p3"/>
          <p:cNvSpPr txBox="1">
            <a:spLocks noGrp="1"/>
          </p:cNvSpPr>
          <p:nvPr>
            <p:ph type="body" idx="1"/>
          </p:nvPr>
        </p:nvSpPr>
        <p:spPr>
          <a:xfrm>
            <a:off x="1130270" y="2171769"/>
            <a:ext cx="9603275" cy="1653275"/>
          </a:xfrm>
          <a:prstGeom prst="rect">
            <a:avLst/>
          </a:prstGeom>
          <a:noFill/>
          <a:ln>
            <a:noFill/>
          </a:ln>
        </p:spPr>
        <p:txBody>
          <a:bodyPr spcFirstLastPara="1" wrap="square" lIns="91425" tIns="45700" rIns="91425" bIns="45700" anchor="t" anchorCtr="0">
            <a:normAutofit/>
          </a:bodyPr>
          <a:lstStyle/>
          <a:p>
            <a:pPr marL="0" lvl="0" indent="0" algn="l" rtl="0">
              <a:lnSpc>
                <a:spcPct val="150000"/>
              </a:lnSpc>
              <a:spcBef>
                <a:spcPts val="0"/>
              </a:spcBef>
              <a:spcAft>
                <a:spcPts val="0"/>
              </a:spcAft>
              <a:buSzPts val="2000"/>
              <a:buNone/>
            </a:pPr>
            <a:r>
              <a:rPr lang="en-US"/>
              <a:t>An excise tax of 2.3% has been imposed on medical device firms’ </a:t>
            </a:r>
            <a:r>
              <a:rPr lang="en-US">
                <a:solidFill>
                  <a:srgbClr val="FF0000"/>
                </a:solidFill>
              </a:rPr>
              <a:t>revenues</a:t>
            </a:r>
            <a:r>
              <a:rPr lang="en-US"/>
              <a:t> in 2014.This translates into </a:t>
            </a:r>
            <a:r>
              <a:rPr lang="en-US">
                <a:solidFill>
                  <a:srgbClr val="FF0000"/>
                </a:solidFill>
              </a:rPr>
              <a:t>10 to 20 % </a:t>
            </a:r>
            <a:r>
              <a:rPr lang="en-US"/>
              <a:t>(depending on the last 5 years’ data) of </a:t>
            </a:r>
            <a:r>
              <a:rPr lang="en-US">
                <a:solidFill>
                  <a:srgbClr val="FF0000"/>
                </a:solidFill>
              </a:rPr>
              <a:t>net profit </a:t>
            </a:r>
            <a:r>
              <a:rPr lang="en-US"/>
              <a:t>for the Company X.</a:t>
            </a:r>
            <a:endParaRPr>
              <a:solidFill>
                <a:srgbClr val="FF0000"/>
              </a:solidFill>
            </a:endParaRPr>
          </a:p>
        </p:txBody>
      </p:sp>
      <p:sp>
        <p:nvSpPr>
          <p:cNvPr id="141" name="Google Shape;141;p3"/>
          <p:cNvSpPr/>
          <p:nvPr/>
        </p:nvSpPr>
        <p:spPr>
          <a:xfrm>
            <a:off x="7932432" y="2276872"/>
            <a:ext cx="1008000" cy="36004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42" name="Google Shape;142;p3"/>
          <p:cNvSpPr/>
          <p:nvPr/>
        </p:nvSpPr>
        <p:spPr>
          <a:xfrm>
            <a:off x="7968324" y="2744924"/>
            <a:ext cx="1044000" cy="36004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43" name="Google Shape;143;p3"/>
          <p:cNvSpPr/>
          <p:nvPr/>
        </p:nvSpPr>
        <p:spPr>
          <a:xfrm>
            <a:off x="2747860" y="2724843"/>
            <a:ext cx="1188000" cy="360040"/>
          </a:xfrm>
          <a:prstGeom prst="rect">
            <a:avLst/>
          </a:prstGeom>
          <a:noFill/>
          <a:ln w="381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i="0" u="none" strike="noStrike" cap="none">
              <a:solidFill>
                <a:schemeClr val="lt1"/>
              </a:solidFill>
              <a:latin typeface="Gill Sans"/>
              <a:ea typeface="Gill Sans"/>
              <a:cs typeface="Gill Sans"/>
              <a:sym typeface="Gill Sans"/>
            </a:endParaRPr>
          </a:p>
        </p:txBody>
      </p:sp>
      <p:sp>
        <p:nvSpPr>
          <p:cNvPr id="144" name="Google Shape;144;p3"/>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fade">
                                      <p:cBhvr>
                                        <p:cTn id="7" dur="1000"/>
                                        <p:tgtEl>
                                          <p:spTgt spid="143"/>
                                        </p:tgtEl>
                                      </p:cBhvr>
                                    </p:animEffect>
                                  </p:childTnLst>
                                </p:cTn>
                              </p:par>
                              <p:par>
                                <p:cTn id="8" presetID="10" presetClass="entr" presetSubtype="0" fill="hold"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fade">
                                      <p:cBhvr>
                                        <p:cTn id="10" dur="1000"/>
                                        <p:tgtEl>
                                          <p:spTgt spid="142"/>
                                        </p:tgtEl>
                                      </p:cBhvr>
                                    </p:animEffect>
                                  </p:childTnLst>
                                </p:cTn>
                              </p:par>
                              <p:par>
                                <p:cTn id="11" presetID="10" presetClass="entr" presetSubtype="0" fill="hold" nodeType="withEffect">
                                  <p:stCondLst>
                                    <p:cond delay="0"/>
                                  </p:stCondLst>
                                  <p:childTnLst>
                                    <p:set>
                                      <p:cBhvr>
                                        <p:cTn id="12" dur="1" fill="hold">
                                          <p:stCondLst>
                                            <p:cond delay="0"/>
                                          </p:stCondLst>
                                        </p:cTn>
                                        <p:tgtEl>
                                          <p:spTgt spid="141"/>
                                        </p:tgtEl>
                                        <p:attrNameLst>
                                          <p:attrName>style.visibility</p:attrName>
                                        </p:attrNameLst>
                                      </p:cBhvr>
                                      <p:to>
                                        <p:strVal val="visible"/>
                                      </p:to>
                                    </p:set>
                                    <p:animEffect transition="in" filter="fade">
                                      <p:cBhvr>
                                        <p:cTn id="13" dur="10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4"/>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Gill Sans"/>
              <a:buNone/>
            </a:pPr>
            <a:r>
              <a:rPr lang="en-US" cap="none">
                <a:solidFill>
                  <a:srgbClr val="0070C0"/>
                </a:solidFill>
              </a:rPr>
              <a:t>THE COMPANY X LOGISTICS NETWORK IN 2014</a:t>
            </a:r>
            <a:endParaRPr cap="none"/>
          </a:p>
        </p:txBody>
      </p:sp>
      <p:grpSp>
        <p:nvGrpSpPr>
          <p:cNvPr id="151" name="Google Shape;151;p4"/>
          <p:cNvGrpSpPr/>
          <p:nvPr/>
        </p:nvGrpSpPr>
        <p:grpSpPr>
          <a:xfrm>
            <a:off x="1671580" y="1894830"/>
            <a:ext cx="2449441" cy="3982741"/>
            <a:chOff x="575279" y="708629"/>
            <a:chExt cx="2449441" cy="3982741"/>
          </a:xfrm>
        </p:grpSpPr>
        <p:sp>
          <p:nvSpPr>
            <p:cNvPr id="152" name="Google Shape;152;p4"/>
            <p:cNvSpPr/>
            <p:nvPr/>
          </p:nvSpPr>
          <p:spPr>
            <a:xfrm>
              <a:off x="1107720" y="708629"/>
              <a:ext cx="1917000" cy="1917291"/>
            </a:xfrm>
            <a:custGeom>
              <a:avLst/>
              <a:gdLst/>
              <a:ahLst/>
              <a:cxnLst/>
              <a:rect l="l" t="t" r="r" b="b"/>
              <a:pathLst>
                <a:path w="120000" h="120000" extrusionOk="0">
                  <a:moveTo>
                    <a:pt x="8412" y="60000"/>
                  </a:moveTo>
                  <a:lnTo>
                    <a:pt x="8412" y="60000"/>
                  </a:lnTo>
                  <a:cubicBezTo>
                    <a:pt x="8412" y="32962"/>
                    <a:pt x="29287" y="10511"/>
                    <a:pt x="56253" y="8547"/>
                  </a:cubicBezTo>
                  <a:cubicBezTo>
                    <a:pt x="83219" y="6583"/>
                    <a:pt x="107126" y="25773"/>
                    <a:pt x="111044" y="52526"/>
                  </a:cubicBezTo>
                  <a:cubicBezTo>
                    <a:pt x="114961" y="79279"/>
                    <a:pt x="97559" y="104517"/>
                    <a:pt x="71162" y="110367"/>
                  </a:cubicBezTo>
                  <a:lnTo>
                    <a:pt x="70593" y="118429"/>
                  </a:lnTo>
                  <a:lnTo>
                    <a:pt x="56830" y="104890"/>
                  </a:lnTo>
                  <a:lnTo>
                    <a:pt x="72706" y="88508"/>
                  </a:lnTo>
                  <a:lnTo>
                    <a:pt x="72145" y="96445"/>
                  </a:lnTo>
                  <a:lnTo>
                    <a:pt x="72145" y="96445"/>
                  </a:lnTo>
                  <a:cubicBezTo>
                    <a:pt x="90761" y="90240"/>
                    <a:pt x="101708" y="70999"/>
                    <a:pt x="97532" y="51824"/>
                  </a:cubicBezTo>
                  <a:cubicBezTo>
                    <a:pt x="93356" y="32649"/>
                    <a:pt x="75399" y="19705"/>
                    <a:pt x="55889" y="21805"/>
                  </a:cubicBezTo>
                  <a:cubicBezTo>
                    <a:pt x="36379" y="23906"/>
                    <a:pt x="21588" y="40375"/>
                    <a:pt x="21588" y="60000"/>
                  </a:cubicBezTo>
                  <a:close/>
                </a:path>
              </a:pathLst>
            </a:custGeom>
            <a:solidFill>
              <a:srgbClr val="B71B42"/>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1531439" y="1400829"/>
              <a:ext cx="1065240" cy="53249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4"/>
            <p:cNvSpPr txBox="1"/>
            <p:nvPr/>
          </p:nvSpPr>
          <p:spPr>
            <a:xfrm>
              <a:off x="1531439" y="1400829"/>
              <a:ext cx="1065240" cy="532492"/>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Clr>
                  <a:schemeClr val="dk1"/>
                </a:buClr>
                <a:buSzPts val="1700"/>
                <a:buFont typeface="Gill Sans"/>
                <a:buNone/>
              </a:pPr>
              <a:r>
                <a:rPr lang="en-US" sz="1700" b="0" i="0" u="none" strike="noStrike" cap="none">
                  <a:solidFill>
                    <a:schemeClr val="dk1"/>
                  </a:solidFill>
                  <a:latin typeface="Gill Sans"/>
                  <a:ea typeface="Gill Sans"/>
                  <a:cs typeface="Gill Sans"/>
                  <a:sym typeface="Gill Sans"/>
                </a:rPr>
                <a:t>Plant or Warehouse</a:t>
              </a:r>
              <a:endParaRPr/>
            </a:p>
          </p:txBody>
        </p:sp>
        <p:sp>
          <p:nvSpPr>
            <p:cNvPr id="155" name="Google Shape;155;p4"/>
            <p:cNvSpPr/>
            <p:nvPr/>
          </p:nvSpPr>
          <p:spPr>
            <a:xfrm>
              <a:off x="575279" y="1810255"/>
              <a:ext cx="1917000" cy="1917291"/>
            </a:xfrm>
            <a:custGeom>
              <a:avLst/>
              <a:gdLst/>
              <a:ahLst/>
              <a:cxnLst/>
              <a:rect l="l" t="t" r="r" b="b"/>
              <a:pathLst>
                <a:path w="120000" h="120000" extrusionOk="0">
                  <a:moveTo>
                    <a:pt x="96481" y="23524"/>
                  </a:moveTo>
                  <a:lnTo>
                    <a:pt x="87165" y="32840"/>
                  </a:lnTo>
                  <a:lnTo>
                    <a:pt x="87165" y="32840"/>
                  </a:lnTo>
                  <a:cubicBezTo>
                    <a:pt x="75945" y="21617"/>
                    <a:pt x="58981" y="18448"/>
                    <a:pt x="44467" y="24866"/>
                  </a:cubicBezTo>
                  <a:cubicBezTo>
                    <a:pt x="29954" y="31283"/>
                    <a:pt x="20881" y="45964"/>
                    <a:pt x="21631" y="61816"/>
                  </a:cubicBezTo>
                  <a:cubicBezTo>
                    <a:pt x="22381" y="77668"/>
                    <a:pt x="32801" y="91427"/>
                    <a:pt x="47855" y="96445"/>
                  </a:cubicBezTo>
                  <a:lnTo>
                    <a:pt x="47294" y="88508"/>
                  </a:lnTo>
                  <a:lnTo>
                    <a:pt x="63170" y="104890"/>
                  </a:lnTo>
                  <a:lnTo>
                    <a:pt x="49407" y="118429"/>
                  </a:lnTo>
                  <a:lnTo>
                    <a:pt x="48838" y="110367"/>
                  </a:lnTo>
                  <a:lnTo>
                    <a:pt x="48838" y="110367"/>
                  </a:lnTo>
                  <a:cubicBezTo>
                    <a:pt x="27395" y="105615"/>
                    <a:pt x="11311" y="87806"/>
                    <a:pt x="8761" y="65990"/>
                  </a:cubicBezTo>
                  <a:cubicBezTo>
                    <a:pt x="6211" y="44174"/>
                    <a:pt x="17753" y="23136"/>
                    <a:pt x="37522" y="13566"/>
                  </a:cubicBezTo>
                  <a:cubicBezTo>
                    <a:pt x="57291" y="3995"/>
                    <a:pt x="80952" y="7992"/>
                    <a:pt x="96481" y="23524"/>
                  </a:cubicBezTo>
                  <a:close/>
                </a:path>
              </a:pathLst>
            </a:custGeom>
            <a:solidFill>
              <a:srgbClr val="B71B42"/>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1001160" y="2508828"/>
              <a:ext cx="1065240" cy="53249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4"/>
            <p:cNvSpPr txBox="1"/>
            <p:nvPr/>
          </p:nvSpPr>
          <p:spPr>
            <a:xfrm>
              <a:off x="1001160" y="2508828"/>
              <a:ext cx="1065240" cy="532492"/>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Clr>
                  <a:schemeClr val="dk1"/>
                </a:buClr>
                <a:buSzPts val="1700"/>
                <a:buFont typeface="Gill Sans"/>
                <a:buNone/>
              </a:pPr>
              <a:endParaRPr sz="1700" b="0" i="0" u="none" strike="noStrike" cap="none">
                <a:solidFill>
                  <a:schemeClr val="dk1"/>
                </a:solidFill>
                <a:latin typeface="Gill Sans"/>
                <a:ea typeface="Gill Sans"/>
                <a:cs typeface="Gill Sans"/>
                <a:sym typeface="Gill Sans"/>
              </a:endParaRPr>
            </a:p>
          </p:txBody>
        </p:sp>
        <p:sp>
          <p:nvSpPr>
            <p:cNvPr id="158" name="Google Shape;158;p4"/>
            <p:cNvSpPr/>
            <p:nvPr/>
          </p:nvSpPr>
          <p:spPr>
            <a:xfrm>
              <a:off x="1244160" y="3043710"/>
              <a:ext cx="1647000" cy="1647660"/>
            </a:xfrm>
            <a:prstGeom prst="blockArc">
              <a:avLst>
                <a:gd name="adj1" fmla="val 13500000"/>
                <a:gd name="adj2" fmla="val 10800000"/>
                <a:gd name="adj3" fmla="val 12740"/>
              </a:avLst>
            </a:prstGeom>
            <a:solidFill>
              <a:srgbClr val="B71B42"/>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1533960" y="3618420"/>
              <a:ext cx="1065240" cy="53249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txBox="1"/>
            <p:nvPr/>
          </p:nvSpPr>
          <p:spPr>
            <a:xfrm>
              <a:off x="1533960" y="3618420"/>
              <a:ext cx="1065240" cy="532492"/>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Clr>
                  <a:schemeClr val="dk1"/>
                </a:buClr>
                <a:buSzPts val="1700"/>
                <a:buFont typeface="Gill Sans"/>
                <a:buNone/>
              </a:pPr>
              <a:r>
                <a:rPr lang="en-US" sz="1700" b="0" i="0" u="none" strike="noStrike" cap="none">
                  <a:solidFill>
                    <a:schemeClr val="dk1"/>
                  </a:solidFill>
                  <a:latin typeface="Gill Sans"/>
                  <a:ea typeface="Gill Sans"/>
                  <a:cs typeface="Gill Sans"/>
                  <a:sym typeface="Gill Sans"/>
                </a:rPr>
                <a:t>Hospitals</a:t>
              </a:r>
              <a:endParaRPr/>
            </a:p>
          </p:txBody>
        </p:sp>
      </p:grpSp>
      <p:sp>
        <p:nvSpPr>
          <p:cNvPr id="161" name="Google Shape;161;p4"/>
          <p:cNvSpPr txBox="1"/>
          <p:nvPr/>
        </p:nvSpPr>
        <p:spPr>
          <a:xfrm>
            <a:off x="1460798" y="1922565"/>
            <a:ext cx="9603275" cy="1049235"/>
          </a:xfrm>
          <a:prstGeom prst="rect">
            <a:avLst/>
          </a:prstGeom>
          <a:noFill/>
          <a:ln>
            <a:noFill/>
          </a:ln>
        </p:spPr>
        <p:txBody>
          <a:bodyPr spcFirstLastPara="1" wrap="square" lIns="91425" tIns="45700" rIns="91425" bIns="0" anchor="ctr" anchorCtr="0">
            <a:normAutofit/>
          </a:bodyPr>
          <a:lstStyle/>
          <a:p>
            <a:pPr marL="0" marR="0" lvl="0" indent="0" algn="l" rtl="0">
              <a:lnSpc>
                <a:spcPct val="90000"/>
              </a:lnSpc>
              <a:spcBef>
                <a:spcPts val="0"/>
              </a:spcBef>
              <a:spcAft>
                <a:spcPts val="0"/>
              </a:spcAft>
              <a:buClr>
                <a:schemeClr val="dk1"/>
              </a:buClr>
              <a:buSzPts val="3200"/>
              <a:buFont typeface="Gill Sans"/>
              <a:buNone/>
            </a:pPr>
            <a:endParaRPr sz="3200" b="0" i="0" u="none" strike="noStrike" cap="none">
              <a:solidFill>
                <a:srgbClr val="0070C0"/>
              </a:solidFill>
              <a:latin typeface="Gill Sans"/>
              <a:ea typeface="Gill Sans"/>
              <a:cs typeface="Gill Sans"/>
              <a:sym typeface="Gill Sans"/>
            </a:endParaRPr>
          </a:p>
        </p:txBody>
      </p:sp>
      <p:grpSp>
        <p:nvGrpSpPr>
          <p:cNvPr id="162" name="Google Shape;162;p4"/>
          <p:cNvGrpSpPr/>
          <p:nvPr/>
        </p:nvGrpSpPr>
        <p:grpSpPr>
          <a:xfrm>
            <a:off x="8867523" y="1894830"/>
            <a:ext cx="2449441" cy="3982741"/>
            <a:chOff x="575279" y="708629"/>
            <a:chExt cx="2449441" cy="3982741"/>
          </a:xfrm>
        </p:grpSpPr>
        <p:sp>
          <p:nvSpPr>
            <p:cNvPr id="163" name="Google Shape;163;p4"/>
            <p:cNvSpPr/>
            <p:nvPr/>
          </p:nvSpPr>
          <p:spPr>
            <a:xfrm>
              <a:off x="1107720" y="708629"/>
              <a:ext cx="1917000" cy="1917291"/>
            </a:xfrm>
            <a:custGeom>
              <a:avLst/>
              <a:gdLst/>
              <a:ahLst/>
              <a:cxnLst/>
              <a:rect l="l" t="t" r="r" b="b"/>
              <a:pathLst>
                <a:path w="120000" h="120000" extrusionOk="0">
                  <a:moveTo>
                    <a:pt x="8412" y="60000"/>
                  </a:moveTo>
                  <a:lnTo>
                    <a:pt x="8412" y="60000"/>
                  </a:lnTo>
                  <a:cubicBezTo>
                    <a:pt x="8412" y="32962"/>
                    <a:pt x="29287" y="10511"/>
                    <a:pt x="56253" y="8547"/>
                  </a:cubicBezTo>
                  <a:cubicBezTo>
                    <a:pt x="83219" y="6583"/>
                    <a:pt x="107126" y="25773"/>
                    <a:pt x="111044" y="52526"/>
                  </a:cubicBezTo>
                  <a:cubicBezTo>
                    <a:pt x="114961" y="79279"/>
                    <a:pt x="97559" y="104517"/>
                    <a:pt x="71162" y="110367"/>
                  </a:cubicBezTo>
                  <a:lnTo>
                    <a:pt x="70593" y="118429"/>
                  </a:lnTo>
                  <a:lnTo>
                    <a:pt x="56830" y="104890"/>
                  </a:lnTo>
                  <a:lnTo>
                    <a:pt x="72706" y="88508"/>
                  </a:lnTo>
                  <a:lnTo>
                    <a:pt x="72145" y="96445"/>
                  </a:lnTo>
                  <a:lnTo>
                    <a:pt x="72145" y="96445"/>
                  </a:lnTo>
                  <a:cubicBezTo>
                    <a:pt x="90761" y="90240"/>
                    <a:pt x="101708" y="70999"/>
                    <a:pt x="97532" y="51824"/>
                  </a:cubicBezTo>
                  <a:cubicBezTo>
                    <a:pt x="93356" y="32649"/>
                    <a:pt x="75399" y="19705"/>
                    <a:pt x="55889" y="21805"/>
                  </a:cubicBezTo>
                  <a:cubicBezTo>
                    <a:pt x="36379" y="23906"/>
                    <a:pt x="21588" y="40375"/>
                    <a:pt x="21588" y="60000"/>
                  </a:cubicBezTo>
                  <a:close/>
                </a:path>
              </a:pathLst>
            </a:custGeom>
            <a:solidFill>
              <a:srgbClr val="B71B42"/>
            </a:solidFill>
            <a:ln w="222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1531439" y="1400829"/>
              <a:ext cx="1065240" cy="53249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
            <p:cNvSpPr txBox="1"/>
            <p:nvPr/>
          </p:nvSpPr>
          <p:spPr>
            <a:xfrm>
              <a:off x="1531439" y="1400829"/>
              <a:ext cx="1065240" cy="532492"/>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Clr>
                  <a:schemeClr val="dk1"/>
                </a:buClr>
                <a:buSzPts val="1700"/>
                <a:buFont typeface="Gill Sans"/>
                <a:buNone/>
              </a:pPr>
              <a:r>
                <a:rPr lang="en-US" sz="1700" b="0" i="0" u="none" strike="noStrike" cap="none">
                  <a:solidFill>
                    <a:schemeClr val="dk1"/>
                  </a:solidFill>
                  <a:latin typeface="Gill Sans"/>
                  <a:ea typeface="Gill Sans"/>
                  <a:cs typeface="Gill Sans"/>
                  <a:sym typeface="Gill Sans"/>
                </a:rPr>
                <a:t>Plant or Warehouse</a:t>
              </a:r>
              <a:endParaRPr/>
            </a:p>
          </p:txBody>
        </p:sp>
        <p:sp>
          <p:nvSpPr>
            <p:cNvPr id="166" name="Google Shape;166;p4"/>
            <p:cNvSpPr/>
            <p:nvPr/>
          </p:nvSpPr>
          <p:spPr>
            <a:xfrm>
              <a:off x="575279" y="1810255"/>
              <a:ext cx="1917000" cy="1917291"/>
            </a:xfrm>
            <a:custGeom>
              <a:avLst/>
              <a:gdLst/>
              <a:ahLst/>
              <a:cxnLst/>
              <a:rect l="l" t="t" r="r" b="b"/>
              <a:pathLst>
                <a:path w="120000" h="120000" extrusionOk="0">
                  <a:moveTo>
                    <a:pt x="96481" y="23524"/>
                  </a:moveTo>
                  <a:lnTo>
                    <a:pt x="87165" y="32840"/>
                  </a:lnTo>
                  <a:lnTo>
                    <a:pt x="87165" y="32840"/>
                  </a:lnTo>
                  <a:cubicBezTo>
                    <a:pt x="75945" y="21617"/>
                    <a:pt x="58981" y="18448"/>
                    <a:pt x="44467" y="24866"/>
                  </a:cubicBezTo>
                  <a:cubicBezTo>
                    <a:pt x="29954" y="31283"/>
                    <a:pt x="20881" y="45964"/>
                    <a:pt x="21631" y="61816"/>
                  </a:cubicBezTo>
                  <a:cubicBezTo>
                    <a:pt x="22381" y="77668"/>
                    <a:pt x="32801" y="91427"/>
                    <a:pt x="47855" y="96445"/>
                  </a:cubicBezTo>
                  <a:lnTo>
                    <a:pt x="47294" y="88508"/>
                  </a:lnTo>
                  <a:lnTo>
                    <a:pt x="63170" y="104890"/>
                  </a:lnTo>
                  <a:lnTo>
                    <a:pt x="49407" y="118429"/>
                  </a:lnTo>
                  <a:lnTo>
                    <a:pt x="48838" y="110367"/>
                  </a:lnTo>
                  <a:lnTo>
                    <a:pt x="48838" y="110367"/>
                  </a:lnTo>
                  <a:cubicBezTo>
                    <a:pt x="27395" y="105615"/>
                    <a:pt x="11311" y="87806"/>
                    <a:pt x="8761" y="65990"/>
                  </a:cubicBezTo>
                  <a:cubicBezTo>
                    <a:pt x="6211" y="44174"/>
                    <a:pt x="17753" y="23136"/>
                    <a:pt x="37522" y="13566"/>
                  </a:cubicBezTo>
                  <a:cubicBezTo>
                    <a:pt x="57291" y="3995"/>
                    <a:pt x="80952" y="7992"/>
                    <a:pt x="96481" y="23524"/>
                  </a:cubicBezTo>
                  <a:close/>
                </a:path>
              </a:pathLst>
            </a:custGeom>
            <a:solidFill>
              <a:srgbClr val="B71B42"/>
            </a:solidFill>
            <a:ln w="222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1001160" y="2508828"/>
              <a:ext cx="1065240" cy="53249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txBox="1"/>
            <p:nvPr/>
          </p:nvSpPr>
          <p:spPr>
            <a:xfrm>
              <a:off x="1001160" y="2508828"/>
              <a:ext cx="1065240" cy="532492"/>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Clr>
                  <a:schemeClr val="dk1"/>
                </a:buClr>
                <a:buSzPts val="1700"/>
                <a:buFont typeface="Gill Sans"/>
                <a:buNone/>
              </a:pPr>
              <a:endParaRPr sz="1700" b="0" i="0" u="none" strike="noStrike" cap="none">
                <a:solidFill>
                  <a:schemeClr val="dk1"/>
                </a:solidFill>
                <a:latin typeface="Gill Sans"/>
                <a:ea typeface="Gill Sans"/>
                <a:cs typeface="Gill Sans"/>
                <a:sym typeface="Gill Sans"/>
              </a:endParaRPr>
            </a:p>
          </p:txBody>
        </p:sp>
        <p:sp>
          <p:nvSpPr>
            <p:cNvPr id="169" name="Google Shape;169;p4"/>
            <p:cNvSpPr/>
            <p:nvPr/>
          </p:nvSpPr>
          <p:spPr>
            <a:xfrm>
              <a:off x="1244160" y="3043710"/>
              <a:ext cx="1647000" cy="1647660"/>
            </a:xfrm>
            <a:prstGeom prst="blockArc">
              <a:avLst>
                <a:gd name="adj1" fmla="val 13500000"/>
                <a:gd name="adj2" fmla="val 10800000"/>
                <a:gd name="adj3" fmla="val 12740"/>
              </a:avLst>
            </a:prstGeom>
            <a:solidFill>
              <a:srgbClr val="B71B42"/>
            </a:solidFill>
            <a:ln w="222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4"/>
            <p:cNvSpPr/>
            <p:nvPr/>
          </p:nvSpPr>
          <p:spPr>
            <a:xfrm>
              <a:off x="1533960" y="3618420"/>
              <a:ext cx="1065240" cy="53249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4"/>
            <p:cNvSpPr txBox="1"/>
            <p:nvPr/>
          </p:nvSpPr>
          <p:spPr>
            <a:xfrm>
              <a:off x="1533960" y="3618420"/>
              <a:ext cx="1065240" cy="532492"/>
            </a:xfrm>
            <a:prstGeom prst="rect">
              <a:avLst/>
            </a:prstGeom>
            <a:noFill/>
            <a:ln>
              <a:noFill/>
            </a:ln>
          </p:spPr>
          <p:txBody>
            <a:bodyPr spcFirstLastPara="1" wrap="square" lIns="10775" tIns="10775" rIns="10775" bIns="10775" anchor="ctr" anchorCtr="0">
              <a:noAutofit/>
            </a:bodyPr>
            <a:lstStyle/>
            <a:p>
              <a:pPr marL="0" marR="0" lvl="0" indent="0" algn="ctr" rtl="0">
                <a:lnSpc>
                  <a:spcPct val="90000"/>
                </a:lnSpc>
                <a:spcBef>
                  <a:spcPts val="0"/>
                </a:spcBef>
                <a:spcAft>
                  <a:spcPts val="0"/>
                </a:spcAft>
                <a:buClr>
                  <a:schemeClr val="dk1"/>
                </a:buClr>
                <a:buSzPts val="1700"/>
                <a:buFont typeface="Gill Sans"/>
                <a:buNone/>
              </a:pPr>
              <a:r>
                <a:rPr lang="en-US" sz="1700" b="0" i="0" u="none" strike="noStrike" cap="none">
                  <a:solidFill>
                    <a:schemeClr val="dk1"/>
                  </a:solidFill>
                  <a:latin typeface="Gill Sans"/>
                  <a:ea typeface="Gill Sans"/>
                  <a:cs typeface="Gill Sans"/>
                  <a:sym typeface="Gill Sans"/>
                </a:rPr>
                <a:t>Hospitals</a:t>
              </a:r>
              <a:endParaRPr/>
            </a:p>
          </p:txBody>
        </p:sp>
      </p:grpSp>
      <p:sp>
        <p:nvSpPr>
          <p:cNvPr id="172" name="Google Shape;172;p4"/>
          <p:cNvSpPr/>
          <p:nvPr/>
        </p:nvSpPr>
        <p:spPr>
          <a:xfrm>
            <a:off x="5482844" y="1990914"/>
            <a:ext cx="1917000" cy="487680"/>
          </a:xfrm>
          <a:prstGeom prst="roundRect">
            <a:avLst>
              <a:gd name="adj" fmla="val 33334"/>
            </a:avLst>
          </a:prstGeom>
          <a:solidFill>
            <a:schemeClr val="lt1"/>
          </a:solidFill>
          <a:ln w="15875" cap="flat" cmpd="sng">
            <a:solidFill>
              <a:srgbClr val="4D0C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dk1"/>
                </a:solidFill>
                <a:latin typeface="Gill Sans"/>
                <a:ea typeface="Gill Sans"/>
                <a:cs typeface="Gill Sans"/>
                <a:sym typeface="Gill Sans"/>
              </a:rPr>
              <a:t>STERILIZATION</a:t>
            </a:r>
            <a:endParaRPr dirty="0"/>
          </a:p>
        </p:txBody>
      </p:sp>
      <p:sp>
        <p:nvSpPr>
          <p:cNvPr id="173" name="Google Shape;173;p4"/>
          <p:cNvSpPr/>
          <p:nvPr/>
        </p:nvSpPr>
        <p:spPr>
          <a:xfrm>
            <a:off x="5813044" y="3976137"/>
            <a:ext cx="1198880" cy="487680"/>
          </a:xfrm>
          <a:prstGeom prst="roundRect">
            <a:avLst>
              <a:gd name="adj" fmla="val 10417"/>
            </a:avLst>
          </a:prstGeom>
          <a:solidFill>
            <a:srgbClr val="00B0F0"/>
          </a:solidFill>
          <a:ln w="15875" cap="flat" cmpd="sng">
            <a:solidFill>
              <a:srgbClr val="4D0C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Gill Sans"/>
                <a:ea typeface="Gill Sans"/>
                <a:cs typeface="Gill Sans"/>
                <a:sym typeface="Gill Sans"/>
              </a:rPr>
              <a:t>X</a:t>
            </a:r>
            <a:endParaRPr/>
          </a:p>
          <a:p>
            <a:pPr marL="0" marR="0" lvl="0" indent="0" algn="ctr" rtl="0">
              <a:spcBef>
                <a:spcPts val="0"/>
              </a:spcBef>
              <a:spcAft>
                <a:spcPts val="0"/>
              </a:spcAft>
              <a:buNone/>
            </a:pPr>
            <a:r>
              <a:rPr lang="en-US" sz="1800" b="0" i="0" u="none" strike="noStrike" cap="none">
                <a:solidFill>
                  <a:schemeClr val="lt1"/>
                </a:solidFill>
                <a:latin typeface="Gill Sans"/>
                <a:ea typeface="Gill Sans"/>
                <a:cs typeface="Gill Sans"/>
                <a:sym typeface="Gill Sans"/>
              </a:rPr>
              <a:t>CENTER</a:t>
            </a:r>
            <a:endParaRPr/>
          </a:p>
        </p:txBody>
      </p:sp>
      <p:sp>
        <p:nvSpPr>
          <p:cNvPr id="174" name="Google Shape;174;p4"/>
          <p:cNvSpPr/>
          <p:nvPr/>
        </p:nvSpPr>
        <p:spPr>
          <a:xfrm rot="575099">
            <a:off x="7485664" y="2399048"/>
            <a:ext cx="1260000" cy="144000"/>
          </a:xfrm>
          <a:prstGeom prst="leftArrow">
            <a:avLst>
              <a:gd name="adj1" fmla="val 50000"/>
              <a:gd name="adj2" fmla="val 50000"/>
            </a:avLst>
          </a:prstGeom>
          <a:solidFill>
            <a:schemeClr val="accent1"/>
          </a:solidFill>
          <a:ln w="15875" cap="flat" cmpd="sng">
            <a:solidFill>
              <a:srgbClr val="4D0C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75" name="Google Shape;175;p4"/>
          <p:cNvSpPr/>
          <p:nvPr/>
        </p:nvSpPr>
        <p:spPr>
          <a:xfrm rot="-10216336">
            <a:off x="7854910" y="2663853"/>
            <a:ext cx="1260000" cy="144000"/>
          </a:xfrm>
          <a:prstGeom prst="leftArrow">
            <a:avLst>
              <a:gd name="adj1" fmla="val 50000"/>
              <a:gd name="adj2" fmla="val 50000"/>
            </a:avLst>
          </a:prstGeom>
          <a:solidFill>
            <a:srgbClr val="92D050"/>
          </a:solidFill>
          <a:ln w="15875" cap="flat" cmpd="sng">
            <a:solidFill>
              <a:srgbClr val="4D0C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highlight>
                <a:srgbClr val="00FF00"/>
              </a:highlight>
              <a:latin typeface="Gill Sans"/>
              <a:ea typeface="Gill Sans"/>
              <a:cs typeface="Gill Sans"/>
              <a:sym typeface="Gill Sans"/>
            </a:endParaRPr>
          </a:p>
        </p:txBody>
      </p:sp>
      <p:sp>
        <p:nvSpPr>
          <p:cNvPr id="176" name="Google Shape;176;p4"/>
          <p:cNvSpPr/>
          <p:nvPr/>
        </p:nvSpPr>
        <p:spPr>
          <a:xfrm rot="10054565">
            <a:off x="4187190" y="2436662"/>
            <a:ext cx="1260000" cy="144000"/>
          </a:xfrm>
          <a:prstGeom prst="leftArrow">
            <a:avLst>
              <a:gd name="adj1" fmla="val 50000"/>
              <a:gd name="adj2" fmla="val 50000"/>
            </a:avLst>
          </a:prstGeom>
          <a:solidFill>
            <a:schemeClr val="accent1"/>
          </a:solidFill>
          <a:ln w="15875" cap="flat" cmpd="sng">
            <a:solidFill>
              <a:srgbClr val="4D0C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Gill Sans"/>
              <a:ea typeface="Gill Sans"/>
              <a:cs typeface="Gill Sans"/>
              <a:sym typeface="Gill Sans"/>
            </a:endParaRPr>
          </a:p>
        </p:txBody>
      </p:sp>
      <p:sp>
        <p:nvSpPr>
          <p:cNvPr id="177" name="Google Shape;177;p4"/>
          <p:cNvSpPr/>
          <p:nvPr/>
        </p:nvSpPr>
        <p:spPr>
          <a:xfrm rot="-736870">
            <a:off x="4020940" y="2672904"/>
            <a:ext cx="1260000" cy="144000"/>
          </a:xfrm>
          <a:prstGeom prst="leftArrow">
            <a:avLst>
              <a:gd name="adj1" fmla="val 50000"/>
              <a:gd name="adj2" fmla="val 50000"/>
            </a:avLst>
          </a:prstGeom>
          <a:solidFill>
            <a:srgbClr val="92D050"/>
          </a:solidFill>
          <a:ln w="15875" cap="flat" cmpd="sng">
            <a:solidFill>
              <a:srgbClr val="4D0C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highlight>
                <a:srgbClr val="00FF00"/>
              </a:highlight>
              <a:latin typeface="Gill Sans"/>
              <a:ea typeface="Gill Sans"/>
              <a:cs typeface="Gill Sans"/>
              <a:sym typeface="Gill Sans"/>
            </a:endParaRPr>
          </a:p>
        </p:txBody>
      </p:sp>
      <p:sp>
        <p:nvSpPr>
          <p:cNvPr id="178" name="Google Shape;178;p4"/>
          <p:cNvSpPr txBox="1"/>
          <p:nvPr/>
        </p:nvSpPr>
        <p:spPr>
          <a:xfrm>
            <a:off x="2124863" y="3791471"/>
            <a:ext cx="1260140" cy="369332"/>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Gill Sans"/>
                <a:ea typeface="Gill Sans"/>
                <a:cs typeface="Gill Sans"/>
                <a:sym typeface="Gill Sans"/>
              </a:rPr>
              <a:t>Distributor</a:t>
            </a:r>
            <a:endParaRPr/>
          </a:p>
        </p:txBody>
      </p:sp>
      <p:sp>
        <p:nvSpPr>
          <p:cNvPr id="179" name="Google Shape;179;p4"/>
          <p:cNvSpPr txBox="1"/>
          <p:nvPr/>
        </p:nvSpPr>
        <p:spPr>
          <a:xfrm>
            <a:off x="9248257" y="3791471"/>
            <a:ext cx="1548145" cy="369332"/>
          </a:xfrm>
          <a:prstGeom prst="rect">
            <a:avLst/>
          </a:prstGeom>
          <a:solidFill>
            <a:srgbClr val="FFC0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ill Sans"/>
                <a:ea typeface="Gill Sans"/>
                <a:cs typeface="Gill Sans"/>
                <a:sym typeface="Gill Sans"/>
              </a:rPr>
              <a:t>Trunk Storage</a:t>
            </a:r>
            <a:endParaRPr/>
          </a:p>
        </p:txBody>
      </p:sp>
      <p:pic>
        <p:nvPicPr>
          <p:cNvPr id="180" name="Google Shape;180;p4" descr="Low angle view of modern financial skyscrapers into the sky"/>
          <p:cNvPicPr preferRelativeResize="0"/>
          <p:nvPr/>
        </p:nvPicPr>
        <p:blipFill rotWithShape="1">
          <a:blip r:embed="rId3">
            <a:alphaModFix/>
          </a:blip>
          <a:srcRect/>
          <a:stretch/>
        </p:blipFill>
        <p:spPr>
          <a:xfrm>
            <a:off x="5499078" y="4617132"/>
            <a:ext cx="1868392" cy="1245291"/>
          </a:xfrm>
          <a:prstGeom prst="rect">
            <a:avLst/>
          </a:prstGeom>
          <a:noFill/>
          <a:ln w="76200" cap="sq" cmpd="thickThin">
            <a:solidFill>
              <a:srgbClr val="000000"/>
            </a:solidFill>
            <a:prstDash val="solid"/>
            <a:miter lim="800000"/>
            <a:headEnd type="none" w="sm" len="sm"/>
            <a:tailEnd type="none" w="sm" len="sm"/>
          </a:ln>
        </p:spPr>
      </p:pic>
      <p:sp>
        <p:nvSpPr>
          <p:cNvPr id="181" name="Google Shape;181;p4"/>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fade">
                                      <p:cBhvr>
                                        <p:cTn id="7" dur="1000"/>
                                        <p:tgtEl>
                                          <p:spTgt spid="178"/>
                                        </p:tgtEl>
                                      </p:cBhvr>
                                    </p:animEffect>
                                    <p:anim calcmode="lin" valueType="num">
                                      <p:cBhvr>
                                        <p:cTn id="8" dur="1000" fill="hold"/>
                                        <p:tgtEl>
                                          <p:spTgt spid="178"/>
                                        </p:tgtEl>
                                        <p:attrNameLst>
                                          <p:attrName>ppt_x</p:attrName>
                                        </p:attrNameLst>
                                      </p:cBhvr>
                                      <p:tavLst>
                                        <p:tav tm="0">
                                          <p:val>
                                            <p:strVal val="#ppt_x"/>
                                          </p:val>
                                        </p:tav>
                                        <p:tav tm="100000">
                                          <p:val>
                                            <p:strVal val="#ppt_x"/>
                                          </p:val>
                                        </p:tav>
                                      </p:tavLst>
                                    </p:anim>
                                    <p:anim calcmode="lin" valueType="num">
                                      <p:cBhvr>
                                        <p:cTn id="9" dur="1000" fill="hold"/>
                                        <p:tgtEl>
                                          <p:spTgt spid="17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9"/>
                                        </p:tgtEl>
                                        <p:attrNameLst>
                                          <p:attrName>style.visibility</p:attrName>
                                        </p:attrNameLst>
                                      </p:cBhvr>
                                      <p:to>
                                        <p:strVal val="visible"/>
                                      </p:to>
                                    </p:set>
                                    <p:animEffect transition="in" filter="fade">
                                      <p:cBhvr>
                                        <p:cTn id="12" dur="1000"/>
                                        <p:tgtEl>
                                          <p:spTgt spid="179"/>
                                        </p:tgtEl>
                                      </p:cBhvr>
                                    </p:animEffect>
                                    <p:anim calcmode="lin" valueType="num">
                                      <p:cBhvr>
                                        <p:cTn id="13" dur="1000" fill="hold"/>
                                        <p:tgtEl>
                                          <p:spTgt spid="179"/>
                                        </p:tgtEl>
                                        <p:attrNameLst>
                                          <p:attrName>ppt_x</p:attrName>
                                        </p:attrNameLst>
                                      </p:cBhvr>
                                      <p:tavLst>
                                        <p:tav tm="0">
                                          <p:val>
                                            <p:strVal val="#ppt_x"/>
                                          </p:val>
                                        </p:tav>
                                        <p:tav tm="100000">
                                          <p:val>
                                            <p:strVal val="#ppt_x"/>
                                          </p:val>
                                        </p:tav>
                                      </p:tavLst>
                                    </p:anim>
                                    <p:anim calcmode="lin" valueType="num">
                                      <p:cBhvr>
                                        <p:cTn id="14" dur="1000" fill="hold"/>
                                        <p:tgtEl>
                                          <p:spTgt spid="179"/>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73"/>
                                        </p:tgtEl>
                                        <p:attrNameLst>
                                          <p:attrName>style.visibility</p:attrName>
                                        </p:attrNameLst>
                                      </p:cBhvr>
                                      <p:to>
                                        <p:strVal val="visible"/>
                                      </p:to>
                                    </p:set>
                                    <p:animEffect transition="in" filter="fade">
                                      <p:cBhvr>
                                        <p:cTn id="19" dur="1000"/>
                                        <p:tgtEl>
                                          <p:spTgt spid="173"/>
                                        </p:tgtEl>
                                      </p:cBhvr>
                                    </p:animEffect>
                                  </p:childTnLst>
                                </p:cTn>
                              </p:par>
                              <p:par>
                                <p:cTn id="20" presetID="10" presetClass="entr" presetSubtype="0" fill="hold" nodeType="withEffect">
                                  <p:stCondLst>
                                    <p:cond delay="0"/>
                                  </p:stCondLst>
                                  <p:childTnLst>
                                    <p:set>
                                      <p:cBhvr>
                                        <p:cTn id="21" dur="1" fill="hold">
                                          <p:stCondLst>
                                            <p:cond delay="0"/>
                                          </p:stCondLst>
                                        </p:cTn>
                                        <p:tgtEl>
                                          <p:spTgt spid="180"/>
                                        </p:tgtEl>
                                        <p:attrNameLst>
                                          <p:attrName>style.visibility</p:attrName>
                                        </p:attrNameLst>
                                      </p:cBhvr>
                                      <p:to>
                                        <p:strVal val="visible"/>
                                      </p:to>
                                    </p:set>
                                    <p:animEffect transition="in" filter="fade">
                                      <p:cBhvr>
                                        <p:cTn id="22" dur="10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204" name="Google Shape;204;p5"/>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Gill Sans"/>
              <a:buNone/>
            </a:pPr>
            <a:r>
              <a:rPr lang="en-US" cap="none">
                <a:solidFill>
                  <a:srgbClr val="0070C0"/>
                </a:solidFill>
              </a:rPr>
              <a:t>SHORT BREAKDOWN</a:t>
            </a:r>
            <a:endParaRPr/>
          </a:p>
        </p:txBody>
      </p:sp>
      <p:sp>
        <p:nvSpPr>
          <p:cNvPr id="205" name="Google Shape;205;p5"/>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pic>
        <p:nvPicPr>
          <p:cNvPr id="206" name="Google Shape;206;p5"/>
          <p:cNvPicPr preferRelativeResize="0"/>
          <p:nvPr/>
        </p:nvPicPr>
        <p:blipFill rotWithShape="1">
          <a:blip r:embed="rId3">
            <a:alphaModFix/>
          </a:blip>
          <a:srcRect/>
          <a:stretch/>
        </p:blipFill>
        <p:spPr>
          <a:xfrm>
            <a:off x="1070362" y="2333064"/>
            <a:ext cx="5625095" cy="2888494"/>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3137"/>
              </a:srgbClr>
            </a:outerShdw>
          </a:effectLst>
        </p:spPr>
      </p:pic>
      <p:graphicFrame>
        <p:nvGraphicFramePr>
          <p:cNvPr id="5" name="Diagram 4">
            <a:extLst>
              <a:ext uri="{FF2B5EF4-FFF2-40B4-BE49-F238E27FC236}">
                <a16:creationId xmlns:a16="http://schemas.microsoft.com/office/drawing/2014/main" id="{39BC6D16-E70D-4B84-40A8-DE90DA196918}"/>
              </a:ext>
            </a:extLst>
          </p:cNvPr>
          <p:cNvGraphicFramePr/>
          <p:nvPr>
            <p:extLst>
              <p:ext uri="{D42A27DB-BD31-4B8C-83A1-F6EECF244321}">
                <p14:modId xmlns:p14="http://schemas.microsoft.com/office/powerpoint/2010/main" val="2221705691"/>
              </p:ext>
            </p:extLst>
          </p:nvPr>
        </p:nvGraphicFramePr>
        <p:xfrm>
          <a:off x="7000240" y="2279276"/>
          <a:ext cx="4121397" cy="29422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Rectangle 1">
            <a:extLst>
              <a:ext uri="{FF2B5EF4-FFF2-40B4-BE49-F238E27FC236}">
                <a16:creationId xmlns:a16="http://schemas.microsoft.com/office/drawing/2014/main" id="{3C0B0E05-7A94-5127-A760-E11AEF27CBFE}"/>
              </a:ext>
            </a:extLst>
          </p:cNvPr>
          <p:cNvSpPr/>
          <p:nvPr/>
        </p:nvSpPr>
        <p:spPr>
          <a:xfrm>
            <a:off x="1046480" y="3495040"/>
            <a:ext cx="5648960" cy="3240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graphicEl>
                                              <a:dgm id="{3F9BB2B3-D9FC-43B0-8673-3222E90B3C6A}"/>
                                            </p:graphicEl>
                                          </p:spTgt>
                                        </p:tgtEl>
                                        <p:attrNameLst>
                                          <p:attrName>style.visibility</p:attrName>
                                        </p:attrNameLst>
                                      </p:cBhvr>
                                      <p:to>
                                        <p:strVal val="visible"/>
                                      </p:to>
                                    </p:set>
                                    <p:animEffect transition="in" filter="fade">
                                      <p:cBhvr>
                                        <p:cTn id="7" dur="1000"/>
                                        <p:tgtEl>
                                          <p:spTgt spid="5">
                                            <p:graphicEl>
                                              <a:dgm id="{3F9BB2B3-D9FC-43B0-8673-3222E90B3C6A}"/>
                                            </p:graphicEl>
                                          </p:spTgt>
                                        </p:tgtEl>
                                      </p:cBhvr>
                                    </p:animEffect>
                                    <p:anim calcmode="lin" valueType="num">
                                      <p:cBhvr>
                                        <p:cTn id="8" dur="1000" fill="hold"/>
                                        <p:tgtEl>
                                          <p:spTgt spid="5">
                                            <p:graphicEl>
                                              <a:dgm id="{3F9BB2B3-D9FC-43B0-8673-3222E90B3C6A}"/>
                                            </p:graphicEl>
                                          </p:spTgt>
                                        </p:tgtEl>
                                        <p:attrNameLst>
                                          <p:attrName>ppt_x</p:attrName>
                                        </p:attrNameLst>
                                      </p:cBhvr>
                                      <p:tavLst>
                                        <p:tav tm="0">
                                          <p:val>
                                            <p:strVal val="#ppt_x"/>
                                          </p:val>
                                        </p:tav>
                                        <p:tav tm="100000">
                                          <p:val>
                                            <p:strVal val="#ppt_x"/>
                                          </p:val>
                                        </p:tav>
                                      </p:tavLst>
                                    </p:anim>
                                    <p:anim calcmode="lin" valueType="num">
                                      <p:cBhvr>
                                        <p:cTn id="9" dur="1000" fill="hold"/>
                                        <p:tgtEl>
                                          <p:spTgt spid="5">
                                            <p:graphicEl>
                                              <a:dgm id="{3F9BB2B3-D9FC-43B0-8673-3222E90B3C6A}"/>
                                            </p:graphic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06"/>
                                        </p:tgtEl>
                                        <p:attrNameLst>
                                          <p:attrName>style.visibility</p:attrName>
                                        </p:attrNameLst>
                                      </p:cBhvr>
                                      <p:to>
                                        <p:strVal val="visible"/>
                                      </p:to>
                                    </p:set>
                                    <p:animEffect transition="in" filter="fade">
                                      <p:cBhvr>
                                        <p:cTn id="12" dur="1000"/>
                                        <p:tgtEl>
                                          <p:spTgt spid="206"/>
                                        </p:tgtEl>
                                      </p:cBhvr>
                                    </p:animEffect>
                                    <p:anim calcmode="lin" valueType="num">
                                      <p:cBhvr>
                                        <p:cTn id="13" dur="1000" fill="hold"/>
                                        <p:tgtEl>
                                          <p:spTgt spid="206"/>
                                        </p:tgtEl>
                                        <p:attrNameLst>
                                          <p:attrName>ppt_x</p:attrName>
                                        </p:attrNameLst>
                                      </p:cBhvr>
                                      <p:tavLst>
                                        <p:tav tm="0">
                                          <p:val>
                                            <p:strVal val="#ppt_x"/>
                                          </p:val>
                                        </p:tav>
                                        <p:tav tm="100000">
                                          <p:val>
                                            <p:strVal val="#ppt_x"/>
                                          </p:val>
                                        </p:tav>
                                      </p:tavLst>
                                    </p:anim>
                                    <p:anim calcmode="lin" valueType="num">
                                      <p:cBhvr>
                                        <p:cTn id="14" dur="1000" fill="hold"/>
                                        <p:tgtEl>
                                          <p:spTgt spid="20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
                                            <p:graphicEl>
                                              <a:dgm id="{8FC16B8A-AFEA-4BD4-9AB7-157B52FE99B7}"/>
                                            </p:graphicEl>
                                          </p:spTgt>
                                        </p:tgtEl>
                                        <p:attrNameLst>
                                          <p:attrName>style.visibility</p:attrName>
                                        </p:attrNameLst>
                                      </p:cBhvr>
                                      <p:to>
                                        <p:strVal val="visible"/>
                                      </p:to>
                                    </p:set>
                                    <p:animEffect transition="in" filter="fade">
                                      <p:cBhvr>
                                        <p:cTn id="24" dur="1000"/>
                                        <p:tgtEl>
                                          <p:spTgt spid="5">
                                            <p:graphicEl>
                                              <a:dgm id="{8FC16B8A-AFEA-4BD4-9AB7-157B52FE99B7}"/>
                                            </p:graphicEl>
                                          </p:spTgt>
                                        </p:tgtEl>
                                      </p:cBhvr>
                                    </p:animEffect>
                                    <p:anim calcmode="lin" valueType="num">
                                      <p:cBhvr>
                                        <p:cTn id="25" dur="1000" fill="hold"/>
                                        <p:tgtEl>
                                          <p:spTgt spid="5">
                                            <p:graphicEl>
                                              <a:dgm id="{8FC16B8A-AFEA-4BD4-9AB7-157B52FE99B7}"/>
                                            </p:graphicEl>
                                          </p:spTgt>
                                        </p:tgtEl>
                                        <p:attrNameLst>
                                          <p:attrName>ppt_x</p:attrName>
                                        </p:attrNameLst>
                                      </p:cBhvr>
                                      <p:tavLst>
                                        <p:tav tm="0">
                                          <p:val>
                                            <p:strVal val="#ppt_x"/>
                                          </p:val>
                                        </p:tav>
                                        <p:tav tm="100000">
                                          <p:val>
                                            <p:strVal val="#ppt_x"/>
                                          </p:val>
                                        </p:tav>
                                      </p:tavLst>
                                    </p:anim>
                                    <p:anim calcmode="lin" valueType="num">
                                      <p:cBhvr>
                                        <p:cTn id="26" dur="1000" fill="hold"/>
                                        <p:tgtEl>
                                          <p:spTgt spid="5">
                                            <p:graphicEl>
                                              <a:dgm id="{8FC16B8A-AFEA-4BD4-9AB7-157B52FE99B7}"/>
                                            </p:graphic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
                                            <p:graphicEl>
                                              <a:dgm id="{A3967E81-F7CA-442C-BA6A-C32E91202212}"/>
                                            </p:graphicEl>
                                          </p:spTgt>
                                        </p:tgtEl>
                                        <p:attrNameLst>
                                          <p:attrName>style.visibility</p:attrName>
                                        </p:attrNameLst>
                                      </p:cBhvr>
                                      <p:to>
                                        <p:strVal val="visible"/>
                                      </p:to>
                                    </p:set>
                                    <p:animEffect transition="in" filter="fade">
                                      <p:cBhvr>
                                        <p:cTn id="29" dur="1000"/>
                                        <p:tgtEl>
                                          <p:spTgt spid="5">
                                            <p:graphicEl>
                                              <a:dgm id="{A3967E81-F7CA-442C-BA6A-C32E91202212}"/>
                                            </p:graphicEl>
                                          </p:spTgt>
                                        </p:tgtEl>
                                      </p:cBhvr>
                                    </p:animEffect>
                                    <p:anim calcmode="lin" valueType="num">
                                      <p:cBhvr>
                                        <p:cTn id="30" dur="1000" fill="hold"/>
                                        <p:tgtEl>
                                          <p:spTgt spid="5">
                                            <p:graphicEl>
                                              <a:dgm id="{A3967E81-F7CA-442C-BA6A-C32E91202212}"/>
                                            </p:graphicEl>
                                          </p:spTgt>
                                        </p:tgtEl>
                                        <p:attrNameLst>
                                          <p:attrName>ppt_x</p:attrName>
                                        </p:attrNameLst>
                                      </p:cBhvr>
                                      <p:tavLst>
                                        <p:tav tm="0">
                                          <p:val>
                                            <p:strVal val="#ppt_x"/>
                                          </p:val>
                                        </p:tav>
                                        <p:tav tm="100000">
                                          <p:val>
                                            <p:strVal val="#ppt_x"/>
                                          </p:val>
                                        </p:tav>
                                      </p:tavLst>
                                    </p:anim>
                                    <p:anim calcmode="lin" valueType="num">
                                      <p:cBhvr>
                                        <p:cTn id="31" dur="1000" fill="hold"/>
                                        <p:tgtEl>
                                          <p:spTgt spid="5">
                                            <p:graphicEl>
                                              <a:dgm id="{A3967E81-F7CA-442C-BA6A-C32E91202212}"/>
                                            </p:graphic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5">
                                            <p:graphicEl>
                                              <a:dgm id="{1638E096-8881-4037-829E-73E622AD1236}"/>
                                            </p:graphicEl>
                                          </p:spTgt>
                                        </p:tgtEl>
                                        <p:attrNameLst>
                                          <p:attrName>style.visibility</p:attrName>
                                        </p:attrNameLst>
                                      </p:cBhvr>
                                      <p:to>
                                        <p:strVal val="visible"/>
                                      </p:to>
                                    </p:set>
                                    <p:animEffect transition="in" filter="fade">
                                      <p:cBhvr>
                                        <p:cTn id="36" dur="1000"/>
                                        <p:tgtEl>
                                          <p:spTgt spid="5">
                                            <p:graphicEl>
                                              <a:dgm id="{1638E096-8881-4037-829E-73E622AD1236}"/>
                                            </p:graphicEl>
                                          </p:spTgt>
                                        </p:tgtEl>
                                      </p:cBhvr>
                                    </p:animEffect>
                                    <p:anim calcmode="lin" valueType="num">
                                      <p:cBhvr>
                                        <p:cTn id="37" dur="1000" fill="hold"/>
                                        <p:tgtEl>
                                          <p:spTgt spid="5">
                                            <p:graphicEl>
                                              <a:dgm id="{1638E096-8881-4037-829E-73E622AD1236}"/>
                                            </p:graphicEl>
                                          </p:spTgt>
                                        </p:tgtEl>
                                        <p:attrNameLst>
                                          <p:attrName>ppt_x</p:attrName>
                                        </p:attrNameLst>
                                      </p:cBhvr>
                                      <p:tavLst>
                                        <p:tav tm="0">
                                          <p:val>
                                            <p:strVal val="#ppt_x"/>
                                          </p:val>
                                        </p:tav>
                                        <p:tav tm="100000">
                                          <p:val>
                                            <p:strVal val="#ppt_x"/>
                                          </p:val>
                                        </p:tav>
                                      </p:tavLst>
                                    </p:anim>
                                    <p:anim calcmode="lin" valueType="num">
                                      <p:cBhvr>
                                        <p:cTn id="38" dur="1000" fill="hold"/>
                                        <p:tgtEl>
                                          <p:spTgt spid="5">
                                            <p:graphicEl>
                                              <a:dgm id="{1638E096-8881-4037-829E-73E622AD1236}"/>
                                            </p:graphic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5">
                                            <p:graphicEl>
                                              <a:dgm id="{EEA984DE-0A0A-4BA3-B3E1-5E459D0C9D72}"/>
                                            </p:graphicEl>
                                          </p:spTgt>
                                        </p:tgtEl>
                                        <p:attrNameLst>
                                          <p:attrName>style.visibility</p:attrName>
                                        </p:attrNameLst>
                                      </p:cBhvr>
                                      <p:to>
                                        <p:strVal val="visible"/>
                                      </p:to>
                                    </p:set>
                                    <p:animEffect transition="in" filter="fade">
                                      <p:cBhvr>
                                        <p:cTn id="41" dur="1000"/>
                                        <p:tgtEl>
                                          <p:spTgt spid="5">
                                            <p:graphicEl>
                                              <a:dgm id="{EEA984DE-0A0A-4BA3-B3E1-5E459D0C9D72}"/>
                                            </p:graphicEl>
                                          </p:spTgt>
                                        </p:tgtEl>
                                      </p:cBhvr>
                                    </p:animEffect>
                                    <p:anim calcmode="lin" valueType="num">
                                      <p:cBhvr>
                                        <p:cTn id="42" dur="1000" fill="hold"/>
                                        <p:tgtEl>
                                          <p:spTgt spid="5">
                                            <p:graphicEl>
                                              <a:dgm id="{EEA984DE-0A0A-4BA3-B3E1-5E459D0C9D72}"/>
                                            </p:graphicEl>
                                          </p:spTgt>
                                        </p:tgtEl>
                                        <p:attrNameLst>
                                          <p:attrName>ppt_x</p:attrName>
                                        </p:attrNameLst>
                                      </p:cBhvr>
                                      <p:tavLst>
                                        <p:tav tm="0">
                                          <p:val>
                                            <p:strVal val="#ppt_x"/>
                                          </p:val>
                                        </p:tav>
                                        <p:tav tm="100000">
                                          <p:val>
                                            <p:strVal val="#ppt_x"/>
                                          </p:val>
                                        </p:tav>
                                      </p:tavLst>
                                    </p:anim>
                                    <p:anim calcmode="lin" valueType="num">
                                      <p:cBhvr>
                                        <p:cTn id="43" dur="1000" fill="hold"/>
                                        <p:tgtEl>
                                          <p:spTgt spid="5">
                                            <p:graphicEl>
                                              <a:dgm id="{EEA984DE-0A0A-4BA3-B3E1-5E459D0C9D72}"/>
                                            </p:graphic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5">
                                            <p:graphicEl>
                                              <a:dgm id="{BEF6B84A-611F-4287-B23E-5CE2153AAC77}"/>
                                            </p:graphicEl>
                                          </p:spTgt>
                                        </p:tgtEl>
                                        <p:attrNameLst>
                                          <p:attrName>style.visibility</p:attrName>
                                        </p:attrNameLst>
                                      </p:cBhvr>
                                      <p:to>
                                        <p:strVal val="visible"/>
                                      </p:to>
                                    </p:set>
                                    <p:animEffect transition="in" filter="fade">
                                      <p:cBhvr>
                                        <p:cTn id="48" dur="1000"/>
                                        <p:tgtEl>
                                          <p:spTgt spid="5">
                                            <p:graphicEl>
                                              <a:dgm id="{BEF6B84A-611F-4287-B23E-5CE2153AAC77}"/>
                                            </p:graphicEl>
                                          </p:spTgt>
                                        </p:tgtEl>
                                      </p:cBhvr>
                                    </p:animEffect>
                                    <p:anim calcmode="lin" valueType="num">
                                      <p:cBhvr>
                                        <p:cTn id="49" dur="1000" fill="hold"/>
                                        <p:tgtEl>
                                          <p:spTgt spid="5">
                                            <p:graphicEl>
                                              <a:dgm id="{BEF6B84A-611F-4287-B23E-5CE2153AAC77}"/>
                                            </p:graphicEl>
                                          </p:spTgt>
                                        </p:tgtEl>
                                        <p:attrNameLst>
                                          <p:attrName>ppt_x</p:attrName>
                                        </p:attrNameLst>
                                      </p:cBhvr>
                                      <p:tavLst>
                                        <p:tav tm="0">
                                          <p:val>
                                            <p:strVal val="#ppt_x"/>
                                          </p:val>
                                        </p:tav>
                                        <p:tav tm="100000">
                                          <p:val>
                                            <p:strVal val="#ppt_x"/>
                                          </p:val>
                                        </p:tav>
                                      </p:tavLst>
                                    </p:anim>
                                    <p:anim calcmode="lin" valueType="num">
                                      <p:cBhvr>
                                        <p:cTn id="50" dur="1000" fill="hold"/>
                                        <p:tgtEl>
                                          <p:spTgt spid="5">
                                            <p:graphicEl>
                                              <a:dgm id="{BEF6B84A-611F-4287-B23E-5CE2153AAC77}"/>
                                            </p:graphicEl>
                                          </p:spTgt>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5">
                                            <p:graphicEl>
                                              <a:dgm id="{D47AAE79-D356-4224-81B1-3DC300D2C85D}"/>
                                            </p:graphicEl>
                                          </p:spTgt>
                                        </p:tgtEl>
                                        <p:attrNameLst>
                                          <p:attrName>style.visibility</p:attrName>
                                        </p:attrNameLst>
                                      </p:cBhvr>
                                      <p:to>
                                        <p:strVal val="visible"/>
                                      </p:to>
                                    </p:set>
                                    <p:animEffect transition="in" filter="fade">
                                      <p:cBhvr>
                                        <p:cTn id="53" dur="1000"/>
                                        <p:tgtEl>
                                          <p:spTgt spid="5">
                                            <p:graphicEl>
                                              <a:dgm id="{D47AAE79-D356-4224-81B1-3DC300D2C85D}"/>
                                            </p:graphicEl>
                                          </p:spTgt>
                                        </p:tgtEl>
                                      </p:cBhvr>
                                    </p:animEffect>
                                    <p:anim calcmode="lin" valueType="num">
                                      <p:cBhvr>
                                        <p:cTn id="54" dur="1000" fill="hold"/>
                                        <p:tgtEl>
                                          <p:spTgt spid="5">
                                            <p:graphicEl>
                                              <a:dgm id="{D47AAE79-D356-4224-81B1-3DC300D2C85D}"/>
                                            </p:graphicEl>
                                          </p:spTgt>
                                        </p:tgtEl>
                                        <p:attrNameLst>
                                          <p:attrName>ppt_x</p:attrName>
                                        </p:attrNameLst>
                                      </p:cBhvr>
                                      <p:tavLst>
                                        <p:tav tm="0">
                                          <p:val>
                                            <p:strVal val="#ppt_x"/>
                                          </p:val>
                                        </p:tav>
                                        <p:tav tm="100000">
                                          <p:val>
                                            <p:strVal val="#ppt_x"/>
                                          </p:val>
                                        </p:tav>
                                      </p:tavLst>
                                    </p:anim>
                                    <p:anim calcmode="lin" valueType="num">
                                      <p:cBhvr>
                                        <p:cTn id="55" dur="1000" fill="hold"/>
                                        <p:tgtEl>
                                          <p:spTgt spid="5">
                                            <p:graphicEl>
                                              <a:dgm id="{D47AAE79-D356-4224-81B1-3DC300D2C85D}"/>
                                            </p:graphic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5">
                                            <p:graphicEl>
                                              <a:dgm id="{4F9F9CC1-CDFF-4B3B-BA8E-5D9AD19DE09D}"/>
                                            </p:graphicEl>
                                          </p:spTgt>
                                        </p:tgtEl>
                                        <p:attrNameLst>
                                          <p:attrName>style.visibility</p:attrName>
                                        </p:attrNameLst>
                                      </p:cBhvr>
                                      <p:to>
                                        <p:strVal val="visible"/>
                                      </p:to>
                                    </p:set>
                                    <p:animEffect transition="in" filter="fade">
                                      <p:cBhvr>
                                        <p:cTn id="60" dur="1000"/>
                                        <p:tgtEl>
                                          <p:spTgt spid="5">
                                            <p:graphicEl>
                                              <a:dgm id="{4F9F9CC1-CDFF-4B3B-BA8E-5D9AD19DE09D}"/>
                                            </p:graphicEl>
                                          </p:spTgt>
                                        </p:tgtEl>
                                      </p:cBhvr>
                                    </p:animEffect>
                                    <p:anim calcmode="lin" valueType="num">
                                      <p:cBhvr>
                                        <p:cTn id="61" dur="1000" fill="hold"/>
                                        <p:tgtEl>
                                          <p:spTgt spid="5">
                                            <p:graphicEl>
                                              <a:dgm id="{4F9F9CC1-CDFF-4B3B-BA8E-5D9AD19DE09D}"/>
                                            </p:graphicEl>
                                          </p:spTgt>
                                        </p:tgtEl>
                                        <p:attrNameLst>
                                          <p:attrName>ppt_x</p:attrName>
                                        </p:attrNameLst>
                                      </p:cBhvr>
                                      <p:tavLst>
                                        <p:tav tm="0">
                                          <p:val>
                                            <p:strVal val="#ppt_x"/>
                                          </p:val>
                                        </p:tav>
                                        <p:tav tm="100000">
                                          <p:val>
                                            <p:strVal val="#ppt_x"/>
                                          </p:val>
                                        </p:tav>
                                      </p:tavLst>
                                    </p:anim>
                                    <p:anim calcmode="lin" valueType="num">
                                      <p:cBhvr>
                                        <p:cTn id="62" dur="1000" fill="hold"/>
                                        <p:tgtEl>
                                          <p:spTgt spid="5">
                                            <p:graphicEl>
                                              <a:dgm id="{4F9F9CC1-CDFF-4B3B-BA8E-5D9AD19DE09D}"/>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4E50F-53F5-73A8-E136-BBF0B6C32A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589536-7C64-93F2-D29C-720578CF73F4}"/>
              </a:ext>
            </a:extLst>
          </p:cNvPr>
          <p:cNvSpPr>
            <a:spLocks noGrp="1"/>
          </p:cNvSpPr>
          <p:nvPr>
            <p:ph type="title"/>
          </p:nvPr>
        </p:nvSpPr>
        <p:spPr/>
        <p:txBody>
          <a:bodyPr anchor="ctr"/>
          <a:lstStyle/>
          <a:p>
            <a:r>
              <a:rPr lang="en-US" noProof="0" dirty="0">
                <a:solidFill>
                  <a:srgbClr val="0070C0"/>
                </a:solidFill>
              </a:rPr>
              <a:t>Initial Ponderations</a:t>
            </a:r>
          </a:p>
        </p:txBody>
      </p:sp>
      <p:graphicFrame>
        <p:nvGraphicFramePr>
          <p:cNvPr id="4" name="Content Placeholder 3">
            <a:extLst>
              <a:ext uri="{FF2B5EF4-FFF2-40B4-BE49-F238E27FC236}">
                <a16:creationId xmlns:a16="http://schemas.microsoft.com/office/drawing/2014/main" id="{55028750-857D-52EB-BADE-AF76A9075448}"/>
              </a:ext>
            </a:extLst>
          </p:cNvPr>
          <p:cNvGraphicFramePr>
            <a:graphicFrameLocks noGrp="1"/>
          </p:cNvGraphicFramePr>
          <p:nvPr>
            <p:ph idx="1"/>
            <p:extLst>
              <p:ext uri="{D42A27DB-BD31-4B8C-83A1-F6EECF244321}">
                <p14:modId xmlns:p14="http://schemas.microsoft.com/office/powerpoint/2010/main" val="1378038944"/>
              </p:ext>
            </p:extLst>
          </p:nvPr>
        </p:nvGraphicFramePr>
        <p:xfrm>
          <a:off x="1451579" y="1952836"/>
          <a:ext cx="9603275" cy="3960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452507BF-96B1-A82F-228C-9781590340A6}"/>
              </a:ext>
            </a:extLst>
          </p:cNvPr>
          <p:cNvSpPr>
            <a:spLocks noGrp="1"/>
          </p:cNvSpPr>
          <p:nvPr>
            <p:ph type="sldNum" sz="quarter" idx="12"/>
          </p:nvPr>
        </p:nvSpPr>
        <p:spPr/>
        <p:txBody>
          <a:bodyPr/>
          <a:lstStyle/>
          <a:p>
            <a:fld id="{4B6C4912-404C-4485-8EFA-CDFD730854F7}" type="slidenum">
              <a:rPr lang="en-US" noProof="0" smtClean="0"/>
              <a:t>6</a:t>
            </a:fld>
            <a:endParaRPr lang="en-US" noProof="0" dirty="0"/>
          </a:p>
        </p:txBody>
      </p:sp>
    </p:spTree>
    <p:extLst>
      <p:ext uri="{BB962C8B-B14F-4D97-AF65-F5344CB8AC3E}">
        <p14:creationId xmlns:p14="http://schemas.microsoft.com/office/powerpoint/2010/main" val="1743808728"/>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graphicEl>
                                              <a:dgm id="{00A59E64-62DD-4626-83E7-739349EFF351}"/>
                                            </p:graphicEl>
                                          </p:spTgt>
                                        </p:tgtEl>
                                        <p:attrNameLst>
                                          <p:attrName>style.visibility</p:attrName>
                                        </p:attrNameLst>
                                      </p:cBhvr>
                                      <p:to>
                                        <p:strVal val="visible"/>
                                      </p:to>
                                    </p:set>
                                    <p:animEffect transition="in" filter="barn(inVertical)">
                                      <p:cBhvr>
                                        <p:cTn id="7" dur="500"/>
                                        <p:tgtEl>
                                          <p:spTgt spid="4">
                                            <p:graphicEl>
                                              <a:dgm id="{00A59E64-62DD-4626-83E7-739349EFF351}"/>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graphicEl>
                                              <a:dgm id="{F1DD6A9E-F460-4BCE-A57C-826B62E185B0}"/>
                                            </p:graphicEl>
                                          </p:spTgt>
                                        </p:tgtEl>
                                        <p:attrNameLst>
                                          <p:attrName>style.visibility</p:attrName>
                                        </p:attrNameLst>
                                      </p:cBhvr>
                                      <p:to>
                                        <p:strVal val="visible"/>
                                      </p:to>
                                    </p:set>
                                    <p:animEffect transition="in" filter="barn(inVertical)">
                                      <p:cBhvr>
                                        <p:cTn id="12" dur="500"/>
                                        <p:tgtEl>
                                          <p:spTgt spid="4">
                                            <p:graphicEl>
                                              <a:dgm id="{F1DD6A9E-F460-4BCE-A57C-826B62E185B0}"/>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graphicEl>
                                              <a:dgm id="{6A2A8A08-2D32-425F-AE28-FC004BADAF05}"/>
                                            </p:graphicEl>
                                          </p:spTgt>
                                        </p:tgtEl>
                                        <p:attrNameLst>
                                          <p:attrName>style.visibility</p:attrName>
                                        </p:attrNameLst>
                                      </p:cBhvr>
                                      <p:to>
                                        <p:strVal val="visible"/>
                                      </p:to>
                                    </p:set>
                                    <p:animEffect transition="in" filter="barn(inVertical)">
                                      <p:cBhvr>
                                        <p:cTn id="17" dur="500"/>
                                        <p:tgtEl>
                                          <p:spTgt spid="4">
                                            <p:graphicEl>
                                              <a:dgm id="{6A2A8A08-2D32-425F-AE28-FC004BADAF05}"/>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graphicEl>
                                              <a:dgm id="{C588DB26-1D34-490D-B6E6-1F24E1CF9ABF}"/>
                                            </p:graphicEl>
                                          </p:spTgt>
                                        </p:tgtEl>
                                        <p:attrNameLst>
                                          <p:attrName>style.visibility</p:attrName>
                                        </p:attrNameLst>
                                      </p:cBhvr>
                                      <p:to>
                                        <p:strVal val="visible"/>
                                      </p:to>
                                    </p:set>
                                    <p:animEffect transition="in" filter="barn(inVertical)">
                                      <p:cBhvr>
                                        <p:cTn id="22" dur="500"/>
                                        <p:tgtEl>
                                          <p:spTgt spid="4">
                                            <p:graphicEl>
                                              <a:dgm id="{C588DB26-1D34-490D-B6E6-1F24E1CF9ABF}"/>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graphicEl>
                                              <a:dgm id="{57FDA712-4895-456A-BB6B-F288AC6F6557}"/>
                                            </p:graphicEl>
                                          </p:spTgt>
                                        </p:tgtEl>
                                        <p:attrNameLst>
                                          <p:attrName>style.visibility</p:attrName>
                                        </p:attrNameLst>
                                      </p:cBhvr>
                                      <p:to>
                                        <p:strVal val="visible"/>
                                      </p:to>
                                    </p:set>
                                    <p:animEffect transition="in" filter="barn(inVertical)">
                                      <p:cBhvr>
                                        <p:cTn id="27" dur="500"/>
                                        <p:tgtEl>
                                          <p:spTgt spid="4">
                                            <p:graphicEl>
                                              <a:dgm id="{57FDA712-4895-456A-BB6B-F288AC6F655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One glowing light bulb in sea of unlit bulbs">
            <a:extLst>
              <a:ext uri="{FF2B5EF4-FFF2-40B4-BE49-F238E27FC236}">
                <a16:creationId xmlns:a16="http://schemas.microsoft.com/office/drawing/2014/main" id="{B595A035-EE28-40E0-1A35-E8DE9EB1FD73}"/>
              </a:ext>
            </a:extLst>
          </p:cNvPr>
          <p:cNvPicPr>
            <a:picLocks noChangeAspect="1"/>
          </p:cNvPicPr>
          <p:nvPr/>
        </p:nvPicPr>
        <p:blipFill>
          <a:blip r:embed="rId3">
            <a:duotone>
              <a:prstClr val="black"/>
              <a:srgbClr val="D9C3A5">
                <a:tint val="50000"/>
                <a:satMod val="180000"/>
              </a:srgbClr>
            </a:duotone>
            <a:alphaModFix amt="50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0"/>
            <a:ext cx="12192000" cy="612930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itle 1">
            <a:extLst>
              <a:ext uri="{FF2B5EF4-FFF2-40B4-BE49-F238E27FC236}">
                <a16:creationId xmlns:a16="http://schemas.microsoft.com/office/drawing/2014/main" id="{A58F392B-7E70-3A89-FFDA-68A78F7790C2}"/>
              </a:ext>
            </a:extLst>
          </p:cNvPr>
          <p:cNvSpPr>
            <a:spLocks noGrp="1"/>
          </p:cNvSpPr>
          <p:nvPr>
            <p:ph type="title"/>
          </p:nvPr>
        </p:nvSpPr>
        <p:spPr/>
        <p:txBody>
          <a:bodyPr anchor="ctr"/>
          <a:lstStyle/>
          <a:p>
            <a:r>
              <a:rPr lang="en-US" noProof="0" dirty="0">
                <a:solidFill>
                  <a:srgbClr val="0070C0"/>
                </a:solidFill>
              </a:rPr>
              <a:t>Solution</a:t>
            </a:r>
            <a:r>
              <a:rPr lang="tr-TR" noProof="0" dirty="0">
                <a:solidFill>
                  <a:srgbClr val="0070C0"/>
                </a:solidFill>
              </a:rPr>
              <a:t>s</a:t>
            </a:r>
            <a:r>
              <a:rPr lang="en-US" noProof="0" dirty="0">
                <a:solidFill>
                  <a:srgbClr val="0070C0"/>
                </a:solidFill>
              </a:rPr>
              <a:t> – 1 </a:t>
            </a:r>
            <a:r>
              <a:rPr lang="en-US" b="1" noProof="0" dirty="0">
                <a:solidFill>
                  <a:srgbClr val="0070C0"/>
                </a:solidFill>
              </a:rPr>
              <a:t>Sales and Warehousing</a:t>
            </a:r>
          </a:p>
        </p:txBody>
      </p:sp>
      <p:graphicFrame>
        <p:nvGraphicFramePr>
          <p:cNvPr id="6" name="Content Placeholder 5">
            <a:extLst>
              <a:ext uri="{FF2B5EF4-FFF2-40B4-BE49-F238E27FC236}">
                <a16:creationId xmlns:a16="http://schemas.microsoft.com/office/drawing/2014/main" id="{48590835-C409-7C60-D0A7-D9E2D1B618D2}"/>
              </a:ext>
            </a:extLst>
          </p:cNvPr>
          <p:cNvGraphicFramePr>
            <a:graphicFrameLocks noGrp="1"/>
          </p:cNvGraphicFramePr>
          <p:nvPr>
            <p:ph idx="1"/>
            <p:extLst>
              <p:ext uri="{D42A27DB-BD31-4B8C-83A1-F6EECF244321}">
                <p14:modId xmlns:p14="http://schemas.microsoft.com/office/powerpoint/2010/main" val="465872125"/>
              </p:ext>
            </p:extLst>
          </p:nvPr>
        </p:nvGraphicFramePr>
        <p:xfrm>
          <a:off x="838200" y="1664804"/>
          <a:ext cx="10515600" cy="420083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 name="Slide Number Placeholder 1">
            <a:extLst>
              <a:ext uri="{FF2B5EF4-FFF2-40B4-BE49-F238E27FC236}">
                <a16:creationId xmlns:a16="http://schemas.microsoft.com/office/drawing/2014/main" id="{6E417EEE-18A6-F43F-7E2D-8A4F3C8FD144}"/>
              </a:ext>
            </a:extLst>
          </p:cNvPr>
          <p:cNvSpPr>
            <a:spLocks noGrp="1"/>
          </p:cNvSpPr>
          <p:nvPr>
            <p:ph type="sldNum" sz="quarter" idx="12"/>
          </p:nvPr>
        </p:nvSpPr>
        <p:spPr/>
        <p:txBody>
          <a:bodyPr/>
          <a:lstStyle/>
          <a:p>
            <a:fld id="{4B6C4912-404C-4485-8EFA-CDFD730854F7}" type="slidenum">
              <a:rPr lang="en-US" noProof="0" smtClean="0"/>
              <a:t>7</a:t>
            </a:fld>
            <a:endParaRPr lang="en-US" noProof="0" dirty="0"/>
          </a:p>
        </p:txBody>
      </p:sp>
    </p:spTree>
    <p:extLst>
      <p:ext uri="{BB962C8B-B14F-4D97-AF65-F5344CB8AC3E}">
        <p14:creationId xmlns:p14="http://schemas.microsoft.com/office/powerpoint/2010/main" val="3516716032"/>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6">
                                            <p:graphicEl>
                                              <a:dgm id="{CE17D6F5-7BA6-4B3C-8690-9163952A13AD}"/>
                                            </p:graphicEl>
                                          </p:spTgt>
                                        </p:tgtEl>
                                        <p:attrNameLst>
                                          <p:attrName>style.visibility</p:attrName>
                                        </p:attrNameLst>
                                      </p:cBhvr>
                                      <p:to>
                                        <p:strVal val="visible"/>
                                      </p:to>
                                    </p:set>
                                    <p:animEffect transition="in" filter="circle(out)">
                                      <p:cBhvr>
                                        <p:cTn id="7" dur="2000"/>
                                        <p:tgtEl>
                                          <p:spTgt spid="6">
                                            <p:graphicEl>
                                              <a:dgm id="{CE17D6F5-7BA6-4B3C-8690-9163952A13AD}"/>
                                            </p:graphicEl>
                                          </p:spTgt>
                                        </p:tgtEl>
                                      </p:cBhvr>
                                    </p:animEffect>
                                  </p:childTnLst>
                                </p:cTn>
                              </p:par>
                              <p:par>
                                <p:cTn id="8" presetID="6" presetClass="entr" presetSubtype="32" fill="hold" grpId="0" nodeType="withEffect">
                                  <p:stCondLst>
                                    <p:cond delay="0"/>
                                  </p:stCondLst>
                                  <p:childTnLst>
                                    <p:set>
                                      <p:cBhvr>
                                        <p:cTn id="9" dur="1" fill="hold">
                                          <p:stCondLst>
                                            <p:cond delay="0"/>
                                          </p:stCondLst>
                                        </p:cTn>
                                        <p:tgtEl>
                                          <p:spTgt spid="6">
                                            <p:graphicEl>
                                              <a:dgm id="{85056EE5-9BCD-4A2E-BB8B-8CCF5E030FF8}"/>
                                            </p:graphicEl>
                                          </p:spTgt>
                                        </p:tgtEl>
                                        <p:attrNameLst>
                                          <p:attrName>style.visibility</p:attrName>
                                        </p:attrNameLst>
                                      </p:cBhvr>
                                      <p:to>
                                        <p:strVal val="visible"/>
                                      </p:to>
                                    </p:set>
                                    <p:animEffect transition="in" filter="circle(out)">
                                      <p:cBhvr>
                                        <p:cTn id="10" dur="2000"/>
                                        <p:tgtEl>
                                          <p:spTgt spid="6">
                                            <p:graphicEl>
                                              <a:dgm id="{85056EE5-9BCD-4A2E-BB8B-8CCF5E030FF8}"/>
                                            </p:graphic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32" fill="hold" grpId="0" nodeType="clickEffect">
                                  <p:stCondLst>
                                    <p:cond delay="0"/>
                                  </p:stCondLst>
                                  <p:childTnLst>
                                    <p:set>
                                      <p:cBhvr>
                                        <p:cTn id="14" dur="1" fill="hold">
                                          <p:stCondLst>
                                            <p:cond delay="0"/>
                                          </p:stCondLst>
                                        </p:cTn>
                                        <p:tgtEl>
                                          <p:spTgt spid="6">
                                            <p:graphicEl>
                                              <a:dgm id="{B27A4289-3344-4646-9F03-48C00B6A5876}"/>
                                            </p:graphicEl>
                                          </p:spTgt>
                                        </p:tgtEl>
                                        <p:attrNameLst>
                                          <p:attrName>style.visibility</p:attrName>
                                        </p:attrNameLst>
                                      </p:cBhvr>
                                      <p:to>
                                        <p:strVal val="visible"/>
                                      </p:to>
                                    </p:set>
                                    <p:animEffect transition="in" filter="circle(out)">
                                      <p:cBhvr>
                                        <p:cTn id="15" dur="2000"/>
                                        <p:tgtEl>
                                          <p:spTgt spid="6">
                                            <p:graphicEl>
                                              <a:dgm id="{B27A4289-3344-4646-9F03-48C00B6A5876}"/>
                                            </p:graphicEl>
                                          </p:spTgt>
                                        </p:tgtEl>
                                      </p:cBhvr>
                                    </p:animEffect>
                                  </p:childTnLst>
                                </p:cTn>
                              </p:par>
                              <p:par>
                                <p:cTn id="16" presetID="6" presetClass="entr" presetSubtype="32" fill="hold" grpId="0" nodeType="withEffect">
                                  <p:stCondLst>
                                    <p:cond delay="0"/>
                                  </p:stCondLst>
                                  <p:childTnLst>
                                    <p:set>
                                      <p:cBhvr>
                                        <p:cTn id="17" dur="1" fill="hold">
                                          <p:stCondLst>
                                            <p:cond delay="0"/>
                                          </p:stCondLst>
                                        </p:cTn>
                                        <p:tgtEl>
                                          <p:spTgt spid="6">
                                            <p:graphicEl>
                                              <a:dgm id="{65ED0903-0594-4F49-B9D2-C32E43706054}"/>
                                            </p:graphicEl>
                                          </p:spTgt>
                                        </p:tgtEl>
                                        <p:attrNameLst>
                                          <p:attrName>style.visibility</p:attrName>
                                        </p:attrNameLst>
                                      </p:cBhvr>
                                      <p:to>
                                        <p:strVal val="visible"/>
                                      </p:to>
                                    </p:set>
                                    <p:animEffect transition="in" filter="circle(out)">
                                      <p:cBhvr>
                                        <p:cTn id="18" dur="2000"/>
                                        <p:tgtEl>
                                          <p:spTgt spid="6">
                                            <p:graphicEl>
                                              <a:dgm id="{65ED0903-0594-4F49-B9D2-C32E43706054}"/>
                                            </p:graphicEl>
                                          </p:spTgt>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32" fill="hold" grpId="0" nodeType="clickEffect">
                                  <p:stCondLst>
                                    <p:cond delay="0"/>
                                  </p:stCondLst>
                                  <p:childTnLst>
                                    <p:set>
                                      <p:cBhvr>
                                        <p:cTn id="22" dur="1" fill="hold">
                                          <p:stCondLst>
                                            <p:cond delay="0"/>
                                          </p:stCondLst>
                                        </p:cTn>
                                        <p:tgtEl>
                                          <p:spTgt spid="6">
                                            <p:graphicEl>
                                              <a:dgm id="{0EF7D131-F2AA-4F5C-947A-11BB33B9A7AC}"/>
                                            </p:graphicEl>
                                          </p:spTgt>
                                        </p:tgtEl>
                                        <p:attrNameLst>
                                          <p:attrName>style.visibility</p:attrName>
                                        </p:attrNameLst>
                                      </p:cBhvr>
                                      <p:to>
                                        <p:strVal val="visible"/>
                                      </p:to>
                                    </p:set>
                                    <p:animEffect transition="in" filter="circle(out)">
                                      <p:cBhvr>
                                        <p:cTn id="23" dur="2000"/>
                                        <p:tgtEl>
                                          <p:spTgt spid="6">
                                            <p:graphicEl>
                                              <a:dgm id="{0EF7D131-F2AA-4F5C-947A-11BB33B9A7AC}"/>
                                            </p:graphicEl>
                                          </p:spTgt>
                                        </p:tgtEl>
                                      </p:cBhvr>
                                    </p:animEffect>
                                  </p:childTnLst>
                                </p:cTn>
                              </p:par>
                              <p:par>
                                <p:cTn id="24" presetID="6" presetClass="entr" presetSubtype="32" fill="hold" grpId="0" nodeType="withEffect">
                                  <p:stCondLst>
                                    <p:cond delay="0"/>
                                  </p:stCondLst>
                                  <p:childTnLst>
                                    <p:set>
                                      <p:cBhvr>
                                        <p:cTn id="25" dur="1" fill="hold">
                                          <p:stCondLst>
                                            <p:cond delay="0"/>
                                          </p:stCondLst>
                                        </p:cTn>
                                        <p:tgtEl>
                                          <p:spTgt spid="6">
                                            <p:graphicEl>
                                              <a:dgm id="{E93960B8-A907-4EE5-93A2-107D8803A47D}"/>
                                            </p:graphicEl>
                                          </p:spTgt>
                                        </p:tgtEl>
                                        <p:attrNameLst>
                                          <p:attrName>style.visibility</p:attrName>
                                        </p:attrNameLst>
                                      </p:cBhvr>
                                      <p:to>
                                        <p:strVal val="visible"/>
                                      </p:to>
                                    </p:set>
                                    <p:animEffect transition="in" filter="circle(out)">
                                      <p:cBhvr>
                                        <p:cTn id="26" dur="2000"/>
                                        <p:tgtEl>
                                          <p:spTgt spid="6">
                                            <p:graphicEl>
                                              <a:dgm id="{E93960B8-A907-4EE5-93A2-107D8803A47D}"/>
                                            </p:graphicEl>
                                          </p:spTgt>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32" fill="hold" grpId="0" nodeType="clickEffect">
                                  <p:stCondLst>
                                    <p:cond delay="0"/>
                                  </p:stCondLst>
                                  <p:childTnLst>
                                    <p:set>
                                      <p:cBhvr>
                                        <p:cTn id="30" dur="1" fill="hold">
                                          <p:stCondLst>
                                            <p:cond delay="0"/>
                                          </p:stCondLst>
                                        </p:cTn>
                                        <p:tgtEl>
                                          <p:spTgt spid="6">
                                            <p:graphicEl>
                                              <a:dgm id="{F3CDFFBA-12FD-44B9-8143-619EF30B562A}"/>
                                            </p:graphicEl>
                                          </p:spTgt>
                                        </p:tgtEl>
                                        <p:attrNameLst>
                                          <p:attrName>style.visibility</p:attrName>
                                        </p:attrNameLst>
                                      </p:cBhvr>
                                      <p:to>
                                        <p:strVal val="visible"/>
                                      </p:to>
                                    </p:set>
                                    <p:animEffect transition="in" filter="circle(out)">
                                      <p:cBhvr>
                                        <p:cTn id="31" dur="2000"/>
                                        <p:tgtEl>
                                          <p:spTgt spid="6">
                                            <p:graphicEl>
                                              <a:dgm id="{F3CDFFBA-12FD-44B9-8143-619EF30B562A}"/>
                                            </p:graphicEl>
                                          </p:spTgt>
                                        </p:tgtEl>
                                      </p:cBhvr>
                                    </p:animEffect>
                                  </p:childTnLst>
                                </p:cTn>
                              </p:par>
                              <p:par>
                                <p:cTn id="32" presetID="6" presetClass="entr" presetSubtype="32" fill="hold" grpId="0" nodeType="withEffect">
                                  <p:stCondLst>
                                    <p:cond delay="0"/>
                                  </p:stCondLst>
                                  <p:childTnLst>
                                    <p:set>
                                      <p:cBhvr>
                                        <p:cTn id="33" dur="1" fill="hold">
                                          <p:stCondLst>
                                            <p:cond delay="0"/>
                                          </p:stCondLst>
                                        </p:cTn>
                                        <p:tgtEl>
                                          <p:spTgt spid="6">
                                            <p:graphicEl>
                                              <a:dgm id="{62A67B71-35CB-4B9F-8B11-633A42E1DF3C}"/>
                                            </p:graphicEl>
                                          </p:spTgt>
                                        </p:tgtEl>
                                        <p:attrNameLst>
                                          <p:attrName>style.visibility</p:attrName>
                                        </p:attrNameLst>
                                      </p:cBhvr>
                                      <p:to>
                                        <p:strVal val="visible"/>
                                      </p:to>
                                    </p:set>
                                    <p:animEffect transition="in" filter="circle(out)">
                                      <p:cBhvr>
                                        <p:cTn id="34" dur="2000"/>
                                        <p:tgtEl>
                                          <p:spTgt spid="6">
                                            <p:graphicEl>
                                              <a:dgm id="{62A67B71-35CB-4B9F-8B11-633A42E1DF3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8" descr="One glowing light bulb in sea of unlit bulbs"/>
          <p:cNvPicPr preferRelativeResize="0"/>
          <p:nvPr/>
        </p:nvPicPr>
        <p:blipFill rotWithShape="1">
          <a:blip r:embed="rId3">
            <a:alphaModFix amt="50000"/>
          </a:blip>
          <a:srcRect/>
          <a:stretch/>
        </p:blipFill>
        <p:spPr>
          <a:xfrm>
            <a:off x="0" y="0"/>
            <a:ext cx="12192000" cy="6129300"/>
          </a:xfrm>
          <a:prstGeom prst="rect">
            <a:avLst/>
          </a:prstGeom>
          <a:solidFill>
            <a:srgbClr val="ECECEC"/>
          </a:solidFill>
          <a:ln>
            <a:noFill/>
          </a:ln>
          <a:effectLst>
            <a:outerShdw blurRad="55000" dist="18000" dir="5400000" algn="tl" rotWithShape="0">
              <a:srgbClr val="000000">
                <a:alpha val="40000"/>
              </a:srgbClr>
            </a:outerShdw>
          </a:effectLst>
        </p:spPr>
      </p:pic>
      <p:sp>
        <p:nvSpPr>
          <p:cNvPr id="256" name="Google Shape;256;p8"/>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Gill Sans"/>
              <a:buNone/>
            </a:pPr>
            <a:r>
              <a:rPr lang="en-US" dirty="0">
                <a:solidFill>
                  <a:srgbClr val="0070C0"/>
                </a:solidFill>
              </a:rPr>
              <a:t>S</a:t>
            </a:r>
            <a:r>
              <a:rPr lang="tr-TR" dirty="0" err="1">
                <a:solidFill>
                  <a:srgbClr val="0070C0"/>
                </a:solidFill>
              </a:rPr>
              <a:t>olutions</a:t>
            </a:r>
            <a:r>
              <a:rPr lang="en-US" dirty="0">
                <a:solidFill>
                  <a:srgbClr val="0070C0"/>
                </a:solidFill>
              </a:rPr>
              <a:t> – 2 </a:t>
            </a:r>
            <a:r>
              <a:rPr lang="en-US" b="1" dirty="0">
                <a:solidFill>
                  <a:srgbClr val="0070C0"/>
                </a:solidFill>
              </a:rPr>
              <a:t>T</a:t>
            </a:r>
            <a:r>
              <a:rPr lang="tr-TR" b="1" dirty="0" err="1">
                <a:solidFill>
                  <a:srgbClr val="0070C0"/>
                </a:solidFill>
              </a:rPr>
              <a:t>ransportation</a:t>
            </a:r>
            <a:endParaRPr dirty="0"/>
          </a:p>
        </p:txBody>
      </p:sp>
      <p:grpSp>
        <p:nvGrpSpPr>
          <p:cNvPr id="257" name="Google Shape;257;p8"/>
          <p:cNvGrpSpPr/>
          <p:nvPr/>
        </p:nvGrpSpPr>
        <p:grpSpPr>
          <a:xfrm>
            <a:off x="1260922" y="1700674"/>
            <a:ext cx="9479498" cy="3924599"/>
            <a:chOff x="123776" y="-134"/>
            <a:chExt cx="9479498" cy="3924599"/>
          </a:xfrm>
        </p:grpSpPr>
        <p:sp>
          <p:nvSpPr>
            <p:cNvPr id="258" name="Google Shape;258;p8"/>
            <p:cNvSpPr/>
            <p:nvPr/>
          </p:nvSpPr>
          <p:spPr>
            <a:xfrm rot="9355938">
              <a:off x="1806219" y="2401177"/>
              <a:ext cx="1151759" cy="26982"/>
            </a:xfrm>
            <a:custGeom>
              <a:avLst/>
              <a:gdLst/>
              <a:ahLst/>
              <a:cxnLst/>
              <a:rect l="l" t="t" r="r" b="b"/>
              <a:pathLst>
                <a:path w="120000" h="120000" extrusionOk="0">
                  <a:moveTo>
                    <a:pt x="0" y="60000"/>
                  </a:moveTo>
                  <a:lnTo>
                    <a:pt x="120000" y="60000"/>
                  </a:lnTo>
                </a:path>
              </a:pathLst>
            </a:custGeom>
            <a:noFill/>
            <a:ln w="15875" cap="flat" cmpd="sng">
              <a:solidFill>
                <a:srgbClr val="A4193A"/>
              </a:solidFill>
              <a:prstDash val="solid"/>
              <a:round/>
              <a:headEnd type="none" w="sm" len="sm"/>
              <a:tailEnd type="none" w="sm" len="sm"/>
            </a:ln>
          </p:spPr>
        </p:sp>
        <p:sp>
          <p:nvSpPr>
            <p:cNvPr id="259" name="Google Shape;259;p8"/>
            <p:cNvSpPr/>
            <p:nvPr/>
          </p:nvSpPr>
          <p:spPr>
            <a:xfrm rot="673578">
              <a:off x="3877622" y="2427711"/>
              <a:ext cx="3969721" cy="26982"/>
            </a:xfrm>
            <a:custGeom>
              <a:avLst/>
              <a:gdLst/>
              <a:ahLst/>
              <a:cxnLst/>
              <a:rect l="l" t="t" r="r" b="b"/>
              <a:pathLst>
                <a:path w="120000" h="120000" extrusionOk="0">
                  <a:moveTo>
                    <a:pt x="0" y="60000"/>
                  </a:moveTo>
                  <a:lnTo>
                    <a:pt x="120000" y="60000"/>
                  </a:lnTo>
                </a:path>
              </a:pathLst>
            </a:custGeom>
            <a:noFill/>
            <a:ln w="15875" cap="flat" cmpd="sng">
              <a:solidFill>
                <a:srgbClr val="A4193A"/>
              </a:solidFill>
              <a:prstDash val="solid"/>
              <a:round/>
              <a:headEnd type="none" w="sm" len="sm"/>
              <a:tailEnd type="none" w="sm" len="sm"/>
            </a:ln>
          </p:spPr>
        </p:sp>
        <p:sp>
          <p:nvSpPr>
            <p:cNvPr id="260" name="Google Shape;260;p8"/>
            <p:cNvSpPr/>
            <p:nvPr/>
          </p:nvSpPr>
          <p:spPr>
            <a:xfrm rot="-673578">
              <a:off x="3877622" y="1454859"/>
              <a:ext cx="3969721" cy="26982"/>
            </a:xfrm>
            <a:custGeom>
              <a:avLst/>
              <a:gdLst/>
              <a:ahLst/>
              <a:cxnLst/>
              <a:rect l="l" t="t" r="r" b="b"/>
              <a:pathLst>
                <a:path w="120000" h="120000" extrusionOk="0">
                  <a:moveTo>
                    <a:pt x="0" y="60000"/>
                  </a:moveTo>
                  <a:lnTo>
                    <a:pt x="120000" y="60000"/>
                  </a:lnTo>
                </a:path>
              </a:pathLst>
            </a:custGeom>
            <a:noFill/>
            <a:ln w="15875" cap="flat" cmpd="sng">
              <a:solidFill>
                <a:srgbClr val="A4193A"/>
              </a:solidFill>
              <a:prstDash val="solid"/>
              <a:round/>
              <a:headEnd type="none" w="sm" len="sm"/>
              <a:tailEnd type="none" w="sm" len="sm"/>
            </a:ln>
          </p:spPr>
        </p:sp>
        <p:sp>
          <p:nvSpPr>
            <p:cNvPr id="261" name="Google Shape;261;p8"/>
            <p:cNvSpPr/>
            <p:nvPr/>
          </p:nvSpPr>
          <p:spPr>
            <a:xfrm rot="-9373758">
              <a:off x="1809533" y="1488199"/>
              <a:ext cx="1147034" cy="26982"/>
            </a:xfrm>
            <a:custGeom>
              <a:avLst/>
              <a:gdLst/>
              <a:ahLst/>
              <a:cxnLst/>
              <a:rect l="l" t="t" r="r" b="b"/>
              <a:pathLst>
                <a:path w="120000" h="120000" extrusionOk="0">
                  <a:moveTo>
                    <a:pt x="0" y="60000"/>
                  </a:moveTo>
                  <a:lnTo>
                    <a:pt x="120000" y="60000"/>
                  </a:lnTo>
                </a:path>
              </a:pathLst>
            </a:custGeom>
            <a:noFill/>
            <a:ln w="15875" cap="flat" cmpd="sng">
              <a:solidFill>
                <a:srgbClr val="A4193A"/>
              </a:solidFill>
              <a:prstDash val="solid"/>
              <a:round/>
              <a:headEnd type="none" w="sm" len="sm"/>
              <a:tailEnd type="none" w="sm" len="sm"/>
            </a:ln>
          </p:spPr>
        </p:sp>
        <p:sp>
          <p:nvSpPr>
            <p:cNvPr id="262" name="Google Shape;262;p8"/>
            <p:cNvSpPr/>
            <p:nvPr/>
          </p:nvSpPr>
          <p:spPr>
            <a:xfrm>
              <a:off x="2878367" y="964601"/>
              <a:ext cx="2027884" cy="2027884"/>
            </a:xfrm>
            <a:prstGeom prst="ellipse">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123776" y="-134"/>
              <a:ext cx="1811237" cy="1811237"/>
            </a:xfrm>
            <a:prstGeom prst="ellipse">
              <a:avLst/>
            </a:prstGeom>
            <a:gradFill>
              <a:gsLst>
                <a:gs pos="0">
                  <a:srgbClr val="EED1D4"/>
                </a:gs>
                <a:gs pos="100000">
                  <a:srgbClr val="D5828C">
                    <a:alpha val="92156"/>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txBox="1"/>
            <p:nvPr/>
          </p:nvSpPr>
          <p:spPr>
            <a:xfrm>
              <a:off x="389026" y="265116"/>
              <a:ext cx="1280737" cy="1280737"/>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Gill Sans"/>
                <a:buNone/>
              </a:pPr>
              <a:r>
                <a:rPr lang="en-US" sz="1900" dirty="0">
                  <a:solidFill>
                    <a:schemeClr val="dk1"/>
                  </a:solidFill>
                  <a:latin typeface="Gill Sans"/>
                  <a:ea typeface="Gill Sans"/>
                  <a:cs typeface="Gill Sans"/>
                  <a:sym typeface="Gill Sans"/>
                </a:rPr>
                <a:t>3PL</a:t>
              </a:r>
              <a:r>
                <a:rPr lang="tr-TR" sz="1900" dirty="0">
                  <a:solidFill>
                    <a:schemeClr val="dk1"/>
                  </a:solidFill>
                  <a:latin typeface="Gill Sans"/>
                  <a:ea typeface="Gill Sans"/>
                  <a:cs typeface="Gill Sans"/>
                  <a:sym typeface="Gill Sans"/>
                </a:rPr>
                <a:t> </a:t>
              </a:r>
              <a:r>
                <a:rPr lang="en-US" sz="1900" dirty="0">
                  <a:solidFill>
                    <a:schemeClr val="dk1"/>
                  </a:solidFill>
                  <a:latin typeface="Gill Sans"/>
                  <a:ea typeface="Gill Sans"/>
                  <a:cs typeface="Gill Sans"/>
                  <a:sym typeface="Gill Sans"/>
                </a:rPr>
                <a:t>?</a:t>
              </a:r>
              <a:endParaRPr dirty="0"/>
            </a:p>
          </p:txBody>
        </p:sp>
        <p:sp>
          <p:nvSpPr>
            <p:cNvPr id="265" name="Google Shape;265;p8"/>
            <p:cNvSpPr/>
            <p:nvPr/>
          </p:nvSpPr>
          <p:spPr>
            <a:xfrm>
              <a:off x="7792037" y="0"/>
              <a:ext cx="1811237" cy="1811237"/>
            </a:xfrm>
            <a:prstGeom prst="ellipse">
              <a:avLst/>
            </a:prstGeom>
            <a:gradFill>
              <a:gsLst>
                <a:gs pos="0">
                  <a:srgbClr val="F4E7E9"/>
                </a:gs>
                <a:gs pos="100000">
                  <a:srgbClr val="DDA9B2">
                    <a:alpha val="92156"/>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txBox="1"/>
            <p:nvPr/>
          </p:nvSpPr>
          <p:spPr>
            <a:xfrm>
              <a:off x="8057287" y="265250"/>
              <a:ext cx="1280737" cy="1280737"/>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Gill Sans"/>
                <a:buNone/>
              </a:pPr>
              <a:r>
                <a:rPr lang="tr-TR" sz="1900" dirty="0" err="1">
                  <a:solidFill>
                    <a:schemeClr val="dk1"/>
                  </a:solidFill>
                  <a:latin typeface="Gill Sans"/>
                  <a:ea typeface="Gill Sans"/>
                  <a:cs typeface="Gill Sans"/>
                  <a:sym typeface="Gill Sans"/>
                </a:rPr>
                <a:t>LUM</a:t>
              </a:r>
              <a:r>
                <a:rPr lang="tr-TR" sz="1900" dirty="0">
                  <a:solidFill>
                    <a:schemeClr val="dk1"/>
                  </a:solidFill>
                  <a:latin typeface="Gill Sans"/>
                  <a:ea typeface="Gill Sans"/>
                  <a:cs typeface="Gill Sans"/>
                  <a:sym typeface="Gill Sans"/>
                </a:rPr>
                <a:t> </a:t>
              </a:r>
              <a:r>
                <a:rPr lang="en-US" sz="1900" dirty="0">
                  <a:solidFill>
                    <a:schemeClr val="dk1"/>
                  </a:solidFill>
                  <a:latin typeface="Gill Sans"/>
                  <a:ea typeface="Gill Sans"/>
                  <a:cs typeface="Gill Sans"/>
                  <a:sym typeface="Gill Sans"/>
                </a:rPr>
                <a:t>?</a:t>
              </a:r>
              <a:endParaRPr dirty="0"/>
            </a:p>
          </p:txBody>
        </p:sp>
        <p:sp>
          <p:nvSpPr>
            <p:cNvPr id="267" name="Google Shape;267;p8"/>
            <p:cNvSpPr/>
            <p:nvPr/>
          </p:nvSpPr>
          <p:spPr>
            <a:xfrm>
              <a:off x="7792037" y="2098315"/>
              <a:ext cx="1811237" cy="1811237"/>
            </a:xfrm>
            <a:prstGeom prst="ellipse">
              <a:avLst/>
            </a:prstGeom>
            <a:gradFill>
              <a:gsLst>
                <a:gs pos="0">
                  <a:srgbClr val="F4E7E9"/>
                </a:gs>
                <a:gs pos="100000">
                  <a:srgbClr val="DDA9B2">
                    <a:alpha val="92156"/>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txBox="1"/>
            <p:nvPr/>
          </p:nvSpPr>
          <p:spPr>
            <a:xfrm>
              <a:off x="7966214" y="2363565"/>
              <a:ext cx="1463039" cy="1280737"/>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Gill Sans"/>
                <a:buNone/>
              </a:pPr>
              <a:r>
                <a:rPr lang="en-US" sz="1900" dirty="0">
                  <a:solidFill>
                    <a:schemeClr val="dk1"/>
                  </a:solidFill>
                  <a:latin typeface="Gill Sans"/>
                  <a:ea typeface="Gill Sans"/>
                  <a:cs typeface="Gill Sans"/>
                  <a:sym typeface="Gill Sans"/>
                </a:rPr>
                <a:t>3PL warehousing</a:t>
              </a:r>
              <a:r>
                <a:rPr lang="tr-TR" sz="1900" dirty="0">
                  <a:solidFill>
                    <a:schemeClr val="dk1"/>
                  </a:solidFill>
                  <a:latin typeface="Gill Sans"/>
                  <a:ea typeface="Gill Sans"/>
                  <a:cs typeface="Gill Sans"/>
                  <a:sym typeface="Gill Sans"/>
                </a:rPr>
                <a:t> </a:t>
              </a:r>
              <a:r>
                <a:rPr lang="en-US" sz="1900" dirty="0">
                  <a:solidFill>
                    <a:schemeClr val="dk1"/>
                  </a:solidFill>
                  <a:latin typeface="Gill Sans"/>
                  <a:ea typeface="Gill Sans"/>
                  <a:cs typeface="Gill Sans"/>
                  <a:sym typeface="Gill Sans"/>
                </a:rPr>
                <a:t>?</a:t>
              </a:r>
              <a:endParaRPr dirty="0"/>
            </a:p>
          </p:txBody>
        </p:sp>
        <p:sp>
          <p:nvSpPr>
            <p:cNvPr id="269" name="Google Shape;269;p8"/>
            <p:cNvSpPr/>
            <p:nvPr/>
          </p:nvSpPr>
          <p:spPr>
            <a:xfrm>
              <a:off x="123776" y="2113228"/>
              <a:ext cx="1811237" cy="1811237"/>
            </a:xfrm>
            <a:prstGeom prst="ellipse">
              <a:avLst/>
            </a:prstGeom>
            <a:gradFill>
              <a:gsLst>
                <a:gs pos="0">
                  <a:srgbClr val="EED1D4"/>
                </a:gs>
                <a:gs pos="100000">
                  <a:srgbClr val="D5828C">
                    <a:alpha val="92156"/>
                  </a:srgbClr>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txBox="1"/>
            <p:nvPr/>
          </p:nvSpPr>
          <p:spPr>
            <a:xfrm>
              <a:off x="314434" y="2378478"/>
              <a:ext cx="1355330" cy="1280737"/>
            </a:xfrm>
            <a:prstGeom prst="rect">
              <a:avLst/>
            </a:prstGeom>
            <a:noFill/>
            <a:ln>
              <a:noFill/>
            </a:ln>
          </p:spPr>
          <p:txBody>
            <a:bodyPr spcFirstLastPara="1" wrap="square" lIns="12050" tIns="12050" rIns="12050" bIns="12050" anchor="ctr" anchorCtr="0">
              <a:noAutofit/>
            </a:bodyPr>
            <a:lstStyle/>
            <a:p>
              <a:pPr marL="0" marR="0" lvl="0" indent="0" algn="ctr" rtl="0">
                <a:lnSpc>
                  <a:spcPct val="90000"/>
                </a:lnSpc>
                <a:spcBef>
                  <a:spcPts val="0"/>
                </a:spcBef>
                <a:spcAft>
                  <a:spcPts val="0"/>
                </a:spcAft>
                <a:buClr>
                  <a:schemeClr val="dk1"/>
                </a:buClr>
                <a:buSzPts val="1900"/>
                <a:buFont typeface="Gill Sans"/>
                <a:buNone/>
              </a:pPr>
              <a:r>
                <a:rPr lang="tr-TR" sz="1900" dirty="0">
                  <a:solidFill>
                    <a:schemeClr val="dk1"/>
                  </a:solidFill>
                  <a:latin typeface="Gill Sans"/>
                  <a:ea typeface="Gill Sans"/>
                  <a:cs typeface="Gill Sans"/>
                  <a:sym typeface="Gill Sans"/>
                </a:rPr>
                <a:t>D</a:t>
              </a:r>
              <a:r>
                <a:rPr lang="en-US" sz="1900" dirty="0" err="1">
                  <a:solidFill>
                    <a:schemeClr val="dk1"/>
                  </a:solidFill>
                  <a:latin typeface="Gill Sans"/>
                  <a:ea typeface="Gill Sans"/>
                  <a:cs typeface="Gill Sans"/>
                  <a:sym typeface="Gill Sans"/>
                </a:rPr>
                <a:t>istributor</a:t>
              </a:r>
              <a:r>
                <a:rPr lang="en-US" sz="1900" dirty="0">
                  <a:solidFill>
                    <a:schemeClr val="dk1"/>
                  </a:solidFill>
                  <a:latin typeface="Gill Sans"/>
                  <a:ea typeface="Gill Sans"/>
                  <a:cs typeface="Gill Sans"/>
                  <a:sym typeface="Gill Sans"/>
                </a:rPr>
                <a:t> dependency</a:t>
              </a:r>
              <a:r>
                <a:rPr lang="tr-TR" sz="1900" dirty="0">
                  <a:solidFill>
                    <a:schemeClr val="dk1"/>
                  </a:solidFill>
                  <a:latin typeface="Gill Sans"/>
                  <a:ea typeface="Gill Sans"/>
                  <a:cs typeface="Gill Sans"/>
                  <a:sym typeface="Gill Sans"/>
                </a:rPr>
                <a:t> </a:t>
              </a:r>
              <a:r>
                <a:rPr lang="en-US" sz="1900" dirty="0">
                  <a:solidFill>
                    <a:schemeClr val="dk1"/>
                  </a:solidFill>
                  <a:latin typeface="Gill Sans"/>
                  <a:ea typeface="Gill Sans"/>
                  <a:cs typeface="Gill Sans"/>
                  <a:sym typeface="Gill Sans"/>
                </a:rPr>
                <a:t>?</a:t>
              </a:r>
              <a:endParaRPr dirty="0"/>
            </a:p>
          </p:txBody>
        </p:sp>
      </p:grpSp>
      <p:sp>
        <p:nvSpPr>
          <p:cNvPr id="271" name="Google Shape;271;p8"/>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3C699-B0C3-1675-745C-42BF510FF124}"/>
            </a:ext>
          </a:extLst>
        </p:cNvPr>
        <p:cNvGrpSpPr/>
        <p:nvPr/>
      </p:nvGrpSpPr>
      <p:grpSpPr>
        <a:xfrm>
          <a:off x="0" y="0"/>
          <a:ext cx="0" cy="0"/>
          <a:chOff x="0" y="0"/>
          <a:chExt cx="0" cy="0"/>
        </a:xfrm>
      </p:grpSpPr>
      <p:pic>
        <p:nvPicPr>
          <p:cNvPr id="2" name="Picture 1" descr="One glowing light bulb in sea of unlit bulbs">
            <a:extLst>
              <a:ext uri="{FF2B5EF4-FFF2-40B4-BE49-F238E27FC236}">
                <a16:creationId xmlns:a16="http://schemas.microsoft.com/office/drawing/2014/main" id="{2F2865AB-5B60-256C-E413-1C76F659FB0F}"/>
              </a:ext>
            </a:extLst>
          </p:cNvPr>
          <p:cNvPicPr>
            <a:picLocks noChangeAspect="1"/>
          </p:cNvPicPr>
          <p:nvPr/>
        </p:nvPicPr>
        <p:blipFill>
          <a:blip r:embed="rId3">
            <a:duotone>
              <a:prstClr val="black"/>
              <a:srgbClr val="D9C3A5">
                <a:tint val="50000"/>
                <a:satMod val="180000"/>
              </a:srgbClr>
            </a:duotone>
            <a:alphaModFix amt="50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0" y="0"/>
            <a:ext cx="12192000" cy="612930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itle 1">
            <a:extLst>
              <a:ext uri="{FF2B5EF4-FFF2-40B4-BE49-F238E27FC236}">
                <a16:creationId xmlns:a16="http://schemas.microsoft.com/office/drawing/2014/main" id="{B8D13E6E-8946-BED9-509D-40BD55207489}"/>
              </a:ext>
            </a:extLst>
          </p:cNvPr>
          <p:cNvSpPr>
            <a:spLocks noGrp="1"/>
          </p:cNvSpPr>
          <p:nvPr>
            <p:ph type="title"/>
          </p:nvPr>
        </p:nvSpPr>
        <p:spPr/>
        <p:txBody>
          <a:bodyPr anchor="ctr"/>
          <a:lstStyle/>
          <a:p>
            <a:r>
              <a:rPr lang="tr-TR" noProof="0" dirty="0" err="1">
                <a:solidFill>
                  <a:srgbClr val="0070C0"/>
                </a:solidFill>
              </a:rPr>
              <a:t>Interim</a:t>
            </a:r>
            <a:r>
              <a:rPr lang="tr-TR" noProof="0" dirty="0">
                <a:solidFill>
                  <a:srgbClr val="0070C0"/>
                </a:solidFill>
              </a:rPr>
              <a:t> Evaluation</a:t>
            </a:r>
            <a:endParaRPr lang="en-US" b="1" noProof="0" dirty="0">
              <a:solidFill>
                <a:srgbClr val="0070C0"/>
              </a:solidFill>
            </a:endParaRPr>
          </a:p>
        </p:txBody>
      </p:sp>
      <p:sp>
        <p:nvSpPr>
          <p:cNvPr id="7" name="Freeform: Shape 6">
            <a:extLst>
              <a:ext uri="{FF2B5EF4-FFF2-40B4-BE49-F238E27FC236}">
                <a16:creationId xmlns:a16="http://schemas.microsoft.com/office/drawing/2014/main" id="{5BBCFA24-ADEB-657F-AFE3-CF107EC0893D}"/>
              </a:ext>
            </a:extLst>
          </p:cNvPr>
          <p:cNvSpPr/>
          <p:nvPr/>
        </p:nvSpPr>
        <p:spPr>
          <a:xfrm>
            <a:off x="10740421" y="2050254"/>
            <a:ext cx="3223537" cy="3223537"/>
          </a:xfrm>
          <a:custGeom>
            <a:avLst/>
            <a:gdLst>
              <a:gd name="csX0" fmla="*/ 1611768 w 3223537"/>
              <a:gd name="csY0" fmla="*/ 0 h 3223537"/>
              <a:gd name="csX1" fmla="*/ 3007601 w 3223537"/>
              <a:gd name="csY1" fmla="*/ 805884 h 3223537"/>
              <a:gd name="csX2" fmla="*/ 3007601 w 3223537"/>
              <a:gd name="csY2" fmla="*/ 2417653 h 3223537"/>
              <a:gd name="csX3" fmla="*/ 1611769 w 3223537"/>
              <a:gd name="csY3" fmla="*/ 1611769 h 3223537"/>
              <a:gd name="csX4" fmla="*/ 1611768 w 3223537"/>
              <a:gd name="csY4" fmla="*/ 0 h 3223537"/>
            </a:gdLst>
            <a:ahLst/>
            <a:cxnLst>
              <a:cxn ang="0">
                <a:pos x="csX0" y="csY0"/>
              </a:cxn>
              <a:cxn ang="0">
                <a:pos x="csX1" y="csY1"/>
              </a:cxn>
              <a:cxn ang="0">
                <a:pos x="csX2" y="csY2"/>
              </a:cxn>
              <a:cxn ang="0">
                <a:pos x="csX3" y="csY3"/>
              </a:cxn>
              <a:cxn ang="0">
                <a:pos x="csX4" y="csY4"/>
              </a:cxn>
            </a:cxnLst>
            <a:rect l="l" t="t" r="r" b="b"/>
            <a:pathLst>
              <a:path w="3223537" h="3223537">
                <a:moveTo>
                  <a:pt x="1611768" y="0"/>
                </a:moveTo>
                <a:cubicBezTo>
                  <a:pt x="2187598" y="0"/>
                  <a:pt x="2719686" y="307201"/>
                  <a:pt x="3007601" y="805884"/>
                </a:cubicBezTo>
                <a:cubicBezTo>
                  <a:pt x="3295516" y="1304567"/>
                  <a:pt x="3295516" y="1918970"/>
                  <a:pt x="3007601" y="2417653"/>
                </a:cubicBezTo>
                <a:lnTo>
                  <a:pt x="1611769" y="1611769"/>
                </a:lnTo>
                <a:cubicBezTo>
                  <a:pt x="1611769" y="1074513"/>
                  <a:pt x="1611768" y="537256"/>
                  <a:pt x="1611768" y="0"/>
                </a:cubicBezTo>
                <a:close/>
              </a:path>
            </a:pathLst>
          </a:custGeom>
          <a:solidFill>
            <a:schemeClr val="accent1">
              <a:lumMod val="60000"/>
              <a:lumOff val="40000"/>
            </a:schemeClr>
          </a:solidFill>
          <a:scene3d>
            <a:camera prst="orthographicFront"/>
            <a:lightRig rig="chilly" dir="t"/>
          </a:scene3d>
          <a:sp3d prstMaterial="translucentPowder">
            <a:bevelT w="127000" h="25400" prst="convex"/>
          </a:sp3d>
        </p:spPr>
        <p:style>
          <a:lnRef idx="0">
            <a:schemeClr val="lt1">
              <a:hueOff val="0"/>
              <a:satOff val="0"/>
              <a:lumOff val="0"/>
              <a:alphaOff val="0"/>
            </a:schemeClr>
          </a:lnRef>
          <a:fillRef idx="1">
            <a:schemeClr val="accent2">
              <a:alpha val="90000"/>
              <a:hueOff val="0"/>
              <a:satOff val="0"/>
              <a:lumOff val="0"/>
              <a:alphaOff val="0"/>
            </a:schemeClr>
          </a:fillRef>
          <a:effectRef idx="0">
            <a:schemeClr val="accent2">
              <a:alpha val="90000"/>
              <a:hueOff val="0"/>
              <a:satOff val="0"/>
              <a:lumOff val="0"/>
              <a:alphaOff val="0"/>
            </a:schemeClr>
          </a:effectRef>
          <a:fontRef idx="minor">
            <a:schemeClr val="lt1"/>
          </a:fontRef>
        </p:style>
        <p:txBody>
          <a:bodyPr spcFirstLastPara="0" vert="horz" wrap="square" lIns="1771657" tIns="613869" rIns="396280" bIns="1573256" numCol="1" spcCol="1270" anchor="ctr" anchorCtr="0">
            <a:noAutofit/>
          </a:bodyPr>
          <a:lstStyle/>
          <a:p>
            <a:pPr marL="0" lvl="0" indent="0" algn="ctr" defTabSz="666750">
              <a:lnSpc>
                <a:spcPct val="90000"/>
              </a:lnSpc>
              <a:spcBef>
                <a:spcPct val="0"/>
              </a:spcBef>
              <a:spcAft>
                <a:spcPct val="35000"/>
              </a:spcAft>
              <a:buNone/>
            </a:pPr>
            <a:r>
              <a:rPr lang="en-US" sz="1500" kern="1200" noProof="0" dirty="0"/>
              <a:t>Salary and sales agent cut!</a:t>
            </a:r>
          </a:p>
        </p:txBody>
      </p:sp>
      <p:sp>
        <p:nvSpPr>
          <p:cNvPr id="8" name="Freeform: Shape 7">
            <a:extLst>
              <a:ext uri="{FF2B5EF4-FFF2-40B4-BE49-F238E27FC236}">
                <a16:creationId xmlns:a16="http://schemas.microsoft.com/office/drawing/2014/main" id="{44D8E2D4-8A73-4716-6EC8-6FE637298BBC}"/>
              </a:ext>
            </a:extLst>
          </p:cNvPr>
          <p:cNvSpPr/>
          <p:nvPr/>
        </p:nvSpPr>
        <p:spPr>
          <a:xfrm>
            <a:off x="4484231" y="5322050"/>
            <a:ext cx="3223537" cy="3223537"/>
          </a:xfrm>
          <a:custGeom>
            <a:avLst/>
            <a:gdLst>
              <a:gd name="csX0" fmla="*/ 3007601 w 3223537"/>
              <a:gd name="csY0" fmla="*/ 2417653 h 3223537"/>
              <a:gd name="csX1" fmla="*/ 1611768 w 3223537"/>
              <a:gd name="csY1" fmla="*/ 3223538 h 3223537"/>
              <a:gd name="csX2" fmla="*/ 215935 w 3223537"/>
              <a:gd name="csY2" fmla="*/ 2417654 h 3223537"/>
              <a:gd name="csX3" fmla="*/ 1611769 w 3223537"/>
              <a:gd name="csY3" fmla="*/ 1611769 h 3223537"/>
              <a:gd name="csX4" fmla="*/ 3007601 w 3223537"/>
              <a:gd name="csY4" fmla="*/ 2417653 h 3223537"/>
            </a:gdLst>
            <a:ahLst/>
            <a:cxnLst>
              <a:cxn ang="0">
                <a:pos x="csX0" y="csY0"/>
              </a:cxn>
              <a:cxn ang="0">
                <a:pos x="csX1" y="csY1"/>
              </a:cxn>
              <a:cxn ang="0">
                <a:pos x="csX2" y="csY2"/>
              </a:cxn>
              <a:cxn ang="0">
                <a:pos x="csX3" y="csY3"/>
              </a:cxn>
              <a:cxn ang="0">
                <a:pos x="csX4" y="csY4"/>
              </a:cxn>
            </a:cxnLst>
            <a:rect l="l" t="t" r="r" b="b"/>
            <a:pathLst>
              <a:path w="3223537" h="3223537">
                <a:moveTo>
                  <a:pt x="3007601" y="2417653"/>
                </a:moveTo>
                <a:cubicBezTo>
                  <a:pt x="2719686" y="2916336"/>
                  <a:pt x="2187598" y="3223538"/>
                  <a:pt x="1611768" y="3223538"/>
                </a:cubicBezTo>
                <a:cubicBezTo>
                  <a:pt x="1035938" y="3223538"/>
                  <a:pt x="503850" y="2916337"/>
                  <a:pt x="215935" y="2417654"/>
                </a:cubicBezTo>
                <a:lnTo>
                  <a:pt x="1611769" y="1611769"/>
                </a:lnTo>
                <a:lnTo>
                  <a:pt x="3007601" y="2417653"/>
                </a:lnTo>
                <a:close/>
              </a:path>
            </a:pathLst>
          </a:custGeom>
          <a:solidFill>
            <a:schemeClr val="accent1">
              <a:lumMod val="60000"/>
              <a:lumOff val="40000"/>
            </a:schemeClr>
          </a:solidFill>
          <a:scene3d>
            <a:camera prst="orthographicFront"/>
            <a:lightRig rig="chilly" dir="t"/>
          </a:scene3d>
          <a:sp3d prstMaterial="translucentPowder">
            <a:bevelT w="127000" h="25400" prst="convex"/>
          </a:sp3d>
        </p:spPr>
        <p:style>
          <a:lnRef idx="0">
            <a:schemeClr val="lt1">
              <a:hueOff val="0"/>
              <a:satOff val="0"/>
              <a:lumOff val="0"/>
              <a:alphaOff val="0"/>
            </a:schemeClr>
          </a:lnRef>
          <a:fillRef idx="1">
            <a:schemeClr val="accent2">
              <a:alpha val="90000"/>
              <a:hueOff val="0"/>
              <a:satOff val="0"/>
              <a:lumOff val="0"/>
              <a:alphaOff val="-20000"/>
            </a:schemeClr>
          </a:fillRef>
          <a:effectRef idx="0">
            <a:schemeClr val="accent2">
              <a:alpha val="90000"/>
              <a:hueOff val="0"/>
              <a:satOff val="0"/>
              <a:lumOff val="0"/>
              <a:alphaOff val="-20000"/>
            </a:schemeClr>
          </a:effectRef>
          <a:fontRef idx="minor">
            <a:schemeClr val="lt1"/>
          </a:fontRef>
        </p:style>
        <p:txBody>
          <a:bodyPr spcFirstLastPara="0" vert="horz" wrap="square" lIns="901686" tIns="2052949" rIns="901684" bIns="210927" numCol="1" spcCol="1270" anchor="ctr" anchorCtr="0">
            <a:noAutofit/>
          </a:bodyPr>
          <a:lstStyle/>
          <a:p>
            <a:pPr marL="0" lvl="0" indent="0" algn="ctr" defTabSz="666750">
              <a:lnSpc>
                <a:spcPct val="90000"/>
              </a:lnSpc>
              <a:spcBef>
                <a:spcPct val="0"/>
              </a:spcBef>
              <a:spcAft>
                <a:spcPct val="35000"/>
              </a:spcAft>
              <a:buNone/>
            </a:pPr>
            <a:r>
              <a:rPr lang="en-US" sz="1500" kern="1200" noProof="0" dirty="0"/>
              <a:t>RIFD + less warehousing + 3PL + near-disintermediation</a:t>
            </a:r>
          </a:p>
        </p:txBody>
      </p:sp>
      <p:sp>
        <p:nvSpPr>
          <p:cNvPr id="9" name="Freeform: Shape 8">
            <a:extLst>
              <a:ext uri="{FF2B5EF4-FFF2-40B4-BE49-F238E27FC236}">
                <a16:creationId xmlns:a16="http://schemas.microsoft.com/office/drawing/2014/main" id="{FBC3003F-FA5C-1049-1660-39D0FB0FC222}"/>
              </a:ext>
            </a:extLst>
          </p:cNvPr>
          <p:cNvSpPr/>
          <p:nvPr/>
        </p:nvSpPr>
        <p:spPr>
          <a:xfrm>
            <a:off x="-1771958" y="2050254"/>
            <a:ext cx="3223537" cy="3223537"/>
          </a:xfrm>
          <a:custGeom>
            <a:avLst/>
            <a:gdLst>
              <a:gd name="csX0" fmla="*/ 215936 w 3223537"/>
              <a:gd name="csY0" fmla="*/ 2417653 h 3223537"/>
              <a:gd name="csX1" fmla="*/ 215936 w 3223537"/>
              <a:gd name="csY1" fmla="*/ 805884 h 3223537"/>
              <a:gd name="csX2" fmla="*/ 1611769 w 3223537"/>
              <a:gd name="csY2" fmla="*/ 0 h 3223537"/>
              <a:gd name="csX3" fmla="*/ 1611769 w 3223537"/>
              <a:gd name="csY3" fmla="*/ 1611769 h 3223537"/>
              <a:gd name="csX4" fmla="*/ 215936 w 3223537"/>
              <a:gd name="csY4" fmla="*/ 2417653 h 3223537"/>
            </a:gdLst>
            <a:ahLst/>
            <a:cxnLst>
              <a:cxn ang="0">
                <a:pos x="csX0" y="csY0"/>
              </a:cxn>
              <a:cxn ang="0">
                <a:pos x="csX1" y="csY1"/>
              </a:cxn>
              <a:cxn ang="0">
                <a:pos x="csX2" y="csY2"/>
              </a:cxn>
              <a:cxn ang="0">
                <a:pos x="csX3" y="csY3"/>
              </a:cxn>
              <a:cxn ang="0">
                <a:pos x="csX4" y="csY4"/>
              </a:cxn>
            </a:cxnLst>
            <a:rect l="l" t="t" r="r" b="b"/>
            <a:pathLst>
              <a:path w="3223537" h="3223537">
                <a:moveTo>
                  <a:pt x="215936" y="2417653"/>
                </a:moveTo>
                <a:cubicBezTo>
                  <a:pt x="-71979" y="1918970"/>
                  <a:pt x="-71979" y="1304567"/>
                  <a:pt x="215936" y="805884"/>
                </a:cubicBezTo>
                <a:cubicBezTo>
                  <a:pt x="503851" y="307201"/>
                  <a:pt x="1035939" y="0"/>
                  <a:pt x="1611769" y="0"/>
                </a:cubicBezTo>
                <a:lnTo>
                  <a:pt x="1611769" y="1611769"/>
                </a:lnTo>
                <a:lnTo>
                  <a:pt x="215936" y="2417653"/>
                </a:lnTo>
                <a:close/>
              </a:path>
            </a:pathLst>
          </a:custGeom>
          <a:solidFill>
            <a:schemeClr val="accent1">
              <a:lumMod val="60000"/>
              <a:lumOff val="40000"/>
            </a:schemeClr>
          </a:solidFill>
          <a:scene3d>
            <a:camera prst="orthographicFront"/>
            <a:lightRig rig="chilly" dir="t"/>
          </a:scene3d>
          <a:sp3d prstMaterial="translucentPowder">
            <a:bevelT w="127000" h="25400" prst="convex"/>
          </a:sp3d>
        </p:spPr>
        <p:style>
          <a:lnRef idx="0">
            <a:schemeClr val="lt1">
              <a:hueOff val="0"/>
              <a:satOff val="0"/>
              <a:lumOff val="0"/>
              <a:alphaOff val="0"/>
            </a:schemeClr>
          </a:lnRef>
          <a:fillRef idx="1">
            <a:schemeClr val="accent2">
              <a:alpha val="90000"/>
              <a:hueOff val="0"/>
              <a:satOff val="0"/>
              <a:lumOff val="0"/>
              <a:alphaOff val="-40000"/>
            </a:schemeClr>
          </a:fillRef>
          <a:effectRef idx="0">
            <a:schemeClr val="accent2">
              <a:alpha val="90000"/>
              <a:hueOff val="0"/>
              <a:satOff val="0"/>
              <a:lumOff val="0"/>
              <a:alphaOff val="-40000"/>
            </a:schemeClr>
          </a:effectRef>
          <a:fontRef idx="minor">
            <a:schemeClr val="lt1"/>
          </a:fontRef>
        </p:style>
        <p:txBody>
          <a:bodyPr spcFirstLastPara="0" vert="horz" wrap="square" lIns="364429" tIns="652244" rIns="1803508" bIns="1534881" numCol="1" spcCol="1270" anchor="ctr" anchorCtr="0">
            <a:noAutofit/>
          </a:bodyPr>
          <a:lstStyle/>
          <a:p>
            <a:pPr marL="0" lvl="0" indent="0" algn="ctr" defTabSz="666750">
              <a:lnSpc>
                <a:spcPct val="90000"/>
              </a:lnSpc>
              <a:spcBef>
                <a:spcPct val="0"/>
              </a:spcBef>
              <a:spcAft>
                <a:spcPct val="35000"/>
              </a:spcAft>
              <a:buNone/>
            </a:pPr>
            <a:r>
              <a:rPr lang="en-US" sz="1500" kern="1200" noProof="0" dirty="0"/>
              <a:t>How to train surgeons in the new approach?</a:t>
            </a:r>
          </a:p>
        </p:txBody>
      </p:sp>
      <p:sp>
        <p:nvSpPr>
          <p:cNvPr id="3" name="Slide Number Placeholder 2">
            <a:extLst>
              <a:ext uri="{FF2B5EF4-FFF2-40B4-BE49-F238E27FC236}">
                <a16:creationId xmlns:a16="http://schemas.microsoft.com/office/drawing/2014/main" id="{8A8CCB70-8519-56F5-2399-5FE75C2C2792}"/>
              </a:ext>
            </a:extLst>
          </p:cNvPr>
          <p:cNvSpPr>
            <a:spLocks noGrp="1"/>
          </p:cNvSpPr>
          <p:nvPr>
            <p:ph type="sldNum" sz="quarter" idx="12"/>
          </p:nvPr>
        </p:nvSpPr>
        <p:spPr/>
        <p:txBody>
          <a:bodyPr/>
          <a:lstStyle/>
          <a:p>
            <a:fld id="{4B6C4912-404C-4485-8EFA-CDFD730854F7}" type="slidenum">
              <a:rPr lang="en-US" noProof="0" smtClean="0"/>
              <a:t>9</a:t>
            </a:fld>
            <a:endParaRPr lang="en-US" noProof="0" dirty="0"/>
          </a:p>
        </p:txBody>
      </p:sp>
    </p:spTree>
    <p:extLst>
      <p:ext uri="{BB962C8B-B14F-4D97-AF65-F5344CB8AC3E}">
        <p14:creationId xmlns:p14="http://schemas.microsoft.com/office/powerpoint/2010/main" val="375483051"/>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04167E-6 3.7037E-6 L 0.50729 0.01342 " pathEditMode="relative" rAng="0" ptsTypes="AA">
                                      <p:cBhvr>
                                        <p:cTn id="6" dur="2000" fill="hold"/>
                                        <p:tgtEl>
                                          <p:spTgt spid="9"/>
                                        </p:tgtEl>
                                        <p:attrNameLst>
                                          <p:attrName>ppt_x</p:attrName>
                                          <p:attrName>ppt_y</p:attrName>
                                        </p:attrNameLst>
                                      </p:cBhvr>
                                      <p:rCtr x="25365" y="671"/>
                                    </p:animMotion>
                                  </p:childTnLst>
                                </p:cTn>
                              </p:par>
                              <p:par>
                                <p:cTn id="7" presetID="42" presetClass="path" presetSubtype="0" accel="50000" decel="50000" fill="hold" grpId="0" nodeType="withEffect">
                                  <p:stCondLst>
                                    <p:cond delay="0"/>
                                  </p:stCondLst>
                                  <p:childTnLst>
                                    <p:animMotion origin="layout" path="M 0 3.7037E-7 L 0 -0.44653 " pathEditMode="relative" rAng="0" ptsTypes="AA">
                                      <p:cBhvr>
                                        <p:cTn id="8" dur="2000" fill="hold"/>
                                        <p:tgtEl>
                                          <p:spTgt spid="8"/>
                                        </p:tgtEl>
                                        <p:attrNameLst>
                                          <p:attrName>ppt_x</p:attrName>
                                          <p:attrName>ppt_y</p:attrName>
                                        </p:attrNameLst>
                                      </p:cBhvr>
                                      <p:rCtr x="0" y="-22338"/>
                                    </p:animMotion>
                                  </p:childTnLst>
                                </p:cTn>
                              </p:par>
                              <p:par>
                                <p:cTn id="9" presetID="42" presetClass="path" presetSubtype="0" accel="50000" decel="50000" fill="hold" grpId="0" nodeType="withEffect">
                                  <p:stCondLst>
                                    <p:cond delay="0"/>
                                  </p:stCondLst>
                                  <p:childTnLst>
                                    <p:animMotion origin="layout" path="M -1.04167E-6 3.7037E-6 L -0.5043 0.01342 " pathEditMode="relative" rAng="0" ptsTypes="AA">
                                      <p:cBhvr>
                                        <p:cTn id="10" dur="2000" fill="hold"/>
                                        <p:tgtEl>
                                          <p:spTgt spid="7"/>
                                        </p:tgtEl>
                                        <p:attrNameLst>
                                          <p:attrName>ppt_x</p:attrName>
                                          <p:attrName>ppt_y</p:attrName>
                                        </p:attrNameLst>
                                      </p:cBhvr>
                                      <p:rCtr x="-25221" y="6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10" descr="One glowing light bulb in sea of unlit bulbs"/>
          <p:cNvPicPr preferRelativeResize="0"/>
          <p:nvPr/>
        </p:nvPicPr>
        <p:blipFill rotWithShape="1">
          <a:blip r:embed="rId3">
            <a:alphaModFix amt="50000"/>
          </a:blip>
          <a:srcRect/>
          <a:stretch/>
        </p:blipFill>
        <p:spPr>
          <a:xfrm>
            <a:off x="0" y="0"/>
            <a:ext cx="12192000" cy="6129300"/>
          </a:xfrm>
          <a:prstGeom prst="rect">
            <a:avLst/>
          </a:prstGeom>
          <a:solidFill>
            <a:srgbClr val="ECECEC"/>
          </a:solidFill>
          <a:ln>
            <a:noFill/>
          </a:ln>
          <a:effectLst>
            <a:outerShdw blurRad="55000" dist="18000" dir="5400000" algn="tl" rotWithShape="0">
              <a:srgbClr val="000000">
                <a:alpha val="40000"/>
              </a:srgbClr>
            </a:outerShdw>
          </a:effectLst>
        </p:spPr>
      </p:pic>
      <p:sp>
        <p:nvSpPr>
          <p:cNvPr id="293" name="Google Shape;293;p10"/>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Gill Sans"/>
              <a:buNone/>
            </a:pPr>
            <a:r>
              <a:rPr lang="en-US" dirty="0">
                <a:solidFill>
                  <a:srgbClr val="0070C0"/>
                </a:solidFill>
              </a:rPr>
              <a:t>S</a:t>
            </a:r>
            <a:r>
              <a:rPr lang="tr-TR" dirty="0" err="1">
                <a:solidFill>
                  <a:srgbClr val="0070C0"/>
                </a:solidFill>
              </a:rPr>
              <a:t>olutions</a:t>
            </a:r>
            <a:r>
              <a:rPr lang="en-US" dirty="0">
                <a:solidFill>
                  <a:srgbClr val="0070C0"/>
                </a:solidFill>
              </a:rPr>
              <a:t> – </a:t>
            </a:r>
            <a:r>
              <a:rPr lang="tr-TR" dirty="0">
                <a:solidFill>
                  <a:srgbClr val="0070C0"/>
                </a:solidFill>
              </a:rPr>
              <a:t>3</a:t>
            </a:r>
            <a:r>
              <a:rPr lang="en-US" dirty="0">
                <a:solidFill>
                  <a:srgbClr val="0070C0"/>
                </a:solidFill>
              </a:rPr>
              <a:t> </a:t>
            </a:r>
            <a:r>
              <a:rPr lang="en-US" b="1" dirty="0">
                <a:solidFill>
                  <a:srgbClr val="0070C0"/>
                </a:solidFill>
              </a:rPr>
              <a:t>Cycle Stock Remarks</a:t>
            </a:r>
            <a:endParaRPr dirty="0"/>
          </a:p>
        </p:txBody>
      </p:sp>
      <p:sp>
        <p:nvSpPr>
          <p:cNvPr id="295" name="Google Shape;295;p10"/>
          <p:cNvSpPr/>
          <p:nvPr/>
        </p:nvSpPr>
        <p:spPr>
          <a:xfrm>
            <a:off x="838200" y="5753140"/>
            <a:ext cx="10515600" cy="268808"/>
          </a:xfrm>
          <a:prstGeom prst="rect">
            <a:avLst/>
          </a:prstGeom>
          <a:noFill/>
          <a:ln w="38100" cap="flat" cmpd="sng">
            <a:solidFill>
              <a:schemeClr val="dk1"/>
            </a:solidFill>
            <a:prstDash val="solid"/>
            <a:round/>
            <a:headEnd type="none" w="sm" len="sm"/>
            <a:tailEnd type="none" w="sm" len="sm"/>
          </a:ln>
          <a:effectLst>
            <a:outerShdw blurRad="50800" dist="50800" dir="5400000" sx="96000" sy="96000" rotWithShape="0">
              <a:srgbClr val="000000">
                <a:alpha val="4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296" name="Google Shape;296;p10"/>
          <p:cNvSpPr txBox="1"/>
          <p:nvPr/>
        </p:nvSpPr>
        <p:spPr>
          <a:xfrm>
            <a:off x="838200" y="5753140"/>
            <a:ext cx="10515600" cy="268808"/>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Gill Sans"/>
              <a:buNone/>
            </a:pPr>
            <a:r>
              <a:rPr lang="en-US" sz="1800" dirty="0">
                <a:solidFill>
                  <a:schemeClr val="tx1"/>
                </a:solidFill>
                <a:latin typeface="Gill Sans"/>
                <a:ea typeface="Gill Sans"/>
                <a:cs typeface="Gill Sans"/>
                <a:sym typeface="Gill Sans"/>
              </a:rPr>
              <a:t>Safety value to add into yearly naive method?</a:t>
            </a:r>
            <a:endParaRPr dirty="0">
              <a:solidFill>
                <a:schemeClr val="tx1"/>
              </a:solidFill>
            </a:endParaRPr>
          </a:p>
        </p:txBody>
      </p:sp>
      <p:sp>
        <p:nvSpPr>
          <p:cNvPr id="297" name="Google Shape;297;p10"/>
          <p:cNvSpPr/>
          <p:nvPr/>
        </p:nvSpPr>
        <p:spPr>
          <a:xfrm rot="10800000">
            <a:off x="838200" y="3006548"/>
            <a:ext cx="10515600" cy="413426"/>
          </a:xfrm>
          <a:prstGeom prst="upArrowCallout">
            <a:avLst>
              <a:gd name="adj1" fmla="val 25000"/>
              <a:gd name="adj2" fmla="val 25000"/>
              <a:gd name="adj3" fmla="val 25000"/>
              <a:gd name="adj4" fmla="val 64977"/>
            </a:avLst>
          </a:prstGeom>
          <a:noFill/>
          <a:ln w="38100" cap="flat" cmpd="sng">
            <a:solidFill>
              <a:schemeClr val="dk1"/>
            </a:solidFill>
            <a:prstDash val="solid"/>
            <a:round/>
            <a:headEnd type="none" w="sm" len="sm"/>
            <a:tailEnd type="none" w="sm" len="sm"/>
          </a:ln>
          <a:effectLst>
            <a:outerShdw blurRad="50800" dist="50800" dir="5400000" sx="96000" sy="96000" rotWithShape="0">
              <a:srgbClr val="000000">
                <a:alpha val="4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298" name="Google Shape;298;p10"/>
          <p:cNvSpPr txBox="1"/>
          <p:nvPr/>
        </p:nvSpPr>
        <p:spPr>
          <a:xfrm>
            <a:off x="838200" y="3006548"/>
            <a:ext cx="10515600" cy="268632"/>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Gill Sans"/>
              <a:buNone/>
            </a:pPr>
            <a:r>
              <a:rPr lang="en-US" sz="1800">
                <a:solidFill>
                  <a:schemeClr val="tx1"/>
                </a:solidFill>
                <a:latin typeface="Gill Sans"/>
                <a:ea typeface="Gill Sans"/>
                <a:cs typeface="Gill Sans"/>
                <a:sym typeface="Gill Sans"/>
              </a:rPr>
              <a:t>Annual naive method yields what?</a:t>
            </a:r>
            <a:endParaRPr>
              <a:solidFill>
                <a:schemeClr val="tx1"/>
              </a:solidFill>
            </a:endParaRPr>
          </a:p>
        </p:txBody>
      </p:sp>
      <p:sp>
        <p:nvSpPr>
          <p:cNvPr id="299" name="Google Shape;299;p10"/>
          <p:cNvSpPr/>
          <p:nvPr/>
        </p:nvSpPr>
        <p:spPr>
          <a:xfrm rot="10800000">
            <a:off x="838200" y="2576833"/>
            <a:ext cx="10515600" cy="413426"/>
          </a:xfrm>
          <a:prstGeom prst="upArrowCallout">
            <a:avLst>
              <a:gd name="adj1" fmla="val 25000"/>
              <a:gd name="adj2" fmla="val 25000"/>
              <a:gd name="adj3" fmla="val 25000"/>
              <a:gd name="adj4" fmla="val 64977"/>
            </a:avLst>
          </a:prstGeom>
          <a:noFill/>
          <a:ln w="38100" cap="flat" cmpd="sng">
            <a:solidFill>
              <a:schemeClr val="dk1"/>
            </a:solidFill>
            <a:prstDash val="solid"/>
            <a:round/>
            <a:headEnd type="none" w="sm" len="sm"/>
            <a:tailEnd type="none" w="sm" len="sm"/>
          </a:ln>
          <a:effectLst>
            <a:outerShdw blurRad="50800" dist="50800" dir="5400000" sx="96000" sy="96000" rotWithShape="0">
              <a:srgbClr val="000000">
                <a:alpha val="4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300" name="Google Shape;300;p10"/>
          <p:cNvSpPr txBox="1"/>
          <p:nvPr/>
        </p:nvSpPr>
        <p:spPr>
          <a:xfrm>
            <a:off x="838200" y="2576833"/>
            <a:ext cx="10515600" cy="268632"/>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Gill Sans"/>
              <a:buNone/>
            </a:pPr>
            <a:r>
              <a:rPr lang="en-US" sz="1800">
                <a:solidFill>
                  <a:schemeClr val="tx1"/>
                </a:solidFill>
                <a:latin typeface="Gill Sans"/>
                <a:ea typeface="Gill Sans"/>
                <a:cs typeface="Gill Sans"/>
                <a:sym typeface="Gill Sans"/>
              </a:rPr>
              <a:t>What do the calculations say in terms of error margins after forecast methodologies are applied?.</a:t>
            </a:r>
            <a:endParaRPr>
              <a:solidFill>
                <a:schemeClr val="tx1"/>
              </a:solidFill>
            </a:endParaRPr>
          </a:p>
        </p:txBody>
      </p:sp>
      <p:sp>
        <p:nvSpPr>
          <p:cNvPr id="301" name="Google Shape;301;p10"/>
          <p:cNvSpPr/>
          <p:nvPr/>
        </p:nvSpPr>
        <p:spPr>
          <a:xfrm rot="10800000">
            <a:off x="838200" y="2126798"/>
            <a:ext cx="10515600" cy="413426"/>
          </a:xfrm>
          <a:prstGeom prst="upArrowCallout">
            <a:avLst>
              <a:gd name="adj1" fmla="val 25000"/>
              <a:gd name="adj2" fmla="val 25000"/>
              <a:gd name="adj3" fmla="val 25000"/>
              <a:gd name="adj4" fmla="val 64977"/>
            </a:avLst>
          </a:prstGeom>
          <a:noFill/>
          <a:ln w="38100" cap="flat" cmpd="sng">
            <a:solidFill>
              <a:schemeClr val="dk1"/>
            </a:solidFill>
            <a:prstDash val="solid"/>
            <a:round/>
            <a:headEnd type="none" w="sm" len="sm"/>
            <a:tailEnd type="none" w="sm" len="sm"/>
          </a:ln>
          <a:effectLst>
            <a:outerShdw blurRad="50800" dist="50800" dir="5400000" sx="96000" sy="96000" rotWithShape="0">
              <a:srgbClr val="000000">
                <a:alpha val="4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302" name="Google Shape;302;p10"/>
          <p:cNvSpPr txBox="1"/>
          <p:nvPr/>
        </p:nvSpPr>
        <p:spPr>
          <a:xfrm>
            <a:off x="838200" y="2126798"/>
            <a:ext cx="10515600" cy="268632"/>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Gill Sans"/>
              <a:buNone/>
            </a:pPr>
            <a:r>
              <a:rPr lang="en-US" sz="1800">
                <a:solidFill>
                  <a:schemeClr val="tx1"/>
                </a:solidFill>
                <a:latin typeface="Gill Sans"/>
                <a:ea typeface="Gill Sans"/>
                <a:cs typeface="Gill Sans"/>
                <a:sym typeface="Gill Sans"/>
              </a:rPr>
              <a:t>What do the calculations say in terms of catching the actual demand?</a:t>
            </a:r>
            <a:endParaRPr>
              <a:solidFill>
                <a:schemeClr val="tx1"/>
              </a:solidFill>
            </a:endParaRPr>
          </a:p>
        </p:txBody>
      </p:sp>
      <p:sp>
        <p:nvSpPr>
          <p:cNvPr id="303" name="Google Shape;303;p10"/>
          <p:cNvSpPr/>
          <p:nvPr/>
        </p:nvSpPr>
        <p:spPr>
          <a:xfrm rot="10800000">
            <a:off x="838200" y="1666604"/>
            <a:ext cx="10515600" cy="413426"/>
          </a:xfrm>
          <a:prstGeom prst="upArrowCallout">
            <a:avLst>
              <a:gd name="adj1" fmla="val 25000"/>
              <a:gd name="adj2" fmla="val 25000"/>
              <a:gd name="adj3" fmla="val 25000"/>
              <a:gd name="adj4" fmla="val 64977"/>
            </a:avLst>
          </a:prstGeom>
          <a:noFill/>
          <a:ln w="38100" cap="flat" cmpd="sng">
            <a:solidFill>
              <a:schemeClr val="dk1"/>
            </a:solidFill>
            <a:prstDash val="solid"/>
            <a:round/>
            <a:headEnd type="none" w="sm" len="sm"/>
            <a:tailEnd type="none" w="sm" len="sm"/>
          </a:ln>
          <a:effectLst>
            <a:outerShdw blurRad="50800" dist="50800" dir="5400000" sx="96000" sy="96000" rotWithShape="0">
              <a:srgbClr val="000000">
                <a:alpha val="4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304" name="Google Shape;304;p10"/>
          <p:cNvSpPr txBox="1"/>
          <p:nvPr/>
        </p:nvSpPr>
        <p:spPr>
          <a:xfrm>
            <a:off x="838200" y="1678815"/>
            <a:ext cx="10515600" cy="244211"/>
          </a:xfrm>
          <a:prstGeom prst="rect">
            <a:avLst/>
          </a:prstGeom>
          <a:noFill/>
          <a:ln>
            <a:noFill/>
          </a:ln>
        </p:spPr>
        <p:txBody>
          <a:bodyPr spcFirstLastPara="1" wrap="square" lIns="128000" tIns="128000" rIns="128000" bIns="128000" anchor="ctr" anchorCtr="0">
            <a:noAutofit/>
          </a:bodyPr>
          <a:lstStyle/>
          <a:p>
            <a:pPr marL="0" marR="0" lvl="0" indent="0" algn="ctr" rtl="0">
              <a:lnSpc>
                <a:spcPct val="90000"/>
              </a:lnSpc>
              <a:spcBef>
                <a:spcPts val="0"/>
              </a:spcBef>
              <a:spcAft>
                <a:spcPts val="0"/>
              </a:spcAft>
              <a:buClr>
                <a:schemeClr val="lt1"/>
              </a:buClr>
              <a:buSzPts val="1800"/>
              <a:buFont typeface="Gill Sans"/>
              <a:buNone/>
            </a:pPr>
            <a:r>
              <a:rPr lang="en-US" sz="1800" dirty="0">
                <a:solidFill>
                  <a:schemeClr val="tx1"/>
                </a:solidFill>
                <a:latin typeface="Gill Sans"/>
                <a:ea typeface="Gill Sans"/>
                <a:cs typeface="Gill Sans"/>
                <a:sym typeface="Gill Sans"/>
              </a:rPr>
              <a:t>X cycle stock calculation resembles to moving average.</a:t>
            </a:r>
            <a:endParaRPr dirty="0">
              <a:solidFill>
                <a:schemeClr val="tx1"/>
              </a:solidFill>
            </a:endParaRPr>
          </a:p>
        </p:txBody>
      </p:sp>
      <p:sp>
        <p:nvSpPr>
          <p:cNvPr id="306" name="Google Shape;306;p10"/>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graphicFrame>
        <p:nvGraphicFramePr>
          <p:cNvPr id="2" name="Chart 1">
            <a:extLst>
              <a:ext uri="{FF2B5EF4-FFF2-40B4-BE49-F238E27FC236}">
                <a16:creationId xmlns:a16="http://schemas.microsoft.com/office/drawing/2014/main" id="{EC1B219E-2F7D-B002-5647-486D56802AC6}"/>
              </a:ext>
            </a:extLst>
          </p:cNvPr>
          <p:cNvGraphicFramePr>
            <a:graphicFrameLocks/>
          </p:cNvGraphicFramePr>
          <p:nvPr>
            <p:extLst>
              <p:ext uri="{D42A27DB-BD31-4B8C-83A1-F6EECF244321}">
                <p14:modId xmlns:p14="http://schemas.microsoft.com/office/powerpoint/2010/main" val="1485992122"/>
              </p:ext>
            </p:extLst>
          </p:nvPr>
        </p:nvGraphicFramePr>
        <p:xfrm>
          <a:off x="838200" y="3330284"/>
          <a:ext cx="10515600" cy="2315504"/>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4"/>
                                        </p:tgtEl>
                                        <p:attrNameLst>
                                          <p:attrName>style.visibility</p:attrName>
                                        </p:attrNameLst>
                                      </p:cBhvr>
                                      <p:to>
                                        <p:strVal val="visible"/>
                                      </p:to>
                                    </p:set>
                                    <p:animEffect transition="in" filter="fade">
                                      <p:cBhvr>
                                        <p:cTn id="7" dur="1000"/>
                                        <p:tgtEl>
                                          <p:spTgt spid="304"/>
                                        </p:tgtEl>
                                      </p:cBhvr>
                                    </p:animEffect>
                                    <p:anim calcmode="lin" valueType="num">
                                      <p:cBhvr>
                                        <p:cTn id="8" dur="1000" fill="hold"/>
                                        <p:tgtEl>
                                          <p:spTgt spid="304"/>
                                        </p:tgtEl>
                                        <p:attrNameLst>
                                          <p:attrName>ppt_x</p:attrName>
                                        </p:attrNameLst>
                                      </p:cBhvr>
                                      <p:tavLst>
                                        <p:tav tm="0">
                                          <p:val>
                                            <p:strVal val="#ppt_x"/>
                                          </p:val>
                                        </p:tav>
                                        <p:tav tm="100000">
                                          <p:val>
                                            <p:strVal val="#ppt_x"/>
                                          </p:val>
                                        </p:tav>
                                      </p:tavLst>
                                    </p:anim>
                                    <p:anim calcmode="lin" valueType="num">
                                      <p:cBhvr>
                                        <p:cTn id="9" dur="1000" fill="hold"/>
                                        <p:tgtEl>
                                          <p:spTgt spid="30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03"/>
                                        </p:tgtEl>
                                        <p:attrNameLst>
                                          <p:attrName>style.visibility</p:attrName>
                                        </p:attrNameLst>
                                      </p:cBhvr>
                                      <p:to>
                                        <p:strVal val="visible"/>
                                      </p:to>
                                    </p:set>
                                    <p:animEffect transition="in" filter="fade">
                                      <p:cBhvr>
                                        <p:cTn id="12" dur="1000"/>
                                        <p:tgtEl>
                                          <p:spTgt spid="303"/>
                                        </p:tgtEl>
                                      </p:cBhvr>
                                    </p:animEffect>
                                    <p:anim calcmode="lin" valueType="num">
                                      <p:cBhvr>
                                        <p:cTn id="13" dur="1000" fill="hold"/>
                                        <p:tgtEl>
                                          <p:spTgt spid="303"/>
                                        </p:tgtEl>
                                        <p:attrNameLst>
                                          <p:attrName>ppt_x</p:attrName>
                                        </p:attrNameLst>
                                      </p:cBhvr>
                                      <p:tavLst>
                                        <p:tav tm="0">
                                          <p:val>
                                            <p:strVal val="#ppt_x"/>
                                          </p:val>
                                        </p:tav>
                                        <p:tav tm="100000">
                                          <p:val>
                                            <p:strVal val="#ppt_x"/>
                                          </p:val>
                                        </p:tav>
                                      </p:tavLst>
                                    </p:anim>
                                    <p:anim calcmode="lin" valueType="num">
                                      <p:cBhvr>
                                        <p:cTn id="14" dur="1000" fill="hold"/>
                                        <p:tgtEl>
                                          <p:spTgt spid="30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02"/>
                                        </p:tgtEl>
                                        <p:attrNameLst>
                                          <p:attrName>style.visibility</p:attrName>
                                        </p:attrNameLst>
                                      </p:cBhvr>
                                      <p:to>
                                        <p:strVal val="visible"/>
                                      </p:to>
                                    </p:set>
                                    <p:animEffect transition="in" filter="fade">
                                      <p:cBhvr>
                                        <p:cTn id="19" dur="1000"/>
                                        <p:tgtEl>
                                          <p:spTgt spid="302"/>
                                        </p:tgtEl>
                                      </p:cBhvr>
                                    </p:animEffect>
                                    <p:anim calcmode="lin" valueType="num">
                                      <p:cBhvr>
                                        <p:cTn id="20" dur="1000" fill="hold"/>
                                        <p:tgtEl>
                                          <p:spTgt spid="302"/>
                                        </p:tgtEl>
                                        <p:attrNameLst>
                                          <p:attrName>ppt_x</p:attrName>
                                        </p:attrNameLst>
                                      </p:cBhvr>
                                      <p:tavLst>
                                        <p:tav tm="0">
                                          <p:val>
                                            <p:strVal val="#ppt_x"/>
                                          </p:val>
                                        </p:tav>
                                        <p:tav tm="100000">
                                          <p:val>
                                            <p:strVal val="#ppt_x"/>
                                          </p:val>
                                        </p:tav>
                                      </p:tavLst>
                                    </p:anim>
                                    <p:anim calcmode="lin" valueType="num">
                                      <p:cBhvr>
                                        <p:cTn id="21" dur="1000" fill="hold"/>
                                        <p:tgtEl>
                                          <p:spTgt spid="30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01"/>
                                        </p:tgtEl>
                                        <p:attrNameLst>
                                          <p:attrName>style.visibility</p:attrName>
                                        </p:attrNameLst>
                                      </p:cBhvr>
                                      <p:to>
                                        <p:strVal val="visible"/>
                                      </p:to>
                                    </p:set>
                                    <p:animEffect transition="in" filter="fade">
                                      <p:cBhvr>
                                        <p:cTn id="24" dur="1000"/>
                                        <p:tgtEl>
                                          <p:spTgt spid="301"/>
                                        </p:tgtEl>
                                      </p:cBhvr>
                                    </p:animEffect>
                                    <p:anim calcmode="lin" valueType="num">
                                      <p:cBhvr>
                                        <p:cTn id="25" dur="1000" fill="hold"/>
                                        <p:tgtEl>
                                          <p:spTgt spid="301"/>
                                        </p:tgtEl>
                                        <p:attrNameLst>
                                          <p:attrName>ppt_x</p:attrName>
                                        </p:attrNameLst>
                                      </p:cBhvr>
                                      <p:tavLst>
                                        <p:tav tm="0">
                                          <p:val>
                                            <p:strVal val="#ppt_x"/>
                                          </p:val>
                                        </p:tav>
                                        <p:tav tm="100000">
                                          <p:val>
                                            <p:strVal val="#ppt_x"/>
                                          </p:val>
                                        </p:tav>
                                      </p:tavLst>
                                    </p:anim>
                                    <p:anim calcmode="lin" valueType="num">
                                      <p:cBhvr>
                                        <p:cTn id="26" dur="1000" fill="hold"/>
                                        <p:tgtEl>
                                          <p:spTgt spid="30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00"/>
                                        </p:tgtEl>
                                        <p:attrNameLst>
                                          <p:attrName>style.visibility</p:attrName>
                                        </p:attrNameLst>
                                      </p:cBhvr>
                                      <p:to>
                                        <p:strVal val="visible"/>
                                      </p:to>
                                    </p:set>
                                    <p:animEffect transition="in" filter="fade">
                                      <p:cBhvr>
                                        <p:cTn id="31" dur="1000"/>
                                        <p:tgtEl>
                                          <p:spTgt spid="300"/>
                                        </p:tgtEl>
                                      </p:cBhvr>
                                    </p:animEffect>
                                    <p:anim calcmode="lin" valueType="num">
                                      <p:cBhvr>
                                        <p:cTn id="32" dur="1000" fill="hold"/>
                                        <p:tgtEl>
                                          <p:spTgt spid="300"/>
                                        </p:tgtEl>
                                        <p:attrNameLst>
                                          <p:attrName>ppt_x</p:attrName>
                                        </p:attrNameLst>
                                      </p:cBhvr>
                                      <p:tavLst>
                                        <p:tav tm="0">
                                          <p:val>
                                            <p:strVal val="#ppt_x"/>
                                          </p:val>
                                        </p:tav>
                                        <p:tav tm="100000">
                                          <p:val>
                                            <p:strVal val="#ppt_x"/>
                                          </p:val>
                                        </p:tav>
                                      </p:tavLst>
                                    </p:anim>
                                    <p:anim calcmode="lin" valueType="num">
                                      <p:cBhvr>
                                        <p:cTn id="33" dur="1000" fill="hold"/>
                                        <p:tgtEl>
                                          <p:spTgt spid="300"/>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99"/>
                                        </p:tgtEl>
                                        <p:attrNameLst>
                                          <p:attrName>style.visibility</p:attrName>
                                        </p:attrNameLst>
                                      </p:cBhvr>
                                      <p:to>
                                        <p:strVal val="visible"/>
                                      </p:to>
                                    </p:set>
                                    <p:animEffect transition="in" filter="fade">
                                      <p:cBhvr>
                                        <p:cTn id="36" dur="1000"/>
                                        <p:tgtEl>
                                          <p:spTgt spid="299"/>
                                        </p:tgtEl>
                                      </p:cBhvr>
                                    </p:animEffect>
                                    <p:anim calcmode="lin" valueType="num">
                                      <p:cBhvr>
                                        <p:cTn id="37" dur="1000" fill="hold"/>
                                        <p:tgtEl>
                                          <p:spTgt spid="299"/>
                                        </p:tgtEl>
                                        <p:attrNameLst>
                                          <p:attrName>ppt_x</p:attrName>
                                        </p:attrNameLst>
                                      </p:cBhvr>
                                      <p:tavLst>
                                        <p:tav tm="0">
                                          <p:val>
                                            <p:strVal val="#ppt_x"/>
                                          </p:val>
                                        </p:tav>
                                        <p:tav tm="100000">
                                          <p:val>
                                            <p:strVal val="#ppt_x"/>
                                          </p:val>
                                        </p:tav>
                                      </p:tavLst>
                                    </p:anim>
                                    <p:anim calcmode="lin" valueType="num">
                                      <p:cBhvr>
                                        <p:cTn id="38" dur="1000" fill="hold"/>
                                        <p:tgtEl>
                                          <p:spTgt spid="29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298"/>
                                        </p:tgtEl>
                                        <p:attrNameLst>
                                          <p:attrName>style.visibility</p:attrName>
                                        </p:attrNameLst>
                                      </p:cBhvr>
                                      <p:to>
                                        <p:strVal val="visible"/>
                                      </p:to>
                                    </p:set>
                                    <p:animEffect transition="in" filter="fade">
                                      <p:cBhvr>
                                        <p:cTn id="43" dur="1000"/>
                                        <p:tgtEl>
                                          <p:spTgt spid="298"/>
                                        </p:tgtEl>
                                      </p:cBhvr>
                                    </p:animEffect>
                                    <p:anim calcmode="lin" valueType="num">
                                      <p:cBhvr>
                                        <p:cTn id="44" dur="1000" fill="hold"/>
                                        <p:tgtEl>
                                          <p:spTgt spid="298"/>
                                        </p:tgtEl>
                                        <p:attrNameLst>
                                          <p:attrName>ppt_x</p:attrName>
                                        </p:attrNameLst>
                                      </p:cBhvr>
                                      <p:tavLst>
                                        <p:tav tm="0">
                                          <p:val>
                                            <p:strVal val="#ppt_x"/>
                                          </p:val>
                                        </p:tav>
                                        <p:tav tm="100000">
                                          <p:val>
                                            <p:strVal val="#ppt_x"/>
                                          </p:val>
                                        </p:tav>
                                      </p:tavLst>
                                    </p:anim>
                                    <p:anim calcmode="lin" valueType="num">
                                      <p:cBhvr>
                                        <p:cTn id="45" dur="1000" fill="hold"/>
                                        <p:tgtEl>
                                          <p:spTgt spid="29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297"/>
                                        </p:tgtEl>
                                        <p:attrNameLst>
                                          <p:attrName>style.visibility</p:attrName>
                                        </p:attrNameLst>
                                      </p:cBhvr>
                                      <p:to>
                                        <p:strVal val="visible"/>
                                      </p:to>
                                    </p:set>
                                    <p:animEffect transition="in" filter="fade">
                                      <p:cBhvr>
                                        <p:cTn id="48" dur="1000"/>
                                        <p:tgtEl>
                                          <p:spTgt spid="297"/>
                                        </p:tgtEl>
                                      </p:cBhvr>
                                    </p:animEffect>
                                    <p:anim calcmode="lin" valueType="num">
                                      <p:cBhvr>
                                        <p:cTn id="49" dur="1000" fill="hold"/>
                                        <p:tgtEl>
                                          <p:spTgt spid="297"/>
                                        </p:tgtEl>
                                        <p:attrNameLst>
                                          <p:attrName>ppt_x</p:attrName>
                                        </p:attrNameLst>
                                      </p:cBhvr>
                                      <p:tavLst>
                                        <p:tav tm="0">
                                          <p:val>
                                            <p:strVal val="#ppt_x"/>
                                          </p:val>
                                        </p:tav>
                                        <p:tav tm="100000">
                                          <p:val>
                                            <p:strVal val="#ppt_x"/>
                                          </p:val>
                                        </p:tav>
                                      </p:tavLst>
                                    </p:anim>
                                    <p:anim calcmode="lin" valueType="num">
                                      <p:cBhvr>
                                        <p:cTn id="50" dur="1000" fill="hold"/>
                                        <p:tgtEl>
                                          <p:spTgt spid="297"/>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295"/>
                                        </p:tgtEl>
                                        <p:attrNameLst>
                                          <p:attrName>style.visibility</p:attrName>
                                        </p:attrNameLst>
                                      </p:cBhvr>
                                      <p:to>
                                        <p:strVal val="visible"/>
                                      </p:to>
                                    </p:set>
                                    <p:animEffect transition="in" filter="fade">
                                      <p:cBhvr>
                                        <p:cTn id="55" dur="1000"/>
                                        <p:tgtEl>
                                          <p:spTgt spid="295"/>
                                        </p:tgtEl>
                                      </p:cBhvr>
                                    </p:animEffect>
                                    <p:anim calcmode="lin" valueType="num">
                                      <p:cBhvr>
                                        <p:cTn id="56" dur="1000" fill="hold"/>
                                        <p:tgtEl>
                                          <p:spTgt spid="295"/>
                                        </p:tgtEl>
                                        <p:attrNameLst>
                                          <p:attrName>ppt_x</p:attrName>
                                        </p:attrNameLst>
                                      </p:cBhvr>
                                      <p:tavLst>
                                        <p:tav tm="0">
                                          <p:val>
                                            <p:strVal val="#ppt_x"/>
                                          </p:val>
                                        </p:tav>
                                        <p:tav tm="100000">
                                          <p:val>
                                            <p:strVal val="#ppt_x"/>
                                          </p:val>
                                        </p:tav>
                                      </p:tavLst>
                                    </p:anim>
                                    <p:anim calcmode="lin" valueType="num">
                                      <p:cBhvr>
                                        <p:cTn id="57" dur="1000" fill="hold"/>
                                        <p:tgtEl>
                                          <p:spTgt spid="295"/>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96"/>
                                        </p:tgtEl>
                                        <p:attrNameLst>
                                          <p:attrName>style.visibility</p:attrName>
                                        </p:attrNameLst>
                                      </p:cBhvr>
                                      <p:to>
                                        <p:strVal val="visible"/>
                                      </p:to>
                                    </p:set>
                                    <p:animEffect transition="in" filter="fade">
                                      <p:cBhvr>
                                        <p:cTn id="60" dur="1000"/>
                                        <p:tgtEl>
                                          <p:spTgt spid="296"/>
                                        </p:tgtEl>
                                      </p:cBhvr>
                                    </p:animEffect>
                                    <p:anim calcmode="lin" valueType="num">
                                      <p:cBhvr>
                                        <p:cTn id="61" dur="1000" fill="hold"/>
                                        <p:tgtEl>
                                          <p:spTgt spid="296"/>
                                        </p:tgtEl>
                                        <p:attrNameLst>
                                          <p:attrName>ppt_x</p:attrName>
                                        </p:attrNameLst>
                                      </p:cBhvr>
                                      <p:tavLst>
                                        <p:tav tm="0">
                                          <p:val>
                                            <p:strVal val="#ppt_x"/>
                                          </p:val>
                                        </p:tav>
                                        <p:tav tm="100000">
                                          <p:val>
                                            <p:strVal val="#ppt_x"/>
                                          </p:val>
                                        </p:tav>
                                      </p:tavLst>
                                    </p:anim>
                                    <p:anim calcmode="lin" valueType="num">
                                      <p:cBhvr>
                                        <p:cTn id="62" dur="1000" fill="hold"/>
                                        <p:tgtEl>
                                          <p:spTgt spid="2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 grpId="0" animBg="1"/>
      <p:bldP spid="296" grpId="0"/>
      <p:bldP spid="297" grpId="0" animBg="1"/>
      <p:bldP spid="298" grpId="0"/>
      <p:bldP spid="299" grpId="0" animBg="1"/>
      <p:bldP spid="300" grpId="0"/>
      <p:bldP spid="301" grpId="0" animBg="1"/>
      <p:bldP spid="302" grpId="0"/>
      <p:bldP spid="303" grpId="0" animBg="1"/>
      <p:bldP spid="30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11" descr="One glowing light bulb in sea of unlit bulbs"/>
          <p:cNvPicPr preferRelativeResize="0"/>
          <p:nvPr/>
        </p:nvPicPr>
        <p:blipFill rotWithShape="1">
          <a:blip r:embed="rId3">
            <a:alphaModFix amt="50000"/>
          </a:blip>
          <a:srcRect/>
          <a:stretch/>
        </p:blipFill>
        <p:spPr>
          <a:xfrm>
            <a:off x="0" y="0"/>
            <a:ext cx="12192000" cy="6129300"/>
          </a:xfrm>
          <a:prstGeom prst="rect">
            <a:avLst/>
          </a:prstGeom>
          <a:solidFill>
            <a:srgbClr val="ECECEC"/>
          </a:solidFill>
          <a:ln>
            <a:noFill/>
          </a:ln>
          <a:effectLst>
            <a:outerShdw blurRad="55000" dist="18000" dir="5400000" algn="tl" rotWithShape="0">
              <a:srgbClr val="000000">
                <a:alpha val="40000"/>
              </a:srgbClr>
            </a:outerShdw>
          </a:effectLst>
        </p:spPr>
      </p:pic>
      <p:sp>
        <p:nvSpPr>
          <p:cNvPr id="313" name="Google Shape;313;p11"/>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Gill Sans"/>
              <a:buNone/>
            </a:pPr>
            <a:r>
              <a:rPr lang="en-US" dirty="0">
                <a:solidFill>
                  <a:srgbClr val="0070C0"/>
                </a:solidFill>
              </a:rPr>
              <a:t>S</a:t>
            </a:r>
            <a:r>
              <a:rPr lang="tr-TR" dirty="0" err="1">
                <a:solidFill>
                  <a:srgbClr val="0070C0"/>
                </a:solidFill>
              </a:rPr>
              <a:t>olutions</a:t>
            </a:r>
            <a:r>
              <a:rPr lang="tr-TR" dirty="0">
                <a:solidFill>
                  <a:srgbClr val="0070C0"/>
                </a:solidFill>
              </a:rPr>
              <a:t> – 4 </a:t>
            </a:r>
            <a:r>
              <a:rPr lang="en-US" b="1" dirty="0">
                <a:solidFill>
                  <a:srgbClr val="0070C0"/>
                </a:solidFill>
              </a:rPr>
              <a:t>Safety Stock Remarks</a:t>
            </a:r>
            <a:endParaRPr dirty="0"/>
          </a:p>
        </p:txBody>
      </p:sp>
      <p:sp>
        <p:nvSpPr>
          <p:cNvPr id="315" name="Google Shape;315;p11"/>
          <p:cNvSpPr/>
          <p:nvPr/>
        </p:nvSpPr>
        <p:spPr>
          <a:xfrm>
            <a:off x="8795289" y="2362600"/>
            <a:ext cx="2420438" cy="2420562"/>
          </a:xfrm>
          <a:prstGeom prst="ellipse">
            <a:avLst/>
          </a:prstGeom>
          <a:solidFill>
            <a:srgbClr val="B71B42"/>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1"/>
          <p:cNvSpPr/>
          <p:nvPr/>
        </p:nvSpPr>
        <p:spPr>
          <a:xfrm>
            <a:off x="8891770" y="2443299"/>
            <a:ext cx="2259560" cy="2259163"/>
          </a:xfrm>
          <a:prstGeom prst="ellipse">
            <a:avLst/>
          </a:prstGeom>
          <a:solidFill>
            <a:schemeClr val="lt1">
              <a:alpha val="90196"/>
            </a:schemeClr>
          </a:solidFill>
          <a:ln w="1587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txBox="1"/>
          <p:nvPr/>
        </p:nvSpPr>
        <p:spPr>
          <a:xfrm>
            <a:off x="9214564" y="2766097"/>
            <a:ext cx="1613971" cy="1613566"/>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chemeClr val="dk1"/>
              </a:buClr>
              <a:buSzPts val="2100"/>
              <a:buFont typeface="Gill Sans"/>
              <a:buNone/>
            </a:pPr>
            <a:r>
              <a:rPr lang="en-US" sz="2100" dirty="0">
                <a:solidFill>
                  <a:schemeClr val="dk1"/>
                </a:solidFill>
                <a:latin typeface="Gill Sans"/>
                <a:ea typeface="Gill Sans"/>
                <a:cs typeface="Gill Sans"/>
                <a:sym typeface="Gill Sans"/>
              </a:rPr>
              <a:t>Safety stock: </a:t>
            </a:r>
            <a:endParaRPr dirty="0"/>
          </a:p>
          <a:p>
            <a:pPr marL="0" marR="0" lvl="0" indent="0" algn="ctr" rtl="0">
              <a:lnSpc>
                <a:spcPct val="90000"/>
              </a:lnSpc>
              <a:spcBef>
                <a:spcPts val="735"/>
              </a:spcBef>
              <a:spcAft>
                <a:spcPts val="0"/>
              </a:spcAft>
              <a:buClr>
                <a:schemeClr val="dk1"/>
              </a:buClr>
              <a:buSzPts val="2100"/>
              <a:buFont typeface="Gill Sans"/>
              <a:buNone/>
            </a:pPr>
            <a:r>
              <a:rPr lang="en-US" sz="2100" dirty="0">
                <a:solidFill>
                  <a:schemeClr val="dk1"/>
                </a:solidFill>
                <a:latin typeface="Gill Sans"/>
                <a:ea typeface="Gill Sans"/>
                <a:cs typeface="Gill Sans"/>
                <a:sym typeface="Gill Sans"/>
              </a:rPr>
              <a:t>25000 to 30000.</a:t>
            </a:r>
            <a:endParaRPr dirty="0"/>
          </a:p>
        </p:txBody>
      </p:sp>
      <p:sp>
        <p:nvSpPr>
          <p:cNvPr id="318" name="Google Shape;318;p11"/>
          <p:cNvSpPr/>
          <p:nvPr/>
        </p:nvSpPr>
        <p:spPr>
          <a:xfrm rot="3600000">
            <a:off x="6283493" y="2362429"/>
            <a:ext cx="2420478" cy="2420478"/>
          </a:xfrm>
          <a:prstGeom prst="teardrop">
            <a:avLst>
              <a:gd name="adj" fmla="val 100000"/>
            </a:avLst>
          </a:prstGeom>
          <a:solidFill>
            <a:srgbClr val="B71B42"/>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1"/>
          <p:cNvSpPr/>
          <p:nvPr/>
        </p:nvSpPr>
        <p:spPr>
          <a:xfrm>
            <a:off x="6374850" y="2443299"/>
            <a:ext cx="2259560" cy="2259163"/>
          </a:xfrm>
          <a:prstGeom prst="ellipse">
            <a:avLst/>
          </a:prstGeom>
          <a:solidFill>
            <a:schemeClr val="lt1">
              <a:alpha val="90196"/>
            </a:schemeClr>
          </a:solidFill>
          <a:ln w="1587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1"/>
          <p:cNvSpPr txBox="1"/>
          <p:nvPr/>
        </p:nvSpPr>
        <p:spPr>
          <a:xfrm>
            <a:off x="6697645" y="2766097"/>
            <a:ext cx="1613971" cy="1613566"/>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chemeClr val="dk1"/>
              </a:buClr>
              <a:buSzPts val="2100"/>
              <a:buFont typeface="Gill Sans"/>
              <a:buNone/>
            </a:pPr>
            <a:r>
              <a:rPr lang="en-US" sz="2100" dirty="0">
                <a:solidFill>
                  <a:schemeClr val="dk1"/>
                </a:solidFill>
                <a:latin typeface="Gill Sans"/>
                <a:ea typeface="Gill Sans"/>
                <a:cs typeface="Gill Sans"/>
                <a:sym typeface="Gill Sans"/>
              </a:rPr>
              <a:t>Lead time assumption:</a:t>
            </a:r>
            <a:endParaRPr dirty="0"/>
          </a:p>
          <a:p>
            <a:pPr marL="0" marR="0" lvl="0" indent="0" algn="ctr" rtl="0">
              <a:lnSpc>
                <a:spcPct val="90000"/>
              </a:lnSpc>
              <a:spcBef>
                <a:spcPts val="735"/>
              </a:spcBef>
              <a:spcAft>
                <a:spcPts val="0"/>
              </a:spcAft>
              <a:buClr>
                <a:schemeClr val="dk1"/>
              </a:buClr>
              <a:buSzPts val="2100"/>
              <a:buFont typeface="Gill Sans"/>
              <a:buNone/>
            </a:pPr>
            <a:r>
              <a:rPr lang="en-US" sz="2100" dirty="0">
                <a:solidFill>
                  <a:schemeClr val="dk1"/>
                </a:solidFill>
                <a:latin typeface="Gill Sans"/>
                <a:ea typeface="Gill Sans"/>
                <a:cs typeface="Gill Sans"/>
                <a:sym typeface="Gill Sans"/>
              </a:rPr>
              <a:t>1 month.</a:t>
            </a:r>
            <a:endParaRPr dirty="0"/>
          </a:p>
        </p:txBody>
      </p:sp>
      <p:sp>
        <p:nvSpPr>
          <p:cNvPr id="321" name="Google Shape;321;p11"/>
          <p:cNvSpPr/>
          <p:nvPr/>
        </p:nvSpPr>
        <p:spPr>
          <a:xfrm rot="1800000">
            <a:off x="3792476" y="2362429"/>
            <a:ext cx="2420478" cy="2420478"/>
          </a:xfrm>
          <a:prstGeom prst="teardrop">
            <a:avLst>
              <a:gd name="adj" fmla="val 100000"/>
            </a:avLst>
          </a:prstGeom>
          <a:solidFill>
            <a:srgbClr val="B71B42"/>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1"/>
          <p:cNvSpPr/>
          <p:nvPr/>
        </p:nvSpPr>
        <p:spPr>
          <a:xfrm>
            <a:off x="3873454" y="2443299"/>
            <a:ext cx="2259560" cy="2259163"/>
          </a:xfrm>
          <a:prstGeom prst="ellipse">
            <a:avLst/>
          </a:prstGeom>
          <a:solidFill>
            <a:schemeClr val="lt1">
              <a:alpha val="90196"/>
            </a:schemeClr>
          </a:solidFill>
          <a:ln w="1587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txBox="1"/>
          <p:nvPr/>
        </p:nvSpPr>
        <p:spPr>
          <a:xfrm>
            <a:off x="4196248" y="2766097"/>
            <a:ext cx="1644266" cy="1613566"/>
          </a:xfrm>
          <a:prstGeom prst="rect">
            <a:avLst/>
          </a:prstGeom>
          <a:noFill/>
          <a:ln>
            <a:noFill/>
          </a:ln>
        </p:spPr>
        <p:txBody>
          <a:bodyPr spcFirstLastPara="1" wrap="square" lIns="26650" tIns="26650" rIns="26650" bIns="26650" anchor="ctr" anchorCtr="0">
            <a:noAutofit/>
          </a:bodyPr>
          <a:lstStyle/>
          <a:p>
            <a:pPr marL="0" marR="0" lvl="0" indent="0" algn="ctr" rtl="0">
              <a:lnSpc>
                <a:spcPct val="90000"/>
              </a:lnSpc>
              <a:spcBef>
                <a:spcPts val="0"/>
              </a:spcBef>
              <a:spcAft>
                <a:spcPts val="0"/>
              </a:spcAft>
              <a:buClr>
                <a:schemeClr val="dk1"/>
              </a:buClr>
              <a:buSzPts val="2100"/>
              <a:buFont typeface="Gill Sans"/>
              <a:buNone/>
            </a:pPr>
            <a:r>
              <a:rPr lang="en-US" sz="2100" dirty="0">
                <a:solidFill>
                  <a:schemeClr val="dk1"/>
                </a:solidFill>
                <a:latin typeface="Gill Sans"/>
                <a:ea typeface="Gill Sans"/>
                <a:cs typeface="Gill Sans"/>
                <a:sym typeface="Gill Sans"/>
              </a:rPr>
              <a:t>Assumption-2: </a:t>
            </a:r>
            <a:endParaRPr dirty="0"/>
          </a:p>
          <a:p>
            <a:pPr marL="0" marR="0" lvl="0" indent="0" algn="ctr" rtl="0">
              <a:lnSpc>
                <a:spcPct val="90000"/>
              </a:lnSpc>
              <a:spcBef>
                <a:spcPts val="735"/>
              </a:spcBef>
              <a:spcAft>
                <a:spcPts val="0"/>
              </a:spcAft>
              <a:buClr>
                <a:schemeClr val="dk1"/>
              </a:buClr>
              <a:buSzPts val="2100"/>
              <a:buFont typeface="Gill Sans"/>
              <a:buNone/>
            </a:pPr>
            <a:r>
              <a:rPr lang="tr-TR" sz="2100" dirty="0">
                <a:solidFill>
                  <a:schemeClr val="dk1"/>
                </a:solidFill>
                <a:latin typeface="Gill Sans"/>
                <a:ea typeface="Gill Sans"/>
                <a:cs typeface="Gill Sans"/>
                <a:sym typeface="Gill Sans"/>
              </a:rPr>
              <a:t>W</a:t>
            </a:r>
            <a:r>
              <a:rPr lang="en-US" sz="2100" dirty="0">
                <a:solidFill>
                  <a:schemeClr val="dk1"/>
                </a:solidFill>
                <a:latin typeface="Gill Sans"/>
                <a:ea typeface="Gill Sans"/>
                <a:cs typeface="Gill Sans"/>
                <a:sym typeface="Gill Sans"/>
              </a:rPr>
              <a:t>here to keep safety stock?</a:t>
            </a:r>
            <a:endParaRPr dirty="0"/>
          </a:p>
        </p:txBody>
      </p:sp>
      <p:sp>
        <p:nvSpPr>
          <p:cNvPr id="324" name="Google Shape;324;p11"/>
          <p:cNvSpPr/>
          <p:nvPr/>
        </p:nvSpPr>
        <p:spPr>
          <a:xfrm rot="3600000">
            <a:off x="1291079" y="2362429"/>
            <a:ext cx="2420478" cy="2420478"/>
          </a:xfrm>
          <a:prstGeom prst="teardrop">
            <a:avLst>
              <a:gd name="adj" fmla="val 100000"/>
            </a:avLst>
          </a:prstGeom>
          <a:solidFill>
            <a:srgbClr val="B71B42"/>
          </a:solid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1"/>
          <p:cNvSpPr/>
          <p:nvPr/>
        </p:nvSpPr>
        <p:spPr>
          <a:xfrm>
            <a:off x="1372057" y="2443299"/>
            <a:ext cx="2259560" cy="2259163"/>
          </a:xfrm>
          <a:prstGeom prst="ellipse">
            <a:avLst/>
          </a:prstGeom>
          <a:solidFill>
            <a:schemeClr val="lt1">
              <a:alpha val="90196"/>
            </a:schemeClr>
          </a:solidFill>
          <a:ln w="15875" cap="flat" cmpd="sng">
            <a:solidFill>
              <a:srgbClr val="B71B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txBox="1"/>
          <p:nvPr/>
        </p:nvSpPr>
        <p:spPr>
          <a:xfrm>
            <a:off x="1694851" y="2766097"/>
            <a:ext cx="1613971" cy="1613566"/>
          </a:xfrm>
          <a:prstGeom prst="rect">
            <a:avLst/>
          </a:prstGeom>
          <a:noFill/>
          <a:ln>
            <a:noFill/>
          </a:ln>
        </p:spPr>
        <p:txBody>
          <a:bodyPr spcFirstLastPara="1" wrap="square" lIns="25400" tIns="25400" rIns="25400" bIns="25400" anchor="ctr" anchorCtr="0">
            <a:noAutofit/>
          </a:bodyPr>
          <a:lstStyle/>
          <a:p>
            <a:pPr marL="0" marR="0" lvl="0" indent="0" algn="ctr" rtl="0">
              <a:lnSpc>
                <a:spcPct val="90000"/>
              </a:lnSpc>
              <a:spcBef>
                <a:spcPts val="0"/>
              </a:spcBef>
              <a:spcAft>
                <a:spcPts val="0"/>
              </a:spcAft>
              <a:buClr>
                <a:schemeClr val="dk1"/>
              </a:buClr>
              <a:buSzPts val="2000"/>
              <a:buFont typeface="Gill Sans"/>
              <a:buNone/>
            </a:pPr>
            <a:r>
              <a:rPr lang="en-US" sz="2000" dirty="0">
                <a:solidFill>
                  <a:schemeClr val="dk1"/>
                </a:solidFill>
                <a:latin typeface="Gill Sans"/>
                <a:ea typeface="Gill Sans"/>
                <a:cs typeface="Gill Sans"/>
                <a:sym typeface="Gill Sans"/>
              </a:rPr>
              <a:t>Assumption-1:</a:t>
            </a:r>
            <a:endParaRPr dirty="0"/>
          </a:p>
          <a:p>
            <a:pPr marL="0" marR="0" lvl="0" indent="0" algn="ctr" rtl="0">
              <a:lnSpc>
                <a:spcPct val="90000"/>
              </a:lnSpc>
              <a:spcBef>
                <a:spcPts val="700"/>
              </a:spcBef>
              <a:spcAft>
                <a:spcPts val="0"/>
              </a:spcAft>
              <a:buClr>
                <a:schemeClr val="dk1"/>
              </a:buClr>
              <a:buSzPts val="2100"/>
              <a:buFont typeface="Gill Sans"/>
              <a:buNone/>
            </a:pPr>
            <a:r>
              <a:rPr lang="tr-TR" sz="2100" dirty="0">
                <a:solidFill>
                  <a:schemeClr val="dk1"/>
                </a:solidFill>
                <a:latin typeface="Gill Sans"/>
                <a:ea typeface="Gill Sans"/>
                <a:cs typeface="Gill Sans"/>
                <a:sym typeface="Gill Sans"/>
              </a:rPr>
              <a:t>S</a:t>
            </a:r>
            <a:r>
              <a:rPr lang="en-US" sz="2100" dirty="0" err="1">
                <a:solidFill>
                  <a:schemeClr val="dk1"/>
                </a:solidFill>
                <a:latin typeface="Gill Sans"/>
                <a:ea typeface="Gill Sans"/>
                <a:cs typeface="Gill Sans"/>
                <a:sym typeface="Gill Sans"/>
              </a:rPr>
              <a:t>afety</a:t>
            </a:r>
            <a:r>
              <a:rPr lang="en-US" sz="2100" dirty="0">
                <a:solidFill>
                  <a:schemeClr val="dk1"/>
                </a:solidFill>
                <a:latin typeface="Gill Sans"/>
                <a:ea typeface="Gill Sans"/>
                <a:cs typeface="Gill Sans"/>
                <a:sym typeface="Gill Sans"/>
              </a:rPr>
              <a:t> stock value?</a:t>
            </a:r>
            <a:endParaRPr dirty="0"/>
          </a:p>
        </p:txBody>
      </p:sp>
      <p:sp>
        <p:nvSpPr>
          <p:cNvPr id="327" name="Google Shape;327;p11"/>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26"/>
                                        </p:tgtEl>
                                        <p:attrNameLst>
                                          <p:attrName>style.visibility</p:attrName>
                                        </p:attrNameLst>
                                      </p:cBhvr>
                                      <p:to>
                                        <p:strVal val="visible"/>
                                      </p:to>
                                    </p:set>
                                    <p:anim calcmode="lin" valueType="num">
                                      <p:cBhvr additive="base">
                                        <p:cTn id="7" dur="500" fill="hold"/>
                                        <p:tgtEl>
                                          <p:spTgt spid="326"/>
                                        </p:tgtEl>
                                        <p:attrNameLst>
                                          <p:attrName>ppt_x</p:attrName>
                                        </p:attrNameLst>
                                      </p:cBhvr>
                                      <p:tavLst>
                                        <p:tav tm="0">
                                          <p:val>
                                            <p:strVal val="0-#ppt_w/2"/>
                                          </p:val>
                                        </p:tav>
                                        <p:tav tm="100000">
                                          <p:val>
                                            <p:strVal val="#ppt_x"/>
                                          </p:val>
                                        </p:tav>
                                      </p:tavLst>
                                    </p:anim>
                                    <p:anim calcmode="lin" valueType="num">
                                      <p:cBhvr additive="base">
                                        <p:cTn id="8" dur="500" fill="hold"/>
                                        <p:tgtEl>
                                          <p:spTgt spid="32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324"/>
                                        </p:tgtEl>
                                        <p:attrNameLst>
                                          <p:attrName>style.visibility</p:attrName>
                                        </p:attrNameLst>
                                      </p:cBhvr>
                                      <p:to>
                                        <p:strVal val="visible"/>
                                      </p:to>
                                    </p:set>
                                    <p:anim calcmode="lin" valueType="num">
                                      <p:cBhvr additive="base">
                                        <p:cTn id="11" dur="500" fill="hold"/>
                                        <p:tgtEl>
                                          <p:spTgt spid="324"/>
                                        </p:tgtEl>
                                        <p:attrNameLst>
                                          <p:attrName>ppt_x</p:attrName>
                                        </p:attrNameLst>
                                      </p:cBhvr>
                                      <p:tavLst>
                                        <p:tav tm="0">
                                          <p:val>
                                            <p:strVal val="0-#ppt_w/2"/>
                                          </p:val>
                                        </p:tav>
                                        <p:tav tm="100000">
                                          <p:val>
                                            <p:strVal val="#ppt_x"/>
                                          </p:val>
                                        </p:tav>
                                      </p:tavLst>
                                    </p:anim>
                                    <p:anim calcmode="lin" valueType="num">
                                      <p:cBhvr additive="base">
                                        <p:cTn id="12" dur="500" fill="hold"/>
                                        <p:tgtEl>
                                          <p:spTgt spid="324"/>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325"/>
                                        </p:tgtEl>
                                        <p:attrNameLst>
                                          <p:attrName>style.visibility</p:attrName>
                                        </p:attrNameLst>
                                      </p:cBhvr>
                                      <p:to>
                                        <p:strVal val="visible"/>
                                      </p:to>
                                    </p:set>
                                    <p:anim calcmode="lin" valueType="num">
                                      <p:cBhvr additive="base">
                                        <p:cTn id="15" dur="500" fill="hold"/>
                                        <p:tgtEl>
                                          <p:spTgt spid="325"/>
                                        </p:tgtEl>
                                        <p:attrNameLst>
                                          <p:attrName>ppt_x</p:attrName>
                                        </p:attrNameLst>
                                      </p:cBhvr>
                                      <p:tavLst>
                                        <p:tav tm="0">
                                          <p:val>
                                            <p:strVal val="0-#ppt_w/2"/>
                                          </p:val>
                                        </p:tav>
                                        <p:tav tm="100000">
                                          <p:val>
                                            <p:strVal val="#ppt_x"/>
                                          </p:val>
                                        </p:tav>
                                      </p:tavLst>
                                    </p:anim>
                                    <p:anim calcmode="lin" valueType="num">
                                      <p:cBhvr additive="base">
                                        <p:cTn id="16" dur="500" fill="hold"/>
                                        <p:tgtEl>
                                          <p:spTgt spid="32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23"/>
                                        </p:tgtEl>
                                        <p:attrNameLst>
                                          <p:attrName>style.visibility</p:attrName>
                                        </p:attrNameLst>
                                      </p:cBhvr>
                                      <p:to>
                                        <p:strVal val="visible"/>
                                      </p:to>
                                    </p:set>
                                    <p:anim calcmode="lin" valueType="num">
                                      <p:cBhvr additive="base">
                                        <p:cTn id="21" dur="500" fill="hold"/>
                                        <p:tgtEl>
                                          <p:spTgt spid="323"/>
                                        </p:tgtEl>
                                        <p:attrNameLst>
                                          <p:attrName>ppt_x</p:attrName>
                                        </p:attrNameLst>
                                      </p:cBhvr>
                                      <p:tavLst>
                                        <p:tav tm="0">
                                          <p:val>
                                            <p:strVal val="0-#ppt_w/2"/>
                                          </p:val>
                                        </p:tav>
                                        <p:tav tm="100000">
                                          <p:val>
                                            <p:strVal val="#ppt_x"/>
                                          </p:val>
                                        </p:tav>
                                      </p:tavLst>
                                    </p:anim>
                                    <p:anim calcmode="lin" valueType="num">
                                      <p:cBhvr additive="base">
                                        <p:cTn id="22" dur="500" fill="hold"/>
                                        <p:tgtEl>
                                          <p:spTgt spid="323"/>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322"/>
                                        </p:tgtEl>
                                        <p:attrNameLst>
                                          <p:attrName>style.visibility</p:attrName>
                                        </p:attrNameLst>
                                      </p:cBhvr>
                                      <p:to>
                                        <p:strVal val="visible"/>
                                      </p:to>
                                    </p:set>
                                    <p:anim calcmode="lin" valueType="num">
                                      <p:cBhvr additive="base">
                                        <p:cTn id="25" dur="500" fill="hold"/>
                                        <p:tgtEl>
                                          <p:spTgt spid="322"/>
                                        </p:tgtEl>
                                        <p:attrNameLst>
                                          <p:attrName>ppt_x</p:attrName>
                                        </p:attrNameLst>
                                      </p:cBhvr>
                                      <p:tavLst>
                                        <p:tav tm="0">
                                          <p:val>
                                            <p:strVal val="0-#ppt_w/2"/>
                                          </p:val>
                                        </p:tav>
                                        <p:tav tm="100000">
                                          <p:val>
                                            <p:strVal val="#ppt_x"/>
                                          </p:val>
                                        </p:tav>
                                      </p:tavLst>
                                    </p:anim>
                                    <p:anim calcmode="lin" valueType="num">
                                      <p:cBhvr additive="base">
                                        <p:cTn id="26" dur="500" fill="hold"/>
                                        <p:tgtEl>
                                          <p:spTgt spid="322"/>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321"/>
                                        </p:tgtEl>
                                        <p:attrNameLst>
                                          <p:attrName>style.visibility</p:attrName>
                                        </p:attrNameLst>
                                      </p:cBhvr>
                                      <p:to>
                                        <p:strVal val="visible"/>
                                      </p:to>
                                    </p:set>
                                    <p:anim calcmode="lin" valueType="num">
                                      <p:cBhvr additive="base">
                                        <p:cTn id="29" dur="500" fill="hold"/>
                                        <p:tgtEl>
                                          <p:spTgt spid="321"/>
                                        </p:tgtEl>
                                        <p:attrNameLst>
                                          <p:attrName>ppt_x</p:attrName>
                                        </p:attrNameLst>
                                      </p:cBhvr>
                                      <p:tavLst>
                                        <p:tav tm="0">
                                          <p:val>
                                            <p:strVal val="0-#ppt_w/2"/>
                                          </p:val>
                                        </p:tav>
                                        <p:tav tm="100000">
                                          <p:val>
                                            <p:strVal val="#ppt_x"/>
                                          </p:val>
                                        </p:tav>
                                      </p:tavLst>
                                    </p:anim>
                                    <p:anim calcmode="lin" valueType="num">
                                      <p:cBhvr additive="base">
                                        <p:cTn id="30" dur="500" fill="hold"/>
                                        <p:tgtEl>
                                          <p:spTgt spid="32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19"/>
                                        </p:tgtEl>
                                        <p:attrNameLst>
                                          <p:attrName>style.visibility</p:attrName>
                                        </p:attrNameLst>
                                      </p:cBhvr>
                                      <p:to>
                                        <p:strVal val="visible"/>
                                      </p:to>
                                    </p:set>
                                    <p:anim calcmode="lin" valueType="num">
                                      <p:cBhvr additive="base">
                                        <p:cTn id="35" dur="500" fill="hold"/>
                                        <p:tgtEl>
                                          <p:spTgt spid="319"/>
                                        </p:tgtEl>
                                        <p:attrNameLst>
                                          <p:attrName>ppt_x</p:attrName>
                                        </p:attrNameLst>
                                      </p:cBhvr>
                                      <p:tavLst>
                                        <p:tav tm="0">
                                          <p:val>
                                            <p:strVal val="0-#ppt_w/2"/>
                                          </p:val>
                                        </p:tav>
                                        <p:tav tm="100000">
                                          <p:val>
                                            <p:strVal val="#ppt_x"/>
                                          </p:val>
                                        </p:tav>
                                      </p:tavLst>
                                    </p:anim>
                                    <p:anim calcmode="lin" valueType="num">
                                      <p:cBhvr additive="base">
                                        <p:cTn id="36" dur="500" fill="hold"/>
                                        <p:tgtEl>
                                          <p:spTgt spid="319"/>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320"/>
                                        </p:tgtEl>
                                        <p:attrNameLst>
                                          <p:attrName>style.visibility</p:attrName>
                                        </p:attrNameLst>
                                      </p:cBhvr>
                                      <p:to>
                                        <p:strVal val="visible"/>
                                      </p:to>
                                    </p:set>
                                    <p:anim calcmode="lin" valueType="num">
                                      <p:cBhvr additive="base">
                                        <p:cTn id="39" dur="500" fill="hold"/>
                                        <p:tgtEl>
                                          <p:spTgt spid="320"/>
                                        </p:tgtEl>
                                        <p:attrNameLst>
                                          <p:attrName>ppt_x</p:attrName>
                                        </p:attrNameLst>
                                      </p:cBhvr>
                                      <p:tavLst>
                                        <p:tav tm="0">
                                          <p:val>
                                            <p:strVal val="0-#ppt_w/2"/>
                                          </p:val>
                                        </p:tav>
                                        <p:tav tm="100000">
                                          <p:val>
                                            <p:strVal val="#ppt_x"/>
                                          </p:val>
                                        </p:tav>
                                      </p:tavLst>
                                    </p:anim>
                                    <p:anim calcmode="lin" valueType="num">
                                      <p:cBhvr additive="base">
                                        <p:cTn id="40" dur="500" fill="hold"/>
                                        <p:tgtEl>
                                          <p:spTgt spid="32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318"/>
                                        </p:tgtEl>
                                        <p:attrNameLst>
                                          <p:attrName>style.visibility</p:attrName>
                                        </p:attrNameLst>
                                      </p:cBhvr>
                                      <p:to>
                                        <p:strVal val="visible"/>
                                      </p:to>
                                    </p:set>
                                    <p:anim calcmode="lin" valueType="num">
                                      <p:cBhvr additive="base">
                                        <p:cTn id="43" dur="500" fill="hold"/>
                                        <p:tgtEl>
                                          <p:spTgt spid="318"/>
                                        </p:tgtEl>
                                        <p:attrNameLst>
                                          <p:attrName>ppt_x</p:attrName>
                                        </p:attrNameLst>
                                      </p:cBhvr>
                                      <p:tavLst>
                                        <p:tav tm="0">
                                          <p:val>
                                            <p:strVal val="0-#ppt_w/2"/>
                                          </p:val>
                                        </p:tav>
                                        <p:tav tm="100000">
                                          <p:val>
                                            <p:strVal val="#ppt_x"/>
                                          </p:val>
                                        </p:tav>
                                      </p:tavLst>
                                    </p:anim>
                                    <p:anim calcmode="lin" valueType="num">
                                      <p:cBhvr additive="base">
                                        <p:cTn id="44" dur="500" fill="hold"/>
                                        <p:tgtEl>
                                          <p:spTgt spid="318"/>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317"/>
                                        </p:tgtEl>
                                        <p:attrNameLst>
                                          <p:attrName>style.visibility</p:attrName>
                                        </p:attrNameLst>
                                      </p:cBhvr>
                                      <p:to>
                                        <p:strVal val="visible"/>
                                      </p:to>
                                    </p:set>
                                    <p:anim calcmode="lin" valueType="num">
                                      <p:cBhvr additive="base">
                                        <p:cTn id="49" dur="500" fill="hold"/>
                                        <p:tgtEl>
                                          <p:spTgt spid="317"/>
                                        </p:tgtEl>
                                        <p:attrNameLst>
                                          <p:attrName>ppt_x</p:attrName>
                                        </p:attrNameLst>
                                      </p:cBhvr>
                                      <p:tavLst>
                                        <p:tav tm="0">
                                          <p:val>
                                            <p:strVal val="0-#ppt_w/2"/>
                                          </p:val>
                                        </p:tav>
                                        <p:tav tm="100000">
                                          <p:val>
                                            <p:strVal val="#ppt_x"/>
                                          </p:val>
                                        </p:tav>
                                      </p:tavLst>
                                    </p:anim>
                                    <p:anim calcmode="lin" valueType="num">
                                      <p:cBhvr additive="base">
                                        <p:cTn id="50" dur="500" fill="hold"/>
                                        <p:tgtEl>
                                          <p:spTgt spid="317"/>
                                        </p:tgtEl>
                                        <p:attrNameLst>
                                          <p:attrName>ppt_y</p:attrName>
                                        </p:attrNameLst>
                                      </p:cBhvr>
                                      <p:tavLst>
                                        <p:tav tm="0">
                                          <p:val>
                                            <p:strVal val="#ppt_y"/>
                                          </p:val>
                                        </p:tav>
                                        <p:tav tm="100000">
                                          <p:val>
                                            <p:strVal val="#ppt_y"/>
                                          </p:val>
                                        </p:tav>
                                      </p:tavLst>
                                    </p:anim>
                                  </p:childTnLst>
                                </p:cTn>
                              </p:par>
                              <p:par>
                                <p:cTn id="51" presetID="2" presetClass="entr" presetSubtype="8" fill="hold" grpId="0" nodeType="withEffect">
                                  <p:stCondLst>
                                    <p:cond delay="0"/>
                                  </p:stCondLst>
                                  <p:childTnLst>
                                    <p:set>
                                      <p:cBhvr>
                                        <p:cTn id="52" dur="1" fill="hold">
                                          <p:stCondLst>
                                            <p:cond delay="0"/>
                                          </p:stCondLst>
                                        </p:cTn>
                                        <p:tgtEl>
                                          <p:spTgt spid="315"/>
                                        </p:tgtEl>
                                        <p:attrNameLst>
                                          <p:attrName>style.visibility</p:attrName>
                                        </p:attrNameLst>
                                      </p:cBhvr>
                                      <p:to>
                                        <p:strVal val="visible"/>
                                      </p:to>
                                    </p:set>
                                    <p:anim calcmode="lin" valueType="num">
                                      <p:cBhvr additive="base">
                                        <p:cTn id="53" dur="500" fill="hold"/>
                                        <p:tgtEl>
                                          <p:spTgt spid="315"/>
                                        </p:tgtEl>
                                        <p:attrNameLst>
                                          <p:attrName>ppt_x</p:attrName>
                                        </p:attrNameLst>
                                      </p:cBhvr>
                                      <p:tavLst>
                                        <p:tav tm="0">
                                          <p:val>
                                            <p:strVal val="0-#ppt_w/2"/>
                                          </p:val>
                                        </p:tav>
                                        <p:tav tm="100000">
                                          <p:val>
                                            <p:strVal val="#ppt_x"/>
                                          </p:val>
                                        </p:tav>
                                      </p:tavLst>
                                    </p:anim>
                                    <p:anim calcmode="lin" valueType="num">
                                      <p:cBhvr additive="base">
                                        <p:cTn id="54" dur="500" fill="hold"/>
                                        <p:tgtEl>
                                          <p:spTgt spid="315"/>
                                        </p:tgtEl>
                                        <p:attrNameLst>
                                          <p:attrName>ppt_y</p:attrName>
                                        </p:attrNameLst>
                                      </p:cBhvr>
                                      <p:tavLst>
                                        <p:tav tm="0">
                                          <p:val>
                                            <p:strVal val="#ppt_y"/>
                                          </p:val>
                                        </p:tav>
                                        <p:tav tm="100000">
                                          <p:val>
                                            <p:strVal val="#ppt_y"/>
                                          </p:val>
                                        </p:tav>
                                      </p:tavLst>
                                    </p:anim>
                                  </p:childTnLst>
                                </p:cTn>
                              </p:par>
                              <p:par>
                                <p:cTn id="55" presetID="2" presetClass="entr" presetSubtype="8" fill="hold" grpId="0" nodeType="withEffect">
                                  <p:stCondLst>
                                    <p:cond delay="0"/>
                                  </p:stCondLst>
                                  <p:childTnLst>
                                    <p:set>
                                      <p:cBhvr>
                                        <p:cTn id="56" dur="1" fill="hold">
                                          <p:stCondLst>
                                            <p:cond delay="0"/>
                                          </p:stCondLst>
                                        </p:cTn>
                                        <p:tgtEl>
                                          <p:spTgt spid="316"/>
                                        </p:tgtEl>
                                        <p:attrNameLst>
                                          <p:attrName>style.visibility</p:attrName>
                                        </p:attrNameLst>
                                      </p:cBhvr>
                                      <p:to>
                                        <p:strVal val="visible"/>
                                      </p:to>
                                    </p:set>
                                    <p:anim calcmode="lin" valueType="num">
                                      <p:cBhvr additive="base">
                                        <p:cTn id="57" dur="500" fill="hold"/>
                                        <p:tgtEl>
                                          <p:spTgt spid="316"/>
                                        </p:tgtEl>
                                        <p:attrNameLst>
                                          <p:attrName>ppt_x</p:attrName>
                                        </p:attrNameLst>
                                      </p:cBhvr>
                                      <p:tavLst>
                                        <p:tav tm="0">
                                          <p:val>
                                            <p:strVal val="0-#ppt_w/2"/>
                                          </p:val>
                                        </p:tav>
                                        <p:tav tm="100000">
                                          <p:val>
                                            <p:strVal val="#ppt_x"/>
                                          </p:val>
                                        </p:tav>
                                      </p:tavLst>
                                    </p:anim>
                                    <p:anim calcmode="lin" valueType="num">
                                      <p:cBhvr additive="base">
                                        <p:cTn id="58" dur="500" fill="hold"/>
                                        <p:tgtEl>
                                          <p:spTgt spid="3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 grpId="0" animBg="1"/>
      <p:bldP spid="316" grpId="0" animBg="1"/>
      <p:bldP spid="317" grpId="0"/>
      <p:bldP spid="318" grpId="0" animBg="1"/>
      <p:bldP spid="319" grpId="0" animBg="1"/>
      <p:bldP spid="320" grpId="0"/>
      <p:bldP spid="321" grpId="0" animBg="1"/>
      <p:bldP spid="322" grpId="0" animBg="1"/>
      <p:bldP spid="323" grpId="0"/>
      <p:bldP spid="324" grpId="0" animBg="1"/>
      <p:bldP spid="325" grpId="0" animBg="1"/>
      <p:bldP spid="32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12" descr="One glowing light bulb in sea of unlit bulbs"/>
          <p:cNvPicPr preferRelativeResize="0"/>
          <p:nvPr/>
        </p:nvPicPr>
        <p:blipFill rotWithShape="1">
          <a:blip r:embed="rId3">
            <a:alphaModFix amt="50000"/>
          </a:blip>
          <a:srcRect/>
          <a:stretch/>
        </p:blipFill>
        <p:spPr>
          <a:xfrm>
            <a:off x="0" y="0"/>
            <a:ext cx="12192000" cy="6129300"/>
          </a:xfrm>
          <a:prstGeom prst="rect">
            <a:avLst/>
          </a:prstGeom>
          <a:solidFill>
            <a:srgbClr val="ECECEC"/>
          </a:solidFill>
          <a:ln>
            <a:noFill/>
          </a:ln>
          <a:effectLst>
            <a:outerShdw blurRad="55000" dist="18000" dir="5400000" algn="tl" rotWithShape="0">
              <a:srgbClr val="000000">
                <a:alpha val="40000"/>
              </a:srgbClr>
            </a:outerShdw>
          </a:effectLst>
        </p:spPr>
      </p:pic>
      <p:sp>
        <p:nvSpPr>
          <p:cNvPr id="334" name="Google Shape;334;p12"/>
          <p:cNvSpPr txBox="1">
            <a:spLocks noGrp="1"/>
          </p:cNvSpPr>
          <p:nvPr>
            <p:ph type="title"/>
          </p:nvPr>
        </p:nvSpPr>
        <p:spPr>
          <a:xfrm>
            <a:off x="1451579" y="804519"/>
            <a:ext cx="9603275" cy="104923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3200"/>
              <a:buFont typeface="Gill Sans"/>
              <a:buNone/>
            </a:pPr>
            <a:r>
              <a:rPr lang="en-US" b="1" dirty="0">
                <a:solidFill>
                  <a:srgbClr val="0070C0"/>
                </a:solidFill>
              </a:rPr>
              <a:t>K</a:t>
            </a:r>
            <a:r>
              <a:rPr lang="tr-TR" b="1" dirty="0">
                <a:solidFill>
                  <a:srgbClr val="0070C0"/>
                </a:solidFill>
              </a:rPr>
              <a:t>ey </a:t>
            </a:r>
            <a:r>
              <a:rPr lang="tr-TR" b="1" dirty="0" err="1">
                <a:solidFill>
                  <a:srgbClr val="0070C0"/>
                </a:solidFill>
              </a:rPr>
              <a:t>Highlights</a:t>
            </a:r>
            <a:endParaRPr dirty="0"/>
          </a:p>
        </p:txBody>
      </p:sp>
      <p:grpSp>
        <p:nvGrpSpPr>
          <p:cNvPr id="335" name="Google Shape;335;p12"/>
          <p:cNvGrpSpPr/>
          <p:nvPr/>
        </p:nvGrpSpPr>
        <p:grpSpPr>
          <a:xfrm>
            <a:off x="1701428" y="1448103"/>
            <a:ext cx="4581715" cy="4841904"/>
            <a:chOff x="2204825" y="-182577"/>
            <a:chExt cx="4581715" cy="4841904"/>
          </a:xfrm>
          <a:solidFill>
            <a:schemeClr val="bg2"/>
          </a:solidFill>
        </p:grpSpPr>
        <p:sp>
          <p:nvSpPr>
            <p:cNvPr id="336" name="Google Shape;336;p12"/>
            <p:cNvSpPr/>
            <p:nvPr/>
          </p:nvSpPr>
          <p:spPr>
            <a:xfrm>
              <a:off x="3905499" y="1958102"/>
              <a:ext cx="2393235" cy="2393235"/>
            </a:xfrm>
            <a:custGeom>
              <a:avLst/>
              <a:gdLst/>
              <a:ahLst/>
              <a:cxnLst/>
              <a:rect l="l" t="t" r="r" b="b"/>
              <a:pathLst>
                <a:path w="120000" h="120000" extrusionOk="0">
                  <a:moveTo>
                    <a:pt x="85177" y="19133"/>
                  </a:moveTo>
                  <a:lnTo>
                    <a:pt x="94511" y="11300"/>
                  </a:lnTo>
                  <a:lnTo>
                    <a:pt x="101967" y="17557"/>
                  </a:lnTo>
                  <a:lnTo>
                    <a:pt x="95875" y="28109"/>
                  </a:lnTo>
                  <a:lnTo>
                    <a:pt x="95875" y="28109"/>
                  </a:lnTo>
                  <a:cubicBezTo>
                    <a:pt x="100207" y="32983"/>
                    <a:pt x="103501" y="38688"/>
                    <a:pt x="105555" y="44877"/>
                  </a:cubicBezTo>
                  <a:lnTo>
                    <a:pt x="117740" y="44877"/>
                  </a:lnTo>
                  <a:lnTo>
                    <a:pt x="119431" y="54463"/>
                  </a:lnTo>
                  <a:lnTo>
                    <a:pt x="107980" y="58630"/>
                  </a:lnTo>
                  <a:lnTo>
                    <a:pt x="107980" y="58630"/>
                  </a:lnTo>
                  <a:cubicBezTo>
                    <a:pt x="108167" y="65148"/>
                    <a:pt x="107023" y="71636"/>
                    <a:pt x="104618" y="77697"/>
                  </a:cubicBezTo>
                  <a:lnTo>
                    <a:pt x="113953" y="85530"/>
                  </a:lnTo>
                  <a:lnTo>
                    <a:pt x="109086" y="93960"/>
                  </a:lnTo>
                  <a:lnTo>
                    <a:pt x="97636" y="89792"/>
                  </a:lnTo>
                  <a:cubicBezTo>
                    <a:pt x="93588" y="94905"/>
                    <a:pt x="88542" y="99139"/>
                    <a:pt x="82804" y="102237"/>
                  </a:cubicBezTo>
                  <a:lnTo>
                    <a:pt x="84920" y="114237"/>
                  </a:lnTo>
                  <a:lnTo>
                    <a:pt x="75773" y="117566"/>
                  </a:lnTo>
                  <a:lnTo>
                    <a:pt x="69681" y="107014"/>
                  </a:lnTo>
                  <a:lnTo>
                    <a:pt x="69681" y="107014"/>
                  </a:lnTo>
                  <a:cubicBezTo>
                    <a:pt x="63294" y="108329"/>
                    <a:pt x="56706" y="108329"/>
                    <a:pt x="50319" y="107014"/>
                  </a:cubicBezTo>
                  <a:lnTo>
                    <a:pt x="44227" y="117566"/>
                  </a:lnTo>
                  <a:lnTo>
                    <a:pt x="35080" y="114237"/>
                  </a:lnTo>
                  <a:lnTo>
                    <a:pt x="37196" y="102237"/>
                  </a:lnTo>
                  <a:lnTo>
                    <a:pt x="37196" y="102237"/>
                  </a:lnTo>
                  <a:cubicBezTo>
                    <a:pt x="31458" y="99139"/>
                    <a:pt x="26412" y="94905"/>
                    <a:pt x="22364" y="89792"/>
                  </a:cubicBezTo>
                  <a:lnTo>
                    <a:pt x="10914" y="93960"/>
                  </a:lnTo>
                  <a:lnTo>
                    <a:pt x="6047" y="85530"/>
                  </a:lnTo>
                  <a:lnTo>
                    <a:pt x="15382" y="77697"/>
                  </a:lnTo>
                  <a:lnTo>
                    <a:pt x="15382" y="77697"/>
                  </a:lnTo>
                  <a:cubicBezTo>
                    <a:pt x="12977" y="71636"/>
                    <a:pt x="11833" y="65148"/>
                    <a:pt x="12020" y="58630"/>
                  </a:cubicBezTo>
                  <a:lnTo>
                    <a:pt x="569" y="54463"/>
                  </a:lnTo>
                  <a:lnTo>
                    <a:pt x="2260" y="44877"/>
                  </a:lnTo>
                  <a:lnTo>
                    <a:pt x="14445" y="44877"/>
                  </a:lnTo>
                  <a:lnTo>
                    <a:pt x="14445" y="44877"/>
                  </a:lnTo>
                  <a:cubicBezTo>
                    <a:pt x="16499" y="38688"/>
                    <a:pt x="19793" y="32983"/>
                    <a:pt x="24125" y="28109"/>
                  </a:cubicBezTo>
                  <a:lnTo>
                    <a:pt x="18033" y="17557"/>
                  </a:lnTo>
                  <a:lnTo>
                    <a:pt x="25489" y="11300"/>
                  </a:lnTo>
                  <a:lnTo>
                    <a:pt x="34823" y="19133"/>
                  </a:lnTo>
                  <a:lnTo>
                    <a:pt x="34823" y="19133"/>
                  </a:lnTo>
                  <a:cubicBezTo>
                    <a:pt x="40375" y="15712"/>
                    <a:pt x="46566" y="13459"/>
                    <a:pt x="53017" y="12511"/>
                  </a:cubicBezTo>
                  <a:lnTo>
                    <a:pt x="55133" y="511"/>
                  </a:lnTo>
                  <a:lnTo>
                    <a:pt x="64867" y="511"/>
                  </a:lnTo>
                  <a:lnTo>
                    <a:pt x="66983" y="12511"/>
                  </a:lnTo>
                  <a:lnTo>
                    <a:pt x="66983" y="12511"/>
                  </a:lnTo>
                  <a:cubicBezTo>
                    <a:pt x="73434" y="13459"/>
                    <a:pt x="79625" y="15712"/>
                    <a:pt x="85177" y="19133"/>
                  </a:cubicBezTo>
                  <a:close/>
                </a:path>
              </a:pathLst>
            </a:custGeom>
            <a:grp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2"/>
            <p:cNvSpPr txBox="1"/>
            <p:nvPr/>
          </p:nvSpPr>
          <p:spPr>
            <a:xfrm>
              <a:off x="4386646" y="2518706"/>
              <a:ext cx="1430941" cy="1230172"/>
            </a:xfrm>
            <a:prstGeom prst="rect">
              <a:avLst/>
            </a:prstGeom>
            <a:grp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chemeClr val="lt1"/>
                </a:buClr>
                <a:buSzPts val="1200"/>
                <a:buFont typeface="Gill Sans"/>
                <a:buNone/>
              </a:pPr>
              <a:r>
                <a:rPr lang="en-US" sz="1200">
                  <a:solidFill>
                    <a:schemeClr val="lt1"/>
                  </a:solidFill>
                  <a:latin typeface="Gill Sans"/>
                  <a:ea typeface="Gill Sans"/>
                  <a:cs typeface="Gill Sans"/>
                  <a:sym typeface="Gill Sans"/>
                </a:rPr>
                <a:t>INVENTORY</a:t>
              </a:r>
              <a:endParaRPr/>
            </a:p>
            <a:p>
              <a:pPr marL="0" marR="0" lvl="0" indent="0" algn="ctr" rtl="0">
                <a:lnSpc>
                  <a:spcPct val="90000"/>
                </a:lnSpc>
                <a:spcBef>
                  <a:spcPts val="420"/>
                </a:spcBef>
                <a:spcAft>
                  <a:spcPts val="0"/>
                </a:spcAft>
                <a:buClr>
                  <a:schemeClr val="lt1"/>
                </a:buClr>
                <a:buSzPts val="1200"/>
                <a:buFont typeface="Gill Sans"/>
                <a:buNone/>
              </a:pPr>
              <a:r>
                <a:rPr lang="en-US" sz="1200">
                  <a:solidFill>
                    <a:schemeClr val="lt1"/>
                  </a:solidFill>
                  <a:latin typeface="Gill Sans"/>
                  <a:ea typeface="Gill Sans"/>
                  <a:cs typeface="Gill Sans"/>
                  <a:sym typeface="Gill Sans"/>
                </a:rPr>
                <a:t>AND</a:t>
              </a:r>
              <a:endParaRPr/>
            </a:p>
            <a:p>
              <a:pPr marL="0" marR="0" lvl="0" indent="0" algn="ctr" rtl="0">
                <a:lnSpc>
                  <a:spcPct val="90000"/>
                </a:lnSpc>
                <a:spcBef>
                  <a:spcPts val="420"/>
                </a:spcBef>
                <a:spcAft>
                  <a:spcPts val="0"/>
                </a:spcAft>
                <a:buClr>
                  <a:schemeClr val="lt1"/>
                </a:buClr>
                <a:buSzPts val="1200"/>
                <a:buFont typeface="Gill Sans"/>
                <a:buNone/>
              </a:pPr>
              <a:r>
                <a:rPr lang="en-US" sz="1200">
                  <a:solidFill>
                    <a:schemeClr val="lt1"/>
                  </a:solidFill>
                  <a:latin typeface="Gill Sans"/>
                  <a:ea typeface="Gill Sans"/>
                  <a:cs typeface="Gill Sans"/>
                  <a:sym typeface="Gill Sans"/>
                </a:rPr>
                <a:t>TRANSPORTATION</a:t>
              </a:r>
              <a:endParaRPr/>
            </a:p>
          </p:txBody>
        </p:sp>
        <p:sp>
          <p:nvSpPr>
            <p:cNvPr id="338" name="Google Shape;338;p12"/>
            <p:cNvSpPr/>
            <p:nvPr/>
          </p:nvSpPr>
          <p:spPr>
            <a:xfrm>
              <a:off x="2513070" y="1392428"/>
              <a:ext cx="1740535" cy="1740535"/>
            </a:xfrm>
            <a:custGeom>
              <a:avLst/>
              <a:gdLst/>
              <a:ahLst/>
              <a:cxnLst/>
              <a:rect l="l" t="t" r="r" b="b"/>
              <a:pathLst>
                <a:path w="120000" h="120000" extrusionOk="0">
                  <a:moveTo>
                    <a:pt x="89790" y="30393"/>
                  </a:moveTo>
                  <a:lnTo>
                    <a:pt x="107494" y="25057"/>
                  </a:lnTo>
                  <a:lnTo>
                    <a:pt x="114008" y="36341"/>
                  </a:lnTo>
                  <a:lnTo>
                    <a:pt x="100535" y="49005"/>
                  </a:lnTo>
                  <a:cubicBezTo>
                    <a:pt x="102488" y="56205"/>
                    <a:pt x="102488" y="63795"/>
                    <a:pt x="100535" y="70995"/>
                  </a:cubicBezTo>
                  <a:lnTo>
                    <a:pt x="114008" y="83659"/>
                  </a:lnTo>
                  <a:lnTo>
                    <a:pt x="107494" y="94943"/>
                  </a:lnTo>
                  <a:lnTo>
                    <a:pt x="89790" y="89607"/>
                  </a:lnTo>
                  <a:lnTo>
                    <a:pt x="89790" y="89607"/>
                  </a:lnTo>
                  <a:cubicBezTo>
                    <a:pt x="84531" y="94898"/>
                    <a:pt x="77957" y="98693"/>
                    <a:pt x="70746" y="100602"/>
                  </a:cubicBezTo>
                  <a:lnTo>
                    <a:pt x="66514" y="118602"/>
                  </a:lnTo>
                  <a:lnTo>
                    <a:pt x="53486" y="118602"/>
                  </a:lnTo>
                  <a:lnTo>
                    <a:pt x="49254" y="100602"/>
                  </a:lnTo>
                  <a:lnTo>
                    <a:pt x="49254" y="100602"/>
                  </a:lnTo>
                  <a:cubicBezTo>
                    <a:pt x="42043" y="98693"/>
                    <a:pt x="35469" y="94898"/>
                    <a:pt x="30210" y="89607"/>
                  </a:cubicBezTo>
                  <a:lnTo>
                    <a:pt x="12506" y="94943"/>
                  </a:lnTo>
                  <a:lnTo>
                    <a:pt x="5992" y="83659"/>
                  </a:lnTo>
                  <a:lnTo>
                    <a:pt x="19465" y="70995"/>
                  </a:lnTo>
                  <a:cubicBezTo>
                    <a:pt x="17512" y="63795"/>
                    <a:pt x="17512" y="56205"/>
                    <a:pt x="19465" y="49005"/>
                  </a:cubicBezTo>
                  <a:lnTo>
                    <a:pt x="5992" y="36341"/>
                  </a:lnTo>
                  <a:lnTo>
                    <a:pt x="12506" y="25057"/>
                  </a:lnTo>
                  <a:lnTo>
                    <a:pt x="30210" y="30393"/>
                  </a:lnTo>
                  <a:lnTo>
                    <a:pt x="30210" y="30393"/>
                  </a:lnTo>
                  <a:cubicBezTo>
                    <a:pt x="35469" y="25102"/>
                    <a:pt x="42043" y="21307"/>
                    <a:pt x="49254" y="19398"/>
                  </a:cubicBezTo>
                  <a:lnTo>
                    <a:pt x="53486" y="1398"/>
                  </a:lnTo>
                  <a:lnTo>
                    <a:pt x="66514" y="1398"/>
                  </a:lnTo>
                  <a:lnTo>
                    <a:pt x="70746" y="19398"/>
                  </a:lnTo>
                  <a:lnTo>
                    <a:pt x="70746" y="19398"/>
                  </a:lnTo>
                  <a:cubicBezTo>
                    <a:pt x="77957" y="21307"/>
                    <a:pt x="84531" y="25102"/>
                    <a:pt x="89790" y="30393"/>
                  </a:cubicBezTo>
                  <a:close/>
                </a:path>
              </a:pathLst>
            </a:custGeom>
            <a:grp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2"/>
            <p:cNvSpPr txBox="1"/>
            <p:nvPr/>
          </p:nvSpPr>
          <p:spPr>
            <a:xfrm>
              <a:off x="2951255" y="1833261"/>
              <a:ext cx="864165" cy="858869"/>
            </a:xfrm>
            <a:prstGeom prst="rect">
              <a:avLst/>
            </a:prstGeom>
            <a:grp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900"/>
                <a:buFont typeface="Gill Sans"/>
                <a:buNone/>
              </a:pPr>
              <a:r>
                <a:rPr lang="en-US" sz="900">
                  <a:solidFill>
                    <a:schemeClr val="lt1"/>
                  </a:solidFill>
                  <a:latin typeface="Gill Sans"/>
                  <a:ea typeface="Gill Sans"/>
                  <a:cs typeface="Gill Sans"/>
                  <a:sym typeface="Gill Sans"/>
                </a:rPr>
                <a:t>SALES AGENTS</a:t>
              </a:r>
              <a:endParaRPr/>
            </a:p>
          </p:txBody>
        </p:sp>
        <p:sp>
          <p:nvSpPr>
            <p:cNvPr id="340" name="Google Shape;340;p12"/>
            <p:cNvSpPr/>
            <p:nvPr/>
          </p:nvSpPr>
          <p:spPr>
            <a:xfrm rot="-900000">
              <a:off x="3487948" y="191636"/>
              <a:ext cx="1705369" cy="1705369"/>
            </a:xfrm>
            <a:custGeom>
              <a:avLst/>
              <a:gdLst/>
              <a:ahLst/>
              <a:cxnLst/>
              <a:rect l="l" t="t" r="r" b="b"/>
              <a:pathLst>
                <a:path w="120000" h="120000" extrusionOk="0">
                  <a:moveTo>
                    <a:pt x="89790" y="30393"/>
                  </a:moveTo>
                  <a:lnTo>
                    <a:pt x="107494" y="25057"/>
                  </a:lnTo>
                  <a:lnTo>
                    <a:pt x="114008" y="36341"/>
                  </a:lnTo>
                  <a:lnTo>
                    <a:pt x="100535" y="49005"/>
                  </a:lnTo>
                  <a:cubicBezTo>
                    <a:pt x="102488" y="56205"/>
                    <a:pt x="102488" y="63795"/>
                    <a:pt x="100535" y="70995"/>
                  </a:cubicBezTo>
                  <a:lnTo>
                    <a:pt x="114008" y="83659"/>
                  </a:lnTo>
                  <a:lnTo>
                    <a:pt x="107494" y="94943"/>
                  </a:lnTo>
                  <a:lnTo>
                    <a:pt x="89790" y="89607"/>
                  </a:lnTo>
                  <a:lnTo>
                    <a:pt x="89790" y="89607"/>
                  </a:lnTo>
                  <a:cubicBezTo>
                    <a:pt x="84531" y="94898"/>
                    <a:pt x="77957" y="98693"/>
                    <a:pt x="70746" y="100602"/>
                  </a:cubicBezTo>
                  <a:lnTo>
                    <a:pt x="66514" y="118602"/>
                  </a:lnTo>
                  <a:lnTo>
                    <a:pt x="53486" y="118602"/>
                  </a:lnTo>
                  <a:lnTo>
                    <a:pt x="49254" y="100602"/>
                  </a:lnTo>
                  <a:lnTo>
                    <a:pt x="49254" y="100602"/>
                  </a:lnTo>
                  <a:cubicBezTo>
                    <a:pt x="42043" y="98693"/>
                    <a:pt x="35469" y="94898"/>
                    <a:pt x="30210" y="89607"/>
                  </a:cubicBezTo>
                  <a:lnTo>
                    <a:pt x="12506" y="94943"/>
                  </a:lnTo>
                  <a:lnTo>
                    <a:pt x="5992" y="83659"/>
                  </a:lnTo>
                  <a:lnTo>
                    <a:pt x="19465" y="70995"/>
                  </a:lnTo>
                  <a:cubicBezTo>
                    <a:pt x="17512" y="63795"/>
                    <a:pt x="17512" y="56205"/>
                    <a:pt x="19465" y="49005"/>
                  </a:cubicBezTo>
                  <a:lnTo>
                    <a:pt x="5992" y="36341"/>
                  </a:lnTo>
                  <a:lnTo>
                    <a:pt x="12506" y="25057"/>
                  </a:lnTo>
                  <a:lnTo>
                    <a:pt x="30210" y="30393"/>
                  </a:lnTo>
                  <a:lnTo>
                    <a:pt x="30210" y="30393"/>
                  </a:lnTo>
                  <a:cubicBezTo>
                    <a:pt x="35469" y="25102"/>
                    <a:pt x="42043" y="21307"/>
                    <a:pt x="49254" y="19398"/>
                  </a:cubicBezTo>
                  <a:lnTo>
                    <a:pt x="53486" y="1398"/>
                  </a:lnTo>
                  <a:lnTo>
                    <a:pt x="66514" y="1398"/>
                  </a:lnTo>
                  <a:lnTo>
                    <a:pt x="70746" y="19398"/>
                  </a:lnTo>
                  <a:lnTo>
                    <a:pt x="70746" y="19398"/>
                  </a:lnTo>
                  <a:cubicBezTo>
                    <a:pt x="77957" y="21307"/>
                    <a:pt x="84531" y="25102"/>
                    <a:pt x="89790" y="30393"/>
                  </a:cubicBezTo>
                  <a:close/>
                </a:path>
              </a:pathLst>
            </a:custGeom>
            <a:grpFill/>
            <a:ln w="158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2"/>
            <p:cNvSpPr txBox="1"/>
            <p:nvPr/>
          </p:nvSpPr>
          <p:spPr>
            <a:xfrm>
              <a:off x="3861985" y="565673"/>
              <a:ext cx="957294" cy="957294"/>
            </a:xfrm>
            <a:prstGeom prst="rect">
              <a:avLst/>
            </a:prstGeom>
            <a:grp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chemeClr val="lt1"/>
                </a:buClr>
                <a:buSzPts val="900"/>
                <a:buFont typeface="Gill Sans"/>
                <a:buNone/>
              </a:pPr>
              <a:r>
                <a:rPr lang="en-US" sz="900">
                  <a:solidFill>
                    <a:schemeClr val="lt1"/>
                  </a:solidFill>
                  <a:latin typeface="Gill Sans"/>
                  <a:ea typeface="Gill Sans"/>
                  <a:cs typeface="Gill Sans"/>
                  <a:sym typeface="Gill Sans"/>
                </a:rPr>
                <a:t>INTERMEDIARIES</a:t>
              </a:r>
              <a:endParaRPr/>
            </a:p>
          </p:txBody>
        </p:sp>
        <p:sp>
          <p:nvSpPr>
            <p:cNvPr id="342" name="Google Shape;342;p12"/>
            <p:cNvSpPr/>
            <p:nvPr/>
          </p:nvSpPr>
          <p:spPr>
            <a:xfrm>
              <a:off x="3723199" y="1595986"/>
              <a:ext cx="3063341" cy="3063341"/>
            </a:xfrm>
            <a:custGeom>
              <a:avLst/>
              <a:gdLst/>
              <a:ahLst/>
              <a:cxnLst/>
              <a:rect l="l" t="t" r="r" b="b"/>
              <a:pathLst>
                <a:path w="120000" h="120000" extrusionOk="0">
                  <a:moveTo>
                    <a:pt x="54338" y="4036"/>
                  </a:moveTo>
                  <a:lnTo>
                    <a:pt x="54338" y="4036"/>
                  </a:lnTo>
                  <a:cubicBezTo>
                    <a:pt x="77512" y="1692"/>
                    <a:pt x="99734" y="13873"/>
                    <a:pt x="110223" y="34669"/>
                  </a:cubicBezTo>
                  <a:cubicBezTo>
                    <a:pt x="120712" y="55466"/>
                    <a:pt x="117299" y="80576"/>
                    <a:pt x="101639" y="97818"/>
                  </a:cubicBezTo>
                  <a:lnTo>
                    <a:pt x="104191" y="100553"/>
                  </a:lnTo>
                  <a:lnTo>
                    <a:pt x="96457" y="99069"/>
                  </a:lnTo>
                  <a:lnTo>
                    <a:pt x="95236" y="90956"/>
                  </a:lnTo>
                  <a:lnTo>
                    <a:pt x="97787" y="93690"/>
                  </a:lnTo>
                  <a:lnTo>
                    <a:pt x="97787" y="93690"/>
                  </a:lnTo>
                  <a:cubicBezTo>
                    <a:pt x="111681" y="78107"/>
                    <a:pt x="114583" y="55592"/>
                    <a:pt x="105096" y="36994"/>
                  </a:cubicBezTo>
                  <a:cubicBezTo>
                    <a:pt x="95608" y="18397"/>
                    <a:pt x="75676" y="7531"/>
                    <a:pt x="54904" y="9632"/>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2"/>
            <p:cNvSpPr/>
            <p:nvPr/>
          </p:nvSpPr>
          <p:spPr>
            <a:xfrm>
              <a:off x="2204825" y="1006639"/>
              <a:ext cx="2225709" cy="2225709"/>
            </a:xfrm>
            <a:custGeom>
              <a:avLst/>
              <a:gdLst/>
              <a:ahLst/>
              <a:cxnLst/>
              <a:rect l="l" t="t" r="r" b="b"/>
              <a:pathLst>
                <a:path w="120000" h="120000" extrusionOk="0">
                  <a:moveTo>
                    <a:pt x="38835" y="9410"/>
                  </a:moveTo>
                  <a:lnTo>
                    <a:pt x="41823" y="16553"/>
                  </a:lnTo>
                  <a:lnTo>
                    <a:pt x="41823" y="16553"/>
                  </a:lnTo>
                  <a:cubicBezTo>
                    <a:pt x="23032" y="24414"/>
                    <a:pt x="11425" y="43464"/>
                    <a:pt x="13055" y="63768"/>
                  </a:cubicBezTo>
                  <a:lnTo>
                    <a:pt x="18064" y="62671"/>
                  </a:lnTo>
                  <a:lnTo>
                    <a:pt x="10211" y="70899"/>
                  </a:lnTo>
                  <a:lnTo>
                    <a:pt x="417" y="66534"/>
                  </a:lnTo>
                  <a:lnTo>
                    <a:pt x="5431" y="65437"/>
                  </a:lnTo>
                  <a:lnTo>
                    <a:pt x="5431" y="65437"/>
                  </a:lnTo>
                  <a:cubicBezTo>
                    <a:pt x="3042" y="41449"/>
                    <a:pt x="16596" y="18714"/>
                    <a:pt x="38835" y="941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2"/>
            <p:cNvSpPr/>
            <p:nvPr/>
          </p:nvSpPr>
          <p:spPr>
            <a:xfrm>
              <a:off x="3093478" y="-182577"/>
              <a:ext cx="2399762" cy="2399762"/>
            </a:xfrm>
            <a:custGeom>
              <a:avLst/>
              <a:gdLst/>
              <a:ahLst/>
              <a:cxnLst/>
              <a:rect l="l" t="t" r="r" b="b"/>
              <a:pathLst>
                <a:path w="120000" h="120000" extrusionOk="0">
                  <a:moveTo>
                    <a:pt x="4986" y="64681"/>
                  </a:moveTo>
                  <a:lnTo>
                    <a:pt x="4986" y="64681"/>
                  </a:lnTo>
                  <a:cubicBezTo>
                    <a:pt x="3682" y="49360"/>
                    <a:pt x="8826" y="34190"/>
                    <a:pt x="19179" y="22822"/>
                  </a:cubicBezTo>
                  <a:lnTo>
                    <a:pt x="16020" y="19256"/>
                  </a:lnTo>
                  <a:lnTo>
                    <a:pt x="25771" y="21357"/>
                  </a:lnTo>
                  <a:lnTo>
                    <a:pt x="27129" y="31797"/>
                  </a:lnTo>
                  <a:lnTo>
                    <a:pt x="23972" y="28233"/>
                  </a:lnTo>
                  <a:lnTo>
                    <a:pt x="23972" y="28233"/>
                  </a:lnTo>
                  <a:cubicBezTo>
                    <a:pt x="15304" y="38065"/>
                    <a:pt x="11029" y="51012"/>
                    <a:pt x="12141" y="64072"/>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5" name="Google Shape;345;p12"/>
          <p:cNvSpPr txBox="1">
            <a:spLocks noGrp="1"/>
          </p:cNvSpPr>
          <p:nvPr>
            <p:ph type="sldNum" idx="12"/>
          </p:nvPr>
        </p:nvSpPr>
        <p:spPr>
          <a:xfrm>
            <a:off x="480060" y="798973"/>
            <a:ext cx="811019" cy="503578"/>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 name="Picture 2">
            <a:extLst>
              <a:ext uri="{FF2B5EF4-FFF2-40B4-BE49-F238E27FC236}">
                <a16:creationId xmlns:a16="http://schemas.microsoft.com/office/drawing/2014/main" id="{FFB25FA7-2237-1D2A-C9F1-D3078EEAD06F}"/>
              </a:ext>
            </a:extLst>
          </p:cNvPr>
          <p:cNvPicPr>
            <a:picLocks noChangeAspect="1"/>
          </p:cNvPicPr>
          <p:nvPr/>
        </p:nvPicPr>
        <p:blipFill rotWithShape="1">
          <a:blip r:embed="rId4">
            <a:alphaModFix amt="35000"/>
            <a:duotone>
              <a:prstClr val="black"/>
              <a:schemeClr val="accent1">
                <a:lumMod val="60000"/>
                <a:lumOff val="40000"/>
                <a:tint val="45000"/>
                <a:satMod val="400000"/>
              </a:schemeClr>
            </a:duotone>
            <a:extLst>
              <a:ext uri="{837473B0-CC2E-450A-ABE3-18F120FF3D39}">
                <a1611:picAttrSrcUrl xmlns:a1611="http://schemas.microsoft.com/office/drawing/2016/11/main" r:id="rId5"/>
              </a:ext>
            </a:extLst>
          </a:blip>
          <a:srcRect/>
          <a:stretch>
            <a:fillRect/>
          </a:stretch>
        </p:blipFill>
        <p:spPr>
          <a:xfrm>
            <a:off x="5402455" y="94870"/>
            <a:ext cx="6505039" cy="4909377"/>
          </a:xfrm>
          <a:prstGeom prst="flowChartConnector">
            <a:avLst/>
          </a:prstGeom>
        </p:spPr>
      </p:pic>
    </p:spTree>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3"/>
          <p:cNvSpPr txBox="1">
            <a:spLocks noGrp="1"/>
          </p:cNvSpPr>
          <p:nvPr>
            <p:ph type="title"/>
          </p:nvPr>
        </p:nvSpPr>
        <p:spPr>
          <a:xfrm>
            <a:off x="4809127" y="-1251519"/>
            <a:ext cx="2592194" cy="100811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0070C0"/>
              </a:buClr>
              <a:buSzPts val="3200"/>
              <a:buFont typeface="Gill Sans"/>
              <a:buNone/>
            </a:pPr>
            <a:r>
              <a:rPr lang="en-US" dirty="0">
                <a:solidFill>
                  <a:srgbClr val="0070C0"/>
                </a:solidFill>
              </a:rPr>
              <a:t>THANK YOU!</a:t>
            </a:r>
            <a:endParaRPr b="1" dirty="0">
              <a:solidFill>
                <a:srgbClr val="0070C0"/>
              </a:solidFill>
            </a:endParaRPr>
          </a:p>
        </p:txBody>
      </p:sp>
      <p:sp>
        <p:nvSpPr>
          <p:cNvPr id="352" name="Google Shape;352;p13"/>
          <p:cNvSpPr txBox="1">
            <a:spLocks noGrp="1"/>
          </p:cNvSpPr>
          <p:nvPr>
            <p:ph type="body" idx="1"/>
          </p:nvPr>
        </p:nvSpPr>
        <p:spPr>
          <a:xfrm>
            <a:off x="5200536" y="6957392"/>
            <a:ext cx="2160145" cy="513167"/>
          </a:xfrm>
          <a:prstGeom prst="rect">
            <a:avLst/>
          </a:prstGeom>
          <a:noFill/>
          <a:ln>
            <a:noFill/>
          </a:ln>
        </p:spPr>
        <p:txBody>
          <a:bodyPr spcFirstLastPara="1" wrap="square" lIns="91425" tIns="45700" rIns="91425" bIns="45700" anchor="t" anchorCtr="0">
            <a:normAutofit/>
          </a:bodyPr>
          <a:lstStyle/>
          <a:p>
            <a:pPr marL="0" lvl="0" indent="0" algn="l" rtl="0">
              <a:lnSpc>
                <a:spcPct val="120000"/>
              </a:lnSpc>
              <a:spcBef>
                <a:spcPts val="0"/>
              </a:spcBef>
              <a:spcAft>
                <a:spcPts val="0"/>
              </a:spcAft>
              <a:buSzPts val="2000"/>
              <a:buNone/>
            </a:pPr>
            <a:r>
              <a:rPr lang="en-US" dirty="0"/>
              <a:t>Any Questions?</a:t>
            </a:r>
            <a:endParaRPr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withEffect">
                                  <p:stCondLst>
                                    <p:cond delay="1000"/>
                                  </p:stCondLst>
                                  <p:childTnLst>
                                    <p:animMotion origin="layout" path="M 0 0 L 0 0.25 E" pathEditMode="relative" ptsTypes="">
                                      <p:cBhvr>
                                        <p:cTn id="6" dur="2000" fill="hold"/>
                                        <p:tgtEl>
                                          <p:spTgt spid="351"/>
                                        </p:tgtEl>
                                        <p:attrNameLst>
                                          <p:attrName>ppt_x</p:attrName>
                                          <p:attrName>ppt_y</p:attrName>
                                        </p:attrNameLst>
                                      </p:cBhvr>
                                    </p:animMotion>
                                  </p:childTnLst>
                                </p:cTn>
                              </p:par>
                              <p:par>
                                <p:cTn id="7" presetID="42" presetClass="path" presetSubtype="0" accel="50000" decel="50000" fill="hold" grpId="0" nodeType="withEffect">
                                  <p:stCondLst>
                                    <p:cond delay="1000"/>
                                  </p:stCondLst>
                                  <p:childTnLst>
                                    <p:animMotion origin="layout" path="M 4.375E-6 3.33333E-6 L -0.00013 -0.54792 " pathEditMode="relative" rAng="0" ptsTypes="AA">
                                      <p:cBhvr>
                                        <p:cTn id="8" dur="2000" fill="hold"/>
                                        <p:tgtEl>
                                          <p:spTgt spid="352">
                                            <p:txEl>
                                              <p:pRg st="0" end="0"/>
                                            </p:txEl>
                                          </p:spTgt>
                                        </p:tgtEl>
                                        <p:attrNameLst>
                                          <p:attrName>ppt_x</p:attrName>
                                          <p:attrName>ppt_y</p:attrName>
                                        </p:attrNameLst>
                                      </p:cBhvr>
                                      <p:rCtr x="-13" y="-2740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 grpId="0"/>
      <p:bldP spid="352" grpId="0" build="p"/>
    </p:bldLst>
  </p:timing>
</p:sld>
</file>

<file path=ppt/theme/theme1.xml><?xml version="1.0" encoding="utf-8"?>
<a:theme xmlns:a="http://schemas.openxmlformats.org/drawingml/2006/main" name="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3551</Words>
  <Application>Microsoft Office PowerPoint</Application>
  <PresentationFormat>Widescreen</PresentationFormat>
  <Paragraphs>172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Times New Roman</vt:lpstr>
      <vt:lpstr>Calibri</vt:lpstr>
      <vt:lpstr>Arial</vt:lpstr>
      <vt:lpstr>Gill Sans</vt:lpstr>
      <vt:lpstr>Gallery</vt:lpstr>
      <vt:lpstr>STRATEGIC COST OPTIMIZATION IN RESPONSE TO REGULATORY CHANGES</vt:lpstr>
      <vt:lpstr>COST OPTIMIZATION IN RESPONSE TO REGULATORY CHANGES</vt:lpstr>
      <vt:lpstr>PROBLEM DEFINITION</vt:lpstr>
      <vt:lpstr>THE COMPANY X LOGISTICS NETWORK IN 2014</vt:lpstr>
      <vt:lpstr>SHORT BREAKDOWN</vt:lpstr>
      <vt:lpstr>Initial Ponderations</vt:lpstr>
      <vt:lpstr>Solutions – 1 Sales and Warehousing</vt:lpstr>
      <vt:lpstr>Solutions – 2 Transportation</vt:lpstr>
      <vt:lpstr>Interim Evaluation</vt:lpstr>
      <vt:lpstr>Solutions – 3 Cycle Stock Remarks</vt:lpstr>
      <vt:lpstr>Solutions – 4 Safety Stock Remarks</vt:lpstr>
      <vt:lpstr>Key Highlights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Ali Can</dc:creator>
  <cp:lastModifiedBy>Ali Can</cp:lastModifiedBy>
  <cp:revision>12</cp:revision>
  <dcterms:created xsi:type="dcterms:W3CDTF">2026-02-15T12:21:43Z</dcterms:created>
  <dcterms:modified xsi:type="dcterms:W3CDTF">2026-03-11T18:45:37Z</dcterms:modified>
</cp:coreProperties>
</file>